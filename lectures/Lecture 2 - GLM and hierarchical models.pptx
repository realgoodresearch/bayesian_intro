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2"/>
  </p:notesMasterIdLst>
  <p:sldIdLst>
    <p:sldId id="257" r:id="rId2"/>
    <p:sldId id="265" r:id="rId3"/>
    <p:sldId id="315" r:id="rId4"/>
    <p:sldId id="316" r:id="rId5"/>
    <p:sldId id="279" r:id="rId6"/>
    <p:sldId id="278" r:id="rId7"/>
    <p:sldId id="267" r:id="rId8"/>
    <p:sldId id="280" r:id="rId9"/>
    <p:sldId id="259" r:id="rId10"/>
    <p:sldId id="281" r:id="rId11"/>
    <p:sldId id="260" r:id="rId12"/>
    <p:sldId id="282" r:id="rId13"/>
    <p:sldId id="264" r:id="rId14"/>
    <p:sldId id="283" r:id="rId15"/>
    <p:sldId id="261" r:id="rId16"/>
    <p:sldId id="268" r:id="rId17"/>
    <p:sldId id="285" r:id="rId18"/>
    <p:sldId id="272" r:id="rId19"/>
    <p:sldId id="284" r:id="rId20"/>
    <p:sldId id="271" r:id="rId21"/>
    <p:sldId id="263" r:id="rId22"/>
    <p:sldId id="262" r:id="rId23"/>
    <p:sldId id="269" r:id="rId24"/>
    <p:sldId id="273" r:id="rId25"/>
    <p:sldId id="306" r:id="rId26"/>
    <p:sldId id="307" r:id="rId27"/>
    <p:sldId id="308" r:id="rId28"/>
    <p:sldId id="309" r:id="rId29"/>
    <p:sldId id="310" r:id="rId30"/>
    <p:sldId id="311" r:id="rId31"/>
    <p:sldId id="312" r:id="rId32"/>
    <p:sldId id="276" r:id="rId33"/>
    <p:sldId id="291" r:id="rId34"/>
    <p:sldId id="302" r:id="rId35"/>
    <p:sldId id="303" r:id="rId36"/>
    <p:sldId id="290" r:id="rId37"/>
    <p:sldId id="270" r:id="rId38"/>
    <p:sldId id="286" r:id="rId39"/>
    <p:sldId id="277" r:id="rId40"/>
    <p:sldId id="287" r:id="rId41"/>
    <p:sldId id="305" r:id="rId42"/>
    <p:sldId id="313" r:id="rId43"/>
    <p:sldId id="325" r:id="rId44"/>
    <p:sldId id="318" r:id="rId45"/>
    <p:sldId id="319" r:id="rId46"/>
    <p:sldId id="320" r:id="rId47"/>
    <p:sldId id="321" r:id="rId48"/>
    <p:sldId id="322" r:id="rId49"/>
    <p:sldId id="323" r:id="rId50"/>
    <p:sldId id="324"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7" d="100"/>
          <a:sy n="117" d="100"/>
        </p:scale>
        <p:origin x="643" y="67"/>
      </p:cViewPr>
      <p:guideLst/>
    </p:cSldViewPr>
  </p:slideViewPr>
  <p:notesTextViewPr>
    <p:cViewPr>
      <p:scale>
        <a:sx n="1" d="1"/>
        <a:sy n="1" d="1"/>
      </p:scale>
      <p:origin x="0" y="0"/>
    </p:cViewPr>
  </p:notesTextViewPr>
  <p:notesViewPr>
    <p:cSldViewPr snapToGrid="0">
      <p:cViewPr varScale="1">
        <p:scale>
          <a:sx n="94" d="100"/>
          <a:sy n="94" d="100"/>
        </p:scale>
        <p:origin x="4080"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97B5AB-3B6A-477C-9030-3B911EED602B}" type="datetimeFigureOut">
              <a:rPr lang="en-GB" smtClean="0"/>
              <a:t>04/02/2026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1890E30-FD4A-408B-A15E-7852DF5C4283}" type="slidenum">
              <a:rPr lang="en-GB" smtClean="0"/>
              <a:t>‹#›</a:t>
            </a:fld>
            <a:endParaRPr lang="en-GB"/>
          </a:p>
        </p:txBody>
      </p:sp>
    </p:spTree>
    <p:extLst>
      <p:ext uri="{BB962C8B-B14F-4D97-AF65-F5344CB8AC3E}">
        <p14:creationId xmlns:p14="http://schemas.microsoft.com/office/powerpoint/2010/main" val="38685800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01890E30-FD4A-408B-A15E-7852DF5C4283}" type="slidenum">
              <a:rPr lang="en-GB" smtClean="0"/>
              <a:t>24</a:t>
            </a:fld>
            <a:endParaRPr lang="en-GB"/>
          </a:p>
        </p:txBody>
      </p:sp>
    </p:spTree>
    <p:extLst>
      <p:ext uri="{BB962C8B-B14F-4D97-AF65-F5344CB8AC3E}">
        <p14:creationId xmlns:p14="http://schemas.microsoft.com/office/powerpoint/2010/main" val="20176711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B92B3B02-FA20-48C6-9BD0-9F27C791A890}" type="datetimeFigureOut">
              <a:rPr lang="en-GB" smtClean="0"/>
              <a:t>04/02/2026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E491116-52C3-4EC3-87DE-04F4B8E87EA3}" type="slidenum">
              <a:rPr lang="en-GB" smtClean="0"/>
              <a:t>‹#›</a:t>
            </a:fld>
            <a:endParaRPr lang="en-GB"/>
          </a:p>
        </p:txBody>
      </p:sp>
    </p:spTree>
    <p:extLst>
      <p:ext uri="{BB962C8B-B14F-4D97-AF65-F5344CB8AC3E}">
        <p14:creationId xmlns:p14="http://schemas.microsoft.com/office/powerpoint/2010/main" val="35928759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92B3B02-FA20-48C6-9BD0-9F27C791A890}" type="datetimeFigureOut">
              <a:rPr lang="en-GB" smtClean="0"/>
              <a:t>04/02/2026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E491116-52C3-4EC3-87DE-04F4B8E87EA3}" type="slidenum">
              <a:rPr lang="en-GB" smtClean="0"/>
              <a:t>‹#›</a:t>
            </a:fld>
            <a:endParaRPr lang="en-GB"/>
          </a:p>
        </p:txBody>
      </p:sp>
    </p:spTree>
    <p:extLst>
      <p:ext uri="{BB962C8B-B14F-4D97-AF65-F5344CB8AC3E}">
        <p14:creationId xmlns:p14="http://schemas.microsoft.com/office/powerpoint/2010/main" val="33506213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92B3B02-FA20-48C6-9BD0-9F27C791A890}" type="datetimeFigureOut">
              <a:rPr lang="en-GB" smtClean="0"/>
              <a:t>04/02/2026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E491116-52C3-4EC3-87DE-04F4B8E87EA3}" type="slidenum">
              <a:rPr lang="en-GB" smtClean="0"/>
              <a:t>‹#›</a:t>
            </a:fld>
            <a:endParaRPr lang="en-GB"/>
          </a:p>
        </p:txBody>
      </p:sp>
    </p:spTree>
    <p:extLst>
      <p:ext uri="{BB962C8B-B14F-4D97-AF65-F5344CB8AC3E}">
        <p14:creationId xmlns:p14="http://schemas.microsoft.com/office/powerpoint/2010/main" val="11839814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B92B3B02-FA20-48C6-9BD0-9F27C791A890}" type="datetimeFigureOut">
              <a:rPr lang="en-GB" smtClean="0"/>
              <a:t>04/02/2026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EE491116-52C3-4EC3-87DE-04F4B8E87EA3}" type="slidenum">
              <a:rPr lang="en-GB" smtClean="0"/>
              <a:t>‹#›</a:t>
            </a:fld>
            <a:endParaRPr lang="en-GB"/>
          </a:p>
        </p:txBody>
      </p:sp>
    </p:spTree>
    <p:extLst>
      <p:ext uri="{BB962C8B-B14F-4D97-AF65-F5344CB8AC3E}">
        <p14:creationId xmlns:p14="http://schemas.microsoft.com/office/powerpoint/2010/main" val="31823732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B92B3B02-FA20-48C6-9BD0-9F27C791A890}" type="datetimeFigureOut">
              <a:rPr lang="en-GB" smtClean="0"/>
              <a:t>04/02/2026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EE491116-52C3-4EC3-87DE-04F4B8E87EA3}" type="slidenum">
              <a:rPr lang="en-GB" smtClean="0"/>
              <a:t>‹#›</a:t>
            </a:fld>
            <a:endParaRPr lang="en-GB"/>
          </a:p>
        </p:txBody>
      </p:sp>
    </p:spTree>
    <p:extLst>
      <p:ext uri="{BB962C8B-B14F-4D97-AF65-F5344CB8AC3E}">
        <p14:creationId xmlns:p14="http://schemas.microsoft.com/office/powerpoint/2010/main" val="2817375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B92B3B02-FA20-48C6-9BD0-9F27C791A890}" type="datetimeFigureOut">
              <a:rPr lang="en-GB" smtClean="0"/>
              <a:t>04/02/2026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EE491116-52C3-4EC3-87DE-04F4B8E87EA3}" type="slidenum">
              <a:rPr lang="en-GB" smtClean="0"/>
              <a:t>‹#›</a:t>
            </a:fld>
            <a:endParaRPr lang="en-GB"/>
          </a:p>
        </p:txBody>
      </p:sp>
    </p:spTree>
    <p:extLst>
      <p:ext uri="{BB962C8B-B14F-4D97-AF65-F5344CB8AC3E}">
        <p14:creationId xmlns:p14="http://schemas.microsoft.com/office/powerpoint/2010/main" val="31154093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92B3B02-FA20-48C6-9BD0-9F27C791A890}" type="datetimeFigureOut">
              <a:rPr lang="en-GB" smtClean="0"/>
              <a:t>04/02/2026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EE491116-52C3-4EC3-87DE-04F4B8E87EA3}" type="slidenum">
              <a:rPr lang="en-GB" smtClean="0"/>
              <a:t>‹#›</a:t>
            </a:fld>
            <a:endParaRPr lang="en-GB"/>
          </a:p>
        </p:txBody>
      </p:sp>
    </p:spTree>
    <p:extLst>
      <p:ext uri="{BB962C8B-B14F-4D97-AF65-F5344CB8AC3E}">
        <p14:creationId xmlns:p14="http://schemas.microsoft.com/office/powerpoint/2010/main" val="9950346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92B3B02-FA20-48C6-9BD0-9F27C791A890}" type="datetimeFigureOut">
              <a:rPr lang="en-GB" smtClean="0"/>
              <a:t>04/02/2026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EE491116-52C3-4EC3-87DE-04F4B8E87EA3}" type="slidenum">
              <a:rPr lang="en-GB" smtClean="0"/>
              <a:t>‹#›</a:t>
            </a:fld>
            <a:endParaRPr lang="en-GB"/>
          </a:p>
        </p:txBody>
      </p:sp>
    </p:spTree>
    <p:extLst>
      <p:ext uri="{BB962C8B-B14F-4D97-AF65-F5344CB8AC3E}">
        <p14:creationId xmlns:p14="http://schemas.microsoft.com/office/powerpoint/2010/main" val="9134936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92B3B02-FA20-48C6-9BD0-9F27C791A890}" type="datetimeFigureOut">
              <a:rPr lang="en-GB" smtClean="0"/>
              <a:t>04/02/2026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EE491116-52C3-4EC3-87DE-04F4B8E87EA3}" type="slidenum">
              <a:rPr lang="en-GB" smtClean="0"/>
              <a:t>‹#›</a:t>
            </a:fld>
            <a:endParaRPr lang="en-GB"/>
          </a:p>
        </p:txBody>
      </p:sp>
    </p:spTree>
    <p:extLst>
      <p:ext uri="{BB962C8B-B14F-4D97-AF65-F5344CB8AC3E}">
        <p14:creationId xmlns:p14="http://schemas.microsoft.com/office/powerpoint/2010/main" val="2629831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92B3B02-FA20-48C6-9BD0-9F27C791A890}" type="datetimeFigureOut">
              <a:rPr lang="en-GB" smtClean="0"/>
              <a:t>04/02/2026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E491116-52C3-4EC3-87DE-04F4B8E87EA3}" type="slidenum">
              <a:rPr lang="en-GB" smtClean="0"/>
              <a:t>‹#›</a:t>
            </a:fld>
            <a:endParaRPr lang="en-GB"/>
          </a:p>
        </p:txBody>
      </p:sp>
    </p:spTree>
    <p:extLst>
      <p:ext uri="{BB962C8B-B14F-4D97-AF65-F5344CB8AC3E}">
        <p14:creationId xmlns:p14="http://schemas.microsoft.com/office/powerpoint/2010/main" val="20020738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92B3B02-FA20-48C6-9BD0-9F27C791A890}" type="datetimeFigureOut">
              <a:rPr lang="en-GB" smtClean="0"/>
              <a:t>04/02/2026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E491116-52C3-4EC3-87DE-04F4B8E87EA3}" type="slidenum">
              <a:rPr lang="en-GB" smtClean="0"/>
              <a:t>‹#›</a:t>
            </a:fld>
            <a:endParaRPr lang="en-GB"/>
          </a:p>
        </p:txBody>
      </p:sp>
    </p:spTree>
    <p:extLst>
      <p:ext uri="{BB962C8B-B14F-4D97-AF65-F5344CB8AC3E}">
        <p14:creationId xmlns:p14="http://schemas.microsoft.com/office/powerpoint/2010/main" val="4382364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92B3B02-FA20-48C6-9BD0-9F27C791A890}" type="datetimeFigureOut">
              <a:rPr lang="en-GB" smtClean="0"/>
              <a:t>04/02/2026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491116-52C3-4EC3-87DE-04F4B8E87EA3}" type="slidenum">
              <a:rPr lang="en-GB" smtClean="0"/>
              <a:t>‹#›</a:t>
            </a:fld>
            <a:endParaRPr lang="en-GB"/>
          </a:p>
        </p:txBody>
      </p:sp>
    </p:spTree>
    <p:extLst>
      <p:ext uri="{BB962C8B-B14F-4D97-AF65-F5344CB8AC3E}">
        <p14:creationId xmlns:p14="http://schemas.microsoft.com/office/powerpoint/2010/main" val="1859963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ulish ExtraBold"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ulish"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ulish"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ulish"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ulish"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ulish"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21.png"/><Relationship Id="rId7" Type="http://schemas.openxmlformats.org/officeDocument/2006/relationships/image" Target="../media/image23.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220.png"/><Relationship Id="rId11" Type="http://schemas.openxmlformats.org/officeDocument/2006/relationships/image" Target="../media/image27.png"/><Relationship Id="rId5" Type="http://schemas.openxmlformats.org/officeDocument/2006/relationships/image" Target="../media/image210.png"/><Relationship Id="rId10" Type="http://schemas.openxmlformats.org/officeDocument/2006/relationships/image" Target="../media/image26.png"/><Relationship Id="rId4" Type="http://schemas.openxmlformats.org/officeDocument/2006/relationships/image" Target="../media/image200.png"/><Relationship Id="rId9" Type="http://schemas.openxmlformats.org/officeDocument/2006/relationships/image" Target="../media/image25.png"/></Relationships>
</file>

<file path=ppt/slides/_rels/slide25.xml.rels><?xml version="1.0" encoding="UTF-8" standalone="yes"?>
<Relationships xmlns="http://schemas.openxmlformats.org/package/2006/relationships"><Relationship Id="rId2" Type="http://schemas.openxmlformats.org/officeDocument/2006/relationships/hyperlink" Target="https://mc-stan.org/docs/stan-users-guide/latent-discrete.html#mark-recapture-models"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8.xml.rels><?xml version="1.0" encoding="UTF-8" standalone="yes"?>
<Relationships xmlns="http://schemas.openxmlformats.org/package/2006/relationships"><Relationship Id="rId2" Type="http://schemas.openxmlformats.org/officeDocument/2006/relationships/image" Target="../media/image29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90.png"/><Relationship Id="rId2" Type="http://schemas.openxmlformats.org/officeDocument/2006/relationships/image" Target="../media/image28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8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hyperlink" Target="https://mc-stan.org/docs/stan-users-guide/latent-discrete.html#latent-discrete.chapter" TargetMode="Externa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69E7BB2C-DE03-4DB3-A2DC-31376EBC10B4}"/>
              </a:ext>
            </a:extLst>
          </p:cNvPr>
          <p:cNvSpPr>
            <a:spLocks noGrp="1"/>
          </p:cNvSpPr>
          <p:nvPr>
            <p:ph type="ctrTitle"/>
          </p:nvPr>
        </p:nvSpPr>
        <p:spPr>
          <a:xfrm>
            <a:off x="1524000" y="1468527"/>
            <a:ext cx="9144000" cy="1581648"/>
          </a:xfrm>
        </p:spPr>
        <p:txBody>
          <a:bodyPr>
            <a:normAutofit/>
          </a:bodyPr>
          <a:lstStyle/>
          <a:p>
            <a:r>
              <a:rPr lang="en-GB" sz="4800" dirty="0"/>
              <a:t>Introduction to </a:t>
            </a:r>
            <a:br>
              <a:rPr lang="en-GB" sz="4800" dirty="0"/>
            </a:br>
            <a:r>
              <a:rPr lang="en-GB" sz="4800" dirty="0"/>
              <a:t>Bayesian Statistics</a:t>
            </a:r>
          </a:p>
        </p:txBody>
      </p:sp>
      <p:sp>
        <p:nvSpPr>
          <p:cNvPr id="9" name="Subtitle 2">
            <a:extLst>
              <a:ext uri="{FF2B5EF4-FFF2-40B4-BE49-F238E27FC236}">
                <a16:creationId xmlns:a16="http://schemas.microsoft.com/office/drawing/2014/main" id="{45AC4AD3-3003-4733-8CE0-ACC92A443AD8}"/>
              </a:ext>
            </a:extLst>
          </p:cNvPr>
          <p:cNvSpPr>
            <a:spLocks noGrp="1"/>
          </p:cNvSpPr>
          <p:nvPr>
            <p:ph type="subTitle" idx="1"/>
          </p:nvPr>
        </p:nvSpPr>
        <p:spPr>
          <a:xfrm>
            <a:off x="1524000" y="4245426"/>
            <a:ext cx="9144000" cy="2410097"/>
          </a:xfrm>
        </p:spPr>
        <p:txBody>
          <a:bodyPr>
            <a:normAutofit/>
          </a:bodyPr>
          <a:lstStyle/>
          <a:p>
            <a:r>
              <a:rPr lang="en-GB" sz="2000" b="1" dirty="0"/>
              <a:t>Doug Leasure</a:t>
            </a:r>
            <a:br>
              <a:rPr lang="en-GB" sz="2000" b="1" dirty="0"/>
            </a:br>
            <a:r>
              <a:rPr lang="en-GB" sz="1600" dirty="0"/>
              <a:t>Senior Researcher and Data Scientist</a:t>
            </a:r>
            <a:br>
              <a:rPr lang="en-GB" sz="1600" dirty="0"/>
            </a:br>
            <a:r>
              <a:rPr lang="en-GB" sz="1600" dirty="0"/>
              <a:t>Demographic Science Unit</a:t>
            </a:r>
            <a:br>
              <a:rPr lang="en-GB" sz="1600" dirty="0"/>
            </a:br>
            <a:r>
              <a:rPr lang="en-GB" sz="1600" dirty="0"/>
              <a:t>Dept. Population Health</a:t>
            </a:r>
            <a:br>
              <a:rPr lang="en-GB" sz="1600" dirty="0"/>
            </a:br>
            <a:r>
              <a:rPr lang="en-GB" sz="1600" dirty="0"/>
              <a:t>University of Oxford</a:t>
            </a:r>
          </a:p>
        </p:txBody>
      </p:sp>
      <p:sp>
        <p:nvSpPr>
          <p:cNvPr id="10" name="Subtitle 2">
            <a:extLst>
              <a:ext uri="{FF2B5EF4-FFF2-40B4-BE49-F238E27FC236}">
                <a16:creationId xmlns:a16="http://schemas.microsoft.com/office/drawing/2014/main" id="{0E7ECBCB-E748-4DD4-B2C2-F1785EC66F57}"/>
              </a:ext>
            </a:extLst>
          </p:cNvPr>
          <p:cNvSpPr txBox="1">
            <a:spLocks/>
          </p:cNvSpPr>
          <p:nvPr/>
        </p:nvSpPr>
        <p:spPr>
          <a:xfrm>
            <a:off x="1630680" y="3049036"/>
            <a:ext cx="9144000" cy="882884"/>
          </a:xfrm>
          <a:prstGeom prst="rect">
            <a:avLst/>
          </a:prstGeom>
        </p:spPr>
        <p:txBody>
          <a:bodyPr vert="horz" lIns="91440" tIns="45720" rIns="91440" bIns="45720" rtlCol="0">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ulish" pitchFamily="2"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ulish" pitchFamily="2"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ulish" pitchFamily="2"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ulish" pitchFamily="2"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ulish" pitchFamily="2"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sz="3200" dirty="0"/>
              <a:t>Generalised linear models &amp; </a:t>
            </a:r>
            <a:br>
              <a:rPr lang="en-GB" sz="3200" dirty="0"/>
            </a:br>
            <a:r>
              <a:rPr lang="en-GB" sz="3200" dirty="0"/>
              <a:t>hierarchical models</a:t>
            </a:r>
          </a:p>
        </p:txBody>
      </p:sp>
    </p:spTree>
    <p:extLst>
      <p:ext uri="{BB962C8B-B14F-4D97-AF65-F5344CB8AC3E}">
        <p14:creationId xmlns:p14="http://schemas.microsoft.com/office/powerpoint/2010/main" val="9451644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Outline</a:t>
            </a:r>
          </a:p>
        </p:txBody>
      </p:sp>
      <p:sp>
        <p:nvSpPr>
          <p:cNvPr id="3" name="Content Placeholder 2"/>
          <p:cNvSpPr>
            <a:spLocks noGrp="1"/>
          </p:cNvSpPr>
          <p:nvPr>
            <p:ph idx="1"/>
          </p:nvPr>
        </p:nvSpPr>
        <p:spPr/>
        <p:txBody>
          <a:bodyPr/>
          <a:lstStyle/>
          <a:p>
            <a:r>
              <a:rPr lang="en-GB" dirty="0"/>
              <a:t>General linear model (refresher)</a:t>
            </a:r>
          </a:p>
          <a:p>
            <a:r>
              <a:rPr lang="en-GB" dirty="0"/>
              <a:t>Generalised linear models (GLMs)</a:t>
            </a:r>
          </a:p>
          <a:p>
            <a:r>
              <a:rPr lang="en-GB" dirty="0"/>
              <a:t>Mark-recapture</a:t>
            </a:r>
          </a:p>
          <a:p>
            <a:r>
              <a:rPr lang="en-GB" dirty="0"/>
              <a:t>Hierarchical models</a:t>
            </a:r>
          </a:p>
          <a:p>
            <a:r>
              <a:rPr lang="en-GB" dirty="0"/>
              <a:t>State-space</a:t>
            </a:r>
          </a:p>
        </p:txBody>
      </p:sp>
    </p:spTree>
    <p:extLst>
      <p:ext uri="{BB962C8B-B14F-4D97-AF65-F5344CB8AC3E}">
        <p14:creationId xmlns:p14="http://schemas.microsoft.com/office/powerpoint/2010/main" val="16433380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Components of a model</a:t>
            </a:r>
          </a:p>
        </p:txBody>
      </p:sp>
      <p:sp>
        <p:nvSpPr>
          <p:cNvPr id="3" name="Content Placeholder 2"/>
          <p:cNvSpPr>
            <a:spLocks noGrp="1"/>
          </p:cNvSpPr>
          <p:nvPr>
            <p:ph idx="1"/>
          </p:nvPr>
        </p:nvSpPr>
        <p:spPr/>
        <p:txBody>
          <a:bodyPr>
            <a:normAutofit/>
          </a:bodyPr>
          <a:lstStyle/>
          <a:p>
            <a:pPr marL="914400" lvl="1" indent="-457200">
              <a:buFont typeface="+mj-lt"/>
              <a:buAutoNum type="arabicPeriod"/>
            </a:pPr>
            <a:r>
              <a:rPr lang="en-GB" sz="2800" dirty="0"/>
              <a:t>Data model(s)</a:t>
            </a:r>
          </a:p>
          <a:p>
            <a:pPr marL="914400" lvl="1" indent="-457200">
              <a:buFont typeface="+mj-lt"/>
              <a:buAutoNum type="arabicPeriod"/>
            </a:pPr>
            <a:endParaRPr lang="en-GB" sz="2800" dirty="0"/>
          </a:p>
          <a:p>
            <a:pPr marL="914400" lvl="1" indent="-457200">
              <a:buFont typeface="+mj-lt"/>
              <a:buAutoNum type="arabicPeriod"/>
            </a:pPr>
            <a:r>
              <a:rPr lang="en-GB" sz="2800" dirty="0"/>
              <a:t>Process model(s)</a:t>
            </a:r>
          </a:p>
          <a:p>
            <a:pPr marL="914400" lvl="1" indent="-457200">
              <a:buFont typeface="+mj-lt"/>
              <a:buAutoNum type="arabicPeriod"/>
            </a:pPr>
            <a:endParaRPr lang="en-GB" sz="2800" dirty="0"/>
          </a:p>
          <a:p>
            <a:pPr marL="914400" lvl="1" indent="-457200">
              <a:buFont typeface="+mj-lt"/>
              <a:buAutoNum type="arabicPeriod"/>
            </a:pPr>
            <a:r>
              <a:rPr lang="en-GB" sz="2800" dirty="0"/>
              <a:t>Parameter model(s)</a:t>
            </a:r>
          </a:p>
        </p:txBody>
      </p:sp>
      <mc:AlternateContent xmlns:mc="http://schemas.openxmlformats.org/markup-compatibility/2006" xmlns:a14="http://schemas.microsoft.com/office/drawing/2010/main">
        <mc:Choice Requires="a14">
          <p:sp>
            <p:nvSpPr>
              <p:cNvPr id="4" name="Rectangle 3"/>
              <p:cNvSpPr/>
              <p:nvPr/>
            </p:nvSpPr>
            <p:spPr>
              <a:xfrm>
                <a:off x="5841387" y="1785677"/>
                <a:ext cx="3225209" cy="3108543"/>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GB" sz="2800" i="1" smtClean="0">
                              <a:latin typeface="Cambria Math" panose="02040503050406030204" pitchFamily="18" charset="0"/>
                            </a:rPr>
                          </m:ctrlPr>
                        </m:sSubPr>
                        <m:e>
                          <m:r>
                            <a:rPr lang="en-GB" sz="2800" i="1">
                              <a:latin typeface="Cambria Math" panose="02040503050406030204" pitchFamily="18" charset="0"/>
                            </a:rPr>
                            <m:t>𝑦</m:t>
                          </m:r>
                        </m:e>
                        <m:sub>
                          <m:r>
                            <a:rPr lang="en-GB" sz="2800" i="1">
                              <a:latin typeface="Cambria Math" panose="02040503050406030204" pitchFamily="18" charset="0"/>
                            </a:rPr>
                            <m:t>𝑖</m:t>
                          </m:r>
                        </m:sub>
                      </m:sSub>
                      <m:r>
                        <a:rPr lang="en-GB" sz="2800" i="1">
                          <a:latin typeface="Cambria Math" panose="02040503050406030204" pitchFamily="18" charset="0"/>
                        </a:rPr>
                        <m:t> ~ </m:t>
                      </m:r>
                      <m:r>
                        <a:rPr lang="en-GB" sz="2800" i="1">
                          <a:latin typeface="Cambria Math" panose="02040503050406030204" pitchFamily="18" charset="0"/>
                        </a:rPr>
                        <m:t>𝑁𝑜𝑟𝑚𝑎𝑙</m:t>
                      </m:r>
                      <m:d>
                        <m:dPr>
                          <m:ctrlPr>
                            <a:rPr lang="en-GB" sz="2800" i="1">
                              <a:latin typeface="Cambria Math" panose="02040503050406030204" pitchFamily="18" charset="0"/>
                            </a:rPr>
                          </m:ctrlPr>
                        </m:dPr>
                        <m:e>
                          <m:sSub>
                            <m:sSubPr>
                              <m:ctrlPr>
                                <a:rPr lang="en-GB" sz="2800" i="1">
                                  <a:latin typeface="Cambria Math" panose="02040503050406030204" pitchFamily="18" charset="0"/>
                                </a:rPr>
                              </m:ctrlPr>
                            </m:sSubPr>
                            <m:e>
                              <m:r>
                                <a:rPr lang="en-GB" sz="2800" i="1">
                                  <a:latin typeface="Cambria Math" panose="02040503050406030204" pitchFamily="18" charset="0"/>
                                </a:rPr>
                                <m:t>𝜇</m:t>
                              </m:r>
                            </m:e>
                            <m:sub>
                              <m:r>
                                <a:rPr lang="en-GB" sz="2800" i="1">
                                  <a:latin typeface="Cambria Math" panose="02040503050406030204" pitchFamily="18" charset="0"/>
                                </a:rPr>
                                <m:t>𝑖</m:t>
                              </m:r>
                            </m:sub>
                          </m:sSub>
                          <m:r>
                            <a:rPr lang="en-GB" sz="2800" i="1">
                              <a:latin typeface="Cambria Math" panose="02040503050406030204" pitchFamily="18" charset="0"/>
                            </a:rPr>
                            <m:t>, </m:t>
                          </m:r>
                          <m:r>
                            <a:rPr lang="en-GB" sz="2800" i="1">
                              <a:latin typeface="Cambria Math" panose="02040503050406030204" pitchFamily="18" charset="0"/>
                            </a:rPr>
                            <m:t>𝜎</m:t>
                          </m:r>
                        </m:e>
                      </m:d>
                    </m:oMath>
                  </m:oMathPara>
                </a14:m>
                <a:endParaRPr lang="en-GB" sz="2800" dirty="0"/>
              </a:p>
              <a:p>
                <a:endParaRPr lang="en-GB" sz="2800" dirty="0"/>
              </a:p>
              <a:p>
                <a:pPr/>
                <a14:m>
                  <m:oMathPara xmlns:m="http://schemas.openxmlformats.org/officeDocument/2006/math">
                    <m:oMathParaPr>
                      <m:jc m:val="centerGroup"/>
                    </m:oMathParaPr>
                    <m:oMath xmlns:m="http://schemas.openxmlformats.org/officeDocument/2006/math">
                      <m:sSub>
                        <m:sSubPr>
                          <m:ctrlPr>
                            <a:rPr lang="en-GB" sz="2800" i="1">
                              <a:latin typeface="Cambria Math" panose="02040503050406030204" pitchFamily="18" charset="0"/>
                            </a:rPr>
                          </m:ctrlPr>
                        </m:sSubPr>
                        <m:e>
                          <m:r>
                            <a:rPr lang="en-GB" sz="2800" i="1">
                              <a:latin typeface="Cambria Math" panose="02040503050406030204" pitchFamily="18" charset="0"/>
                            </a:rPr>
                            <m:t>𝜇</m:t>
                          </m:r>
                        </m:e>
                        <m:sub>
                          <m:r>
                            <a:rPr lang="en-GB" sz="2800" i="1">
                              <a:latin typeface="Cambria Math" panose="02040503050406030204" pitchFamily="18" charset="0"/>
                            </a:rPr>
                            <m:t>𝑖</m:t>
                          </m:r>
                        </m:sub>
                      </m:sSub>
                      <m:r>
                        <a:rPr lang="en-GB" sz="2800" i="1">
                          <a:latin typeface="Cambria Math" panose="02040503050406030204" pitchFamily="18" charset="0"/>
                        </a:rPr>
                        <m:t>=</m:t>
                      </m:r>
                      <m:r>
                        <a:rPr lang="en-GB" sz="2800" i="1">
                          <a:latin typeface="Cambria Math" panose="02040503050406030204" pitchFamily="18" charset="0"/>
                        </a:rPr>
                        <m:t>𝛼</m:t>
                      </m:r>
                      <m:r>
                        <a:rPr lang="en-GB" sz="2800" i="1">
                          <a:latin typeface="Cambria Math" panose="02040503050406030204" pitchFamily="18" charset="0"/>
                        </a:rPr>
                        <m:t>+</m:t>
                      </m:r>
                      <m:r>
                        <a:rPr lang="en-GB" sz="2800" b="0" i="1" smtClean="0">
                          <a:latin typeface="Cambria Math" panose="02040503050406030204" pitchFamily="18" charset="0"/>
                        </a:rPr>
                        <m:t>𝛽</m:t>
                      </m:r>
                      <m:sSub>
                        <m:sSubPr>
                          <m:ctrlPr>
                            <a:rPr lang="en-GB" sz="2800" b="0" i="1" smtClean="0">
                              <a:latin typeface="Cambria Math" panose="02040503050406030204" pitchFamily="18" charset="0"/>
                            </a:rPr>
                          </m:ctrlPr>
                        </m:sSubPr>
                        <m:e>
                          <m:r>
                            <a:rPr lang="en-GB" sz="2800" b="0" i="1" smtClean="0">
                              <a:latin typeface="Cambria Math" panose="02040503050406030204" pitchFamily="18" charset="0"/>
                            </a:rPr>
                            <m:t>𝑥</m:t>
                          </m:r>
                        </m:e>
                        <m:sub>
                          <m:r>
                            <a:rPr lang="en-GB" sz="2800" b="0" i="1" smtClean="0">
                              <a:latin typeface="Cambria Math" panose="02040503050406030204" pitchFamily="18" charset="0"/>
                            </a:rPr>
                            <m:t>𝑖</m:t>
                          </m:r>
                        </m:sub>
                      </m:sSub>
                    </m:oMath>
                  </m:oMathPara>
                </a14:m>
                <a:endParaRPr lang="en-GB" sz="2800" dirty="0"/>
              </a:p>
              <a:p>
                <a:endParaRPr lang="en-GB" sz="280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GB" sz="2800" i="1">
                          <a:latin typeface="Cambria Math" panose="02040503050406030204" pitchFamily="18" charset="0"/>
                        </a:rPr>
                        <m:t>𝛼</m:t>
                      </m:r>
                      <m:r>
                        <a:rPr lang="en-GB" sz="2800" i="1">
                          <a:latin typeface="Cambria Math" panose="02040503050406030204" pitchFamily="18" charset="0"/>
                        </a:rPr>
                        <m:t> ~ </m:t>
                      </m:r>
                      <m:r>
                        <a:rPr lang="en-GB" sz="2800" b="0" i="1" smtClean="0">
                          <a:latin typeface="Cambria Math" panose="02040503050406030204" pitchFamily="18" charset="0"/>
                        </a:rPr>
                        <m:t>𝑁𝑜𝑟𝑚𝑎𝑙</m:t>
                      </m:r>
                      <m:d>
                        <m:dPr>
                          <m:ctrlPr>
                            <a:rPr lang="en-GB" sz="2800" b="0" i="1" smtClean="0">
                              <a:latin typeface="Cambria Math" panose="02040503050406030204" pitchFamily="18" charset="0"/>
                            </a:rPr>
                          </m:ctrlPr>
                        </m:dPr>
                        <m:e>
                          <m:r>
                            <a:rPr lang="en-GB" sz="2800" b="0" i="1" smtClean="0">
                              <a:latin typeface="Cambria Math" panose="02040503050406030204" pitchFamily="18" charset="0"/>
                            </a:rPr>
                            <m:t>0, 1</m:t>
                          </m:r>
                        </m:e>
                      </m:d>
                    </m:oMath>
                    <m:oMath xmlns:m="http://schemas.openxmlformats.org/officeDocument/2006/math">
                      <m:r>
                        <a:rPr lang="en-GB" sz="2800" b="0" i="1" smtClean="0">
                          <a:latin typeface="Cambria Math" panose="02040503050406030204" pitchFamily="18" charset="0"/>
                        </a:rPr>
                        <m:t>𝛽</m:t>
                      </m:r>
                      <m:r>
                        <a:rPr lang="en-GB" sz="2800" b="0" i="1" smtClean="0">
                          <a:latin typeface="Cambria Math" panose="02040503050406030204" pitchFamily="18" charset="0"/>
                        </a:rPr>
                        <m:t> ~ </m:t>
                      </m:r>
                      <m:r>
                        <a:rPr lang="en-GB" sz="2800" b="0" i="1" smtClean="0">
                          <a:latin typeface="Cambria Math" panose="02040503050406030204" pitchFamily="18" charset="0"/>
                        </a:rPr>
                        <m:t>𝑁𝑜𝑟𝑚𝑎𝑙</m:t>
                      </m:r>
                      <m:d>
                        <m:dPr>
                          <m:ctrlPr>
                            <a:rPr lang="en-GB" sz="2800" b="0" i="1" smtClean="0">
                              <a:latin typeface="Cambria Math" panose="02040503050406030204" pitchFamily="18" charset="0"/>
                            </a:rPr>
                          </m:ctrlPr>
                        </m:dPr>
                        <m:e>
                          <m:r>
                            <a:rPr lang="en-GB" sz="2800" b="0" i="1" smtClean="0">
                              <a:latin typeface="Cambria Math" panose="02040503050406030204" pitchFamily="18" charset="0"/>
                            </a:rPr>
                            <m:t>0, 1</m:t>
                          </m:r>
                        </m:e>
                      </m:d>
                    </m:oMath>
                    <m:oMath xmlns:m="http://schemas.openxmlformats.org/officeDocument/2006/math">
                      <m:r>
                        <a:rPr lang="en-GB" sz="2800" b="0" i="1" smtClean="0">
                          <a:latin typeface="Cambria Math" panose="02040503050406030204" pitchFamily="18" charset="0"/>
                        </a:rPr>
                        <m:t>𝜎</m:t>
                      </m:r>
                      <m:r>
                        <a:rPr lang="en-GB" sz="2800" b="0" i="1" smtClean="0">
                          <a:latin typeface="Cambria Math" panose="02040503050406030204" pitchFamily="18" charset="0"/>
                        </a:rPr>
                        <m:t> ~ </m:t>
                      </m:r>
                      <m:r>
                        <a:rPr lang="en-GB" sz="2800" b="0" i="1" smtClean="0">
                          <a:latin typeface="Cambria Math" panose="02040503050406030204" pitchFamily="18" charset="0"/>
                        </a:rPr>
                        <m:t>𝐻𝑎𝑙𝑓𝐶𝑎𝑢𝑐h𝑦</m:t>
                      </m:r>
                      <m:r>
                        <a:rPr lang="en-GB" sz="2800" b="0" i="1" smtClean="0">
                          <a:latin typeface="Cambria Math" panose="02040503050406030204" pitchFamily="18" charset="0"/>
                        </a:rPr>
                        <m:t>(0, 1)</m:t>
                      </m:r>
                    </m:oMath>
                  </m:oMathPara>
                </a14:m>
                <a:endParaRPr lang="en-GB" sz="2800" b="0" dirty="0"/>
              </a:p>
            </p:txBody>
          </p:sp>
        </mc:Choice>
        <mc:Fallback xmlns="">
          <p:sp>
            <p:nvSpPr>
              <p:cNvPr id="4" name="Rectangle 3"/>
              <p:cNvSpPr>
                <a:spLocks noRot="1" noChangeAspect="1" noMove="1" noResize="1" noEditPoints="1" noAdjustHandles="1" noChangeArrowheads="1" noChangeShapeType="1" noTextEdit="1"/>
              </p:cNvSpPr>
              <p:nvPr/>
            </p:nvSpPr>
            <p:spPr>
              <a:xfrm>
                <a:off x="5841387" y="1785677"/>
                <a:ext cx="3225209" cy="3108543"/>
              </a:xfrm>
              <a:prstGeom prst="rect">
                <a:avLst/>
              </a:prstGeom>
              <a:blipFill>
                <a:blip r:embed="rId2"/>
                <a:stretch>
                  <a:fillRect r="-7183"/>
                </a:stretch>
              </a:blipFill>
            </p:spPr>
            <p:txBody>
              <a:bodyPr/>
              <a:lstStyle/>
              <a:p>
                <a:r>
                  <a:rPr lang="en-GB">
                    <a:noFill/>
                  </a:rPr>
                  <a:t> </a:t>
                </a:r>
              </a:p>
            </p:txBody>
          </p:sp>
        </mc:Fallback>
      </mc:AlternateContent>
    </p:spTree>
    <p:extLst>
      <p:ext uri="{BB962C8B-B14F-4D97-AF65-F5344CB8AC3E}">
        <p14:creationId xmlns:p14="http://schemas.microsoft.com/office/powerpoint/2010/main" val="42628480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Diagnostics</a:t>
            </a:r>
          </a:p>
        </p:txBody>
      </p:sp>
      <p:sp>
        <p:nvSpPr>
          <p:cNvPr id="3" name="Content Placeholder 2"/>
          <p:cNvSpPr>
            <a:spLocks noGrp="1"/>
          </p:cNvSpPr>
          <p:nvPr>
            <p:ph idx="1"/>
          </p:nvPr>
        </p:nvSpPr>
        <p:spPr/>
        <p:txBody>
          <a:bodyPr/>
          <a:lstStyle/>
          <a:p>
            <a:r>
              <a:rPr lang="en-GB" dirty="0"/>
              <a:t>MCMC Diagnostics</a:t>
            </a:r>
          </a:p>
          <a:p>
            <a:pPr lvl="1"/>
            <a:r>
              <a:rPr lang="en-GB" dirty="0"/>
              <a:t>Trace plots</a:t>
            </a:r>
          </a:p>
          <a:p>
            <a:pPr lvl="1"/>
            <a:r>
              <a:rPr lang="en-GB" dirty="0" err="1"/>
              <a:t>Rhat</a:t>
            </a:r>
            <a:endParaRPr lang="en-GB" dirty="0"/>
          </a:p>
          <a:p>
            <a:pPr lvl="1"/>
            <a:endParaRPr lang="en-GB" dirty="0"/>
          </a:p>
          <a:p>
            <a:r>
              <a:rPr lang="en-GB" dirty="0"/>
              <a:t>Model fit</a:t>
            </a:r>
          </a:p>
          <a:p>
            <a:pPr lvl="1"/>
            <a:r>
              <a:rPr lang="en-GB" dirty="0"/>
              <a:t>Out-of-sample cross validation</a:t>
            </a:r>
          </a:p>
          <a:p>
            <a:pPr lvl="1"/>
            <a:r>
              <a:rPr lang="en-GB" dirty="0"/>
              <a:t>Posterior predictive checks</a:t>
            </a:r>
          </a:p>
          <a:p>
            <a:pPr lvl="1"/>
            <a:r>
              <a:rPr lang="en-GB" dirty="0"/>
              <a:t>(your normal way of assessing fit for any other statistical model)</a:t>
            </a:r>
          </a:p>
        </p:txBody>
      </p:sp>
    </p:spTree>
    <p:extLst>
      <p:ext uri="{BB962C8B-B14F-4D97-AF65-F5344CB8AC3E}">
        <p14:creationId xmlns:p14="http://schemas.microsoft.com/office/powerpoint/2010/main" val="35351004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3902075"/>
          </a:xfrm>
        </p:spPr>
        <p:txBody>
          <a:bodyPr/>
          <a:lstStyle/>
          <a:p>
            <a:r>
              <a:rPr lang="en-GB" dirty="0"/>
              <a:t>Linear regression</a:t>
            </a:r>
            <a:br>
              <a:rPr lang="en-GB" dirty="0"/>
            </a:br>
            <a:r>
              <a:rPr lang="en-GB" sz="3200" dirty="0"/>
              <a:t>General linear model</a:t>
            </a:r>
            <a:endParaRPr lang="en-GB" dirty="0"/>
          </a:p>
        </p:txBody>
      </p:sp>
    </p:spTree>
    <p:extLst>
      <p:ext uri="{BB962C8B-B14F-4D97-AF65-F5344CB8AC3E}">
        <p14:creationId xmlns:p14="http://schemas.microsoft.com/office/powerpoint/2010/main" val="30151890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General linear model </a:t>
            </a:r>
            <a:br>
              <a:rPr lang="en-GB" dirty="0"/>
            </a:br>
            <a:r>
              <a:rPr lang="en-GB" sz="3200" dirty="0"/>
              <a:t>Refresher</a:t>
            </a:r>
            <a:endParaRPr lang="en-GB" dirty="0"/>
          </a:p>
        </p:txBody>
      </p:sp>
      <mc:AlternateContent xmlns:mc="http://schemas.openxmlformats.org/markup-compatibility/2006" xmlns:a14="http://schemas.microsoft.com/office/drawing/2010/main">
        <mc:Choice Requires="a14">
          <p:sp>
            <p:nvSpPr>
              <p:cNvPr id="4" name="Rectangle 3"/>
              <p:cNvSpPr/>
              <p:nvPr/>
            </p:nvSpPr>
            <p:spPr>
              <a:xfrm>
                <a:off x="3420563" y="2217005"/>
                <a:ext cx="888910" cy="815920"/>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GB" sz="2800" b="0" i="1" smtClean="0">
                              <a:latin typeface="Cambria Math" panose="02040503050406030204" pitchFamily="18" charset="0"/>
                            </a:rPr>
                          </m:ctrlPr>
                        </m:sSubPr>
                        <m:e>
                          <m:r>
                            <a:rPr lang="en-GB" sz="2800" b="0" i="1" smtClean="0">
                              <a:latin typeface="Cambria Math" panose="02040503050406030204" pitchFamily="18" charset="0"/>
                            </a:rPr>
                            <m:t>𝑦</m:t>
                          </m:r>
                        </m:e>
                        <m:sub>
                          <m:r>
                            <a:rPr lang="en-GB" sz="2800" b="0" i="1" smtClean="0">
                              <a:latin typeface="Cambria Math" panose="02040503050406030204" pitchFamily="18" charset="0"/>
                            </a:rPr>
                            <m:t>𝑖</m:t>
                          </m:r>
                        </m:sub>
                      </m:sSub>
                    </m:oMath>
                  </m:oMathPara>
                </a14:m>
                <a:endParaRPr lang="en-GB" sz="2800" dirty="0"/>
              </a:p>
            </p:txBody>
          </p:sp>
        </mc:Choice>
        <mc:Fallback xmlns="">
          <p:sp>
            <p:nvSpPr>
              <p:cNvPr id="4" name="Rectangle 3"/>
              <p:cNvSpPr>
                <a:spLocks noRot="1" noChangeAspect="1" noMove="1" noResize="1" noEditPoints="1" noAdjustHandles="1" noChangeArrowheads="1" noChangeShapeType="1" noTextEdit="1"/>
              </p:cNvSpPr>
              <p:nvPr/>
            </p:nvSpPr>
            <p:spPr>
              <a:xfrm>
                <a:off x="3420563" y="2217005"/>
                <a:ext cx="888910" cy="815920"/>
              </a:xfrm>
              <a:prstGeom prst="rect">
                <a:avLst/>
              </a:prstGeom>
              <a:blipFill>
                <a:blip r:embed="rId2"/>
                <a:stretch>
                  <a:fillRect/>
                </a:stretch>
              </a:blipFill>
              <a:ln w="9525" cap="flat" cmpd="sng" algn="ctr">
                <a:solidFill>
                  <a:schemeClr val="dk1"/>
                </a:solidFill>
                <a:prstDash val="solid"/>
                <a:round/>
                <a:headEnd type="none" w="med" len="med"/>
                <a:tailEnd type="none" w="med" len="med"/>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Oval 4"/>
              <p:cNvSpPr/>
              <p:nvPr/>
            </p:nvSpPr>
            <p:spPr>
              <a:xfrm>
                <a:off x="2902394" y="3660107"/>
                <a:ext cx="852277" cy="846188"/>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GB" sz="2800" b="0" i="1" smtClean="0">
                              <a:latin typeface="Cambria Math" panose="02040503050406030204" pitchFamily="18" charset="0"/>
                            </a:rPr>
                          </m:ctrlPr>
                        </m:sSubPr>
                        <m:e>
                          <m:r>
                            <a:rPr lang="en-GB" sz="2800" b="0" i="1" smtClean="0">
                              <a:latin typeface="Cambria Math" panose="02040503050406030204" pitchFamily="18" charset="0"/>
                            </a:rPr>
                            <m:t>𝜇</m:t>
                          </m:r>
                        </m:e>
                        <m:sub>
                          <m:r>
                            <a:rPr lang="en-GB" sz="2800" b="0" i="1" smtClean="0">
                              <a:latin typeface="Cambria Math" panose="02040503050406030204" pitchFamily="18" charset="0"/>
                            </a:rPr>
                            <m:t>𝑖</m:t>
                          </m:r>
                        </m:sub>
                      </m:sSub>
                    </m:oMath>
                  </m:oMathPara>
                </a14:m>
                <a:endParaRPr lang="en-GB" sz="2800" dirty="0"/>
              </a:p>
            </p:txBody>
          </p:sp>
        </mc:Choice>
        <mc:Fallback xmlns="">
          <p:sp>
            <p:nvSpPr>
              <p:cNvPr id="5" name="Oval 4"/>
              <p:cNvSpPr>
                <a:spLocks noRot="1" noChangeAspect="1" noMove="1" noResize="1" noEditPoints="1" noAdjustHandles="1" noChangeArrowheads="1" noChangeShapeType="1" noTextEdit="1"/>
              </p:cNvSpPr>
              <p:nvPr/>
            </p:nvSpPr>
            <p:spPr>
              <a:xfrm>
                <a:off x="2902394" y="3660107"/>
                <a:ext cx="852277" cy="846188"/>
              </a:xfrm>
              <a:prstGeom prst="ellipse">
                <a:avLst/>
              </a:prstGeom>
              <a:blipFill>
                <a:blip r:embed="rId3"/>
                <a:stretch>
                  <a:fillRect/>
                </a:stretch>
              </a:blipFill>
              <a:ln w="9525" cap="flat" cmpd="sng" algn="ctr">
                <a:solidFill>
                  <a:schemeClr val="dk1"/>
                </a:solidFill>
                <a:prstDash val="solid"/>
                <a:round/>
                <a:headEnd type="none" w="med" len="med"/>
                <a:tailEnd type="none" w="med" len="med"/>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Oval 5"/>
              <p:cNvSpPr/>
              <p:nvPr/>
            </p:nvSpPr>
            <p:spPr>
              <a:xfrm>
                <a:off x="3961288" y="3660107"/>
                <a:ext cx="852277" cy="846188"/>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GB" sz="2800" b="0" i="1" smtClean="0">
                          <a:latin typeface="Cambria Math" panose="02040503050406030204" pitchFamily="18" charset="0"/>
                        </a:rPr>
                        <m:t>𝜎</m:t>
                      </m:r>
                    </m:oMath>
                  </m:oMathPara>
                </a14:m>
                <a:endParaRPr lang="en-GB" dirty="0"/>
              </a:p>
            </p:txBody>
          </p:sp>
        </mc:Choice>
        <mc:Fallback xmlns="">
          <p:sp>
            <p:nvSpPr>
              <p:cNvPr id="6" name="Oval 5"/>
              <p:cNvSpPr>
                <a:spLocks noRot="1" noChangeAspect="1" noMove="1" noResize="1" noEditPoints="1" noAdjustHandles="1" noChangeArrowheads="1" noChangeShapeType="1" noTextEdit="1"/>
              </p:cNvSpPr>
              <p:nvPr/>
            </p:nvSpPr>
            <p:spPr>
              <a:xfrm>
                <a:off x="3961288" y="3660107"/>
                <a:ext cx="852277" cy="846188"/>
              </a:xfrm>
              <a:prstGeom prst="ellipse">
                <a:avLst/>
              </a:prstGeom>
              <a:blipFill>
                <a:blip r:embed="rId4"/>
                <a:stretch>
                  <a:fillRect/>
                </a:stretch>
              </a:blipFill>
              <a:ln w="9525" cap="flat" cmpd="sng" algn="ctr">
                <a:solidFill>
                  <a:schemeClr val="dk1"/>
                </a:solidFill>
                <a:prstDash val="solid"/>
                <a:round/>
                <a:headEnd type="none" w="med" len="med"/>
                <a:tailEnd type="none" w="med" len="med"/>
              </a:ln>
            </p:spPr>
            <p:txBody>
              <a:bodyPr/>
              <a:lstStyle/>
              <a:p>
                <a:r>
                  <a:rPr lang="en-GB">
                    <a:noFill/>
                  </a:rPr>
                  <a:t> </a:t>
                </a:r>
              </a:p>
            </p:txBody>
          </p:sp>
        </mc:Fallback>
      </mc:AlternateContent>
      <p:cxnSp>
        <p:nvCxnSpPr>
          <p:cNvPr id="7" name="Straight Arrow Connector 6"/>
          <p:cNvCxnSpPr>
            <a:stCxn id="5" idx="0"/>
            <a:endCxn id="4" idx="2"/>
          </p:cNvCxnSpPr>
          <p:nvPr/>
        </p:nvCxnSpPr>
        <p:spPr>
          <a:xfrm flipV="1">
            <a:off x="3328533" y="3032925"/>
            <a:ext cx="536485" cy="627182"/>
          </a:xfrm>
          <a:prstGeom prst="straightConnector1">
            <a:avLst/>
          </a:prstGeom>
          <a:ln w="25400">
            <a:tailEnd type="triangle" w="lg" len="lg"/>
          </a:ln>
        </p:spPr>
        <p:style>
          <a:lnRef idx="1">
            <a:schemeClr val="dk1"/>
          </a:lnRef>
          <a:fillRef idx="0">
            <a:schemeClr val="dk1"/>
          </a:fillRef>
          <a:effectRef idx="0">
            <a:schemeClr val="dk1"/>
          </a:effectRef>
          <a:fontRef idx="minor">
            <a:schemeClr val="tx1"/>
          </a:fontRef>
        </p:style>
      </p:cxnSp>
      <p:cxnSp>
        <p:nvCxnSpPr>
          <p:cNvPr id="8" name="Straight Arrow Connector 7"/>
          <p:cNvCxnSpPr>
            <a:stCxn id="6" idx="0"/>
            <a:endCxn id="4" idx="2"/>
          </p:cNvCxnSpPr>
          <p:nvPr/>
        </p:nvCxnSpPr>
        <p:spPr>
          <a:xfrm flipH="1" flipV="1">
            <a:off x="3865018" y="3032925"/>
            <a:ext cx="522409" cy="627182"/>
          </a:xfrm>
          <a:prstGeom prst="straightConnector1">
            <a:avLst/>
          </a:prstGeom>
          <a:ln w="25400">
            <a:tailEnd type="triangle" w="lg" len="lg"/>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9" name="Oval 8"/>
              <p:cNvSpPr/>
              <p:nvPr/>
            </p:nvSpPr>
            <p:spPr>
              <a:xfrm>
                <a:off x="2398613" y="5169816"/>
                <a:ext cx="895999" cy="872210"/>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GB" sz="2800" b="0" i="1" smtClean="0">
                          <a:latin typeface="Cambria Math" panose="02040503050406030204" pitchFamily="18" charset="0"/>
                        </a:rPr>
                        <m:t>𝛼</m:t>
                      </m:r>
                    </m:oMath>
                  </m:oMathPara>
                </a14:m>
                <a:endParaRPr lang="en-GB" sz="2800" b="0" dirty="0"/>
              </a:p>
            </p:txBody>
          </p:sp>
        </mc:Choice>
        <mc:Fallback xmlns="">
          <p:sp>
            <p:nvSpPr>
              <p:cNvPr id="9" name="Oval 8"/>
              <p:cNvSpPr>
                <a:spLocks noRot="1" noChangeAspect="1" noMove="1" noResize="1" noEditPoints="1" noAdjustHandles="1" noChangeArrowheads="1" noChangeShapeType="1" noTextEdit="1"/>
              </p:cNvSpPr>
              <p:nvPr/>
            </p:nvSpPr>
            <p:spPr>
              <a:xfrm>
                <a:off x="2398613" y="5169816"/>
                <a:ext cx="895999" cy="872210"/>
              </a:xfrm>
              <a:prstGeom prst="ellipse">
                <a:avLst/>
              </a:prstGeom>
              <a:blipFill>
                <a:blip r:embed="rId5"/>
                <a:stretch>
                  <a:fillRect/>
                </a:stretch>
              </a:blipFill>
              <a:ln w="9525" cap="flat" cmpd="sng" algn="ctr">
                <a:solidFill>
                  <a:schemeClr val="dk1"/>
                </a:solidFill>
                <a:prstDash val="solid"/>
                <a:round/>
                <a:headEnd type="none" w="med" len="med"/>
                <a:tailEnd type="none" w="med" len="med"/>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Oval 9"/>
              <p:cNvSpPr/>
              <p:nvPr/>
            </p:nvSpPr>
            <p:spPr>
              <a:xfrm>
                <a:off x="3416642" y="5169816"/>
                <a:ext cx="916277" cy="872210"/>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GB" sz="2800" b="0" i="1" smtClean="0">
                          <a:latin typeface="Cambria Math" panose="02040503050406030204" pitchFamily="18" charset="0"/>
                        </a:rPr>
                        <m:t>𝛽</m:t>
                      </m:r>
                    </m:oMath>
                  </m:oMathPara>
                </a14:m>
                <a:endParaRPr lang="en-GB" b="0" dirty="0"/>
              </a:p>
            </p:txBody>
          </p:sp>
        </mc:Choice>
        <mc:Fallback xmlns="">
          <p:sp>
            <p:nvSpPr>
              <p:cNvPr id="10" name="Oval 9"/>
              <p:cNvSpPr>
                <a:spLocks noRot="1" noChangeAspect="1" noMove="1" noResize="1" noEditPoints="1" noAdjustHandles="1" noChangeArrowheads="1" noChangeShapeType="1" noTextEdit="1"/>
              </p:cNvSpPr>
              <p:nvPr/>
            </p:nvSpPr>
            <p:spPr>
              <a:xfrm>
                <a:off x="3416642" y="5169816"/>
                <a:ext cx="916277" cy="872210"/>
              </a:xfrm>
              <a:prstGeom prst="ellipse">
                <a:avLst/>
              </a:prstGeom>
              <a:blipFill>
                <a:blip r:embed="rId6"/>
                <a:stretch>
                  <a:fillRect/>
                </a:stretch>
              </a:blipFill>
              <a:ln w="9525" cap="flat" cmpd="sng" algn="ctr">
                <a:solidFill>
                  <a:schemeClr val="dk1"/>
                </a:solidFill>
                <a:prstDash val="solid"/>
                <a:round/>
                <a:headEnd type="none" w="med" len="med"/>
                <a:tailEnd type="none" w="med" len="med"/>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Rectangle 10"/>
              <p:cNvSpPr/>
              <p:nvPr/>
            </p:nvSpPr>
            <p:spPr>
              <a:xfrm>
                <a:off x="2375167" y="2217005"/>
                <a:ext cx="852038" cy="815920"/>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GB" sz="2800" b="0" i="1" smtClean="0">
                              <a:latin typeface="Cambria Math" panose="02040503050406030204" pitchFamily="18" charset="0"/>
                            </a:rPr>
                          </m:ctrlPr>
                        </m:sSubPr>
                        <m:e>
                          <m:r>
                            <a:rPr lang="en-GB" sz="2800" b="0" i="1" smtClean="0">
                              <a:latin typeface="Cambria Math" panose="02040503050406030204" pitchFamily="18" charset="0"/>
                            </a:rPr>
                            <m:t>𝑥</m:t>
                          </m:r>
                        </m:e>
                        <m:sub>
                          <m:r>
                            <a:rPr lang="en-GB" sz="2800" b="0" i="1" smtClean="0">
                              <a:latin typeface="Cambria Math" panose="02040503050406030204" pitchFamily="18" charset="0"/>
                            </a:rPr>
                            <m:t>𝑖</m:t>
                          </m:r>
                        </m:sub>
                      </m:sSub>
                    </m:oMath>
                  </m:oMathPara>
                </a14:m>
                <a:endParaRPr lang="en-GB" dirty="0"/>
              </a:p>
            </p:txBody>
          </p:sp>
        </mc:Choice>
        <mc:Fallback xmlns="">
          <p:sp>
            <p:nvSpPr>
              <p:cNvPr id="11" name="Rectangle 10"/>
              <p:cNvSpPr>
                <a:spLocks noRot="1" noChangeAspect="1" noMove="1" noResize="1" noEditPoints="1" noAdjustHandles="1" noChangeArrowheads="1" noChangeShapeType="1" noTextEdit="1"/>
              </p:cNvSpPr>
              <p:nvPr/>
            </p:nvSpPr>
            <p:spPr>
              <a:xfrm>
                <a:off x="2375167" y="2217005"/>
                <a:ext cx="852038" cy="815920"/>
              </a:xfrm>
              <a:prstGeom prst="rect">
                <a:avLst/>
              </a:prstGeom>
              <a:blipFill>
                <a:blip r:embed="rId7"/>
                <a:stretch>
                  <a:fillRect/>
                </a:stretch>
              </a:blipFill>
              <a:ln w="9525" cap="flat" cmpd="sng" algn="ctr">
                <a:solidFill>
                  <a:schemeClr val="dk1"/>
                </a:solidFill>
                <a:prstDash val="solid"/>
                <a:round/>
                <a:headEnd type="none" w="med" len="med"/>
                <a:tailEnd type="none" w="med" len="med"/>
              </a:ln>
            </p:spPr>
            <p:txBody>
              <a:bodyPr/>
              <a:lstStyle/>
              <a:p>
                <a:r>
                  <a:rPr lang="en-GB">
                    <a:noFill/>
                  </a:rPr>
                  <a:t> </a:t>
                </a:r>
              </a:p>
            </p:txBody>
          </p:sp>
        </mc:Fallback>
      </mc:AlternateContent>
      <p:cxnSp>
        <p:nvCxnSpPr>
          <p:cNvPr id="12" name="Straight Arrow Connector 11"/>
          <p:cNvCxnSpPr>
            <a:stCxn id="11" idx="2"/>
            <a:endCxn id="5" idx="0"/>
          </p:cNvCxnSpPr>
          <p:nvPr/>
        </p:nvCxnSpPr>
        <p:spPr>
          <a:xfrm>
            <a:off x="2801186" y="3032925"/>
            <a:ext cx="527347" cy="627182"/>
          </a:xfrm>
          <a:prstGeom prst="straightConnector1">
            <a:avLst/>
          </a:prstGeom>
          <a:ln w="25400">
            <a:prstDash val="sysDash"/>
            <a:tailEnd type="triangle" w="lg" len="lg"/>
          </a:ln>
        </p:spPr>
        <p:style>
          <a:lnRef idx="1">
            <a:schemeClr val="dk1"/>
          </a:lnRef>
          <a:fillRef idx="0">
            <a:schemeClr val="dk1"/>
          </a:fillRef>
          <a:effectRef idx="0">
            <a:schemeClr val="dk1"/>
          </a:effectRef>
          <a:fontRef idx="minor">
            <a:schemeClr val="tx1"/>
          </a:fontRef>
        </p:style>
      </p:cxnSp>
      <p:cxnSp>
        <p:nvCxnSpPr>
          <p:cNvPr id="13" name="Straight Arrow Connector 12"/>
          <p:cNvCxnSpPr>
            <a:stCxn id="9" idx="0"/>
            <a:endCxn id="5" idx="4"/>
          </p:cNvCxnSpPr>
          <p:nvPr/>
        </p:nvCxnSpPr>
        <p:spPr>
          <a:xfrm flipV="1">
            <a:off x="2846613" y="4506295"/>
            <a:ext cx="481920" cy="663521"/>
          </a:xfrm>
          <a:prstGeom prst="straightConnector1">
            <a:avLst/>
          </a:prstGeom>
          <a:ln w="25400">
            <a:prstDash val="sysDash"/>
            <a:tailEnd type="triangle" w="lg" len="lg"/>
          </a:ln>
        </p:spPr>
        <p:style>
          <a:lnRef idx="1">
            <a:schemeClr val="dk1"/>
          </a:lnRef>
          <a:fillRef idx="0">
            <a:schemeClr val="dk1"/>
          </a:fillRef>
          <a:effectRef idx="0">
            <a:schemeClr val="dk1"/>
          </a:effectRef>
          <a:fontRef idx="minor">
            <a:schemeClr val="tx1"/>
          </a:fontRef>
        </p:style>
      </p:cxnSp>
      <p:cxnSp>
        <p:nvCxnSpPr>
          <p:cNvPr id="14" name="Straight Arrow Connector 13"/>
          <p:cNvCxnSpPr>
            <a:stCxn id="10" idx="0"/>
            <a:endCxn id="5" idx="4"/>
          </p:cNvCxnSpPr>
          <p:nvPr/>
        </p:nvCxnSpPr>
        <p:spPr>
          <a:xfrm flipH="1" flipV="1">
            <a:off x="3328533" y="4506295"/>
            <a:ext cx="546248" cy="663521"/>
          </a:xfrm>
          <a:prstGeom prst="straightConnector1">
            <a:avLst/>
          </a:prstGeom>
          <a:ln w="25400">
            <a:prstDash val="sysDash"/>
            <a:tailEnd type="triangle" w="lg" len="lg"/>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5" name="Content Placeholder 2"/>
              <p:cNvSpPr>
                <a:spLocks noGrp="1"/>
              </p:cNvSpPr>
              <p:nvPr>
                <p:ph idx="1"/>
              </p:nvPr>
            </p:nvSpPr>
            <p:spPr>
              <a:xfrm>
                <a:off x="6216073" y="1852114"/>
                <a:ext cx="5137727" cy="4351338"/>
              </a:xfrm>
            </p:spPr>
            <p:txBody>
              <a:bodyPr>
                <a:noAutofit/>
              </a:bodyPr>
              <a:lstStyle/>
              <a:p>
                <a:pPr marL="0" indent="0">
                  <a:buNone/>
                </a:pPr>
                <a:endParaRPr lang="en-GB"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𝑖</m:t>
                          </m:r>
                        </m:sub>
                      </m:sSub>
                      <m:r>
                        <a:rPr lang="en-GB" b="0" i="1" smtClean="0">
                          <a:latin typeface="Cambria Math" panose="02040503050406030204" pitchFamily="18" charset="0"/>
                        </a:rPr>
                        <m:t> ~ </m:t>
                      </m:r>
                      <m:r>
                        <a:rPr lang="en-GB" b="0" i="1" smtClean="0">
                          <a:latin typeface="Cambria Math" panose="02040503050406030204" pitchFamily="18" charset="0"/>
                        </a:rPr>
                        <m:t>𝑁𝑜𝑟𝑚𝑎𝑙</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𝜇</m:t>
                              </m:r>
                            </m:e>
                            <m:sub>
                              <m:r>
                                <a:rPr lang="en-GB" b="0" i="1" smtClean="0">
                                  <a:latin typeface="Cambria Math" panose="02040503050406030204" pitchFamily="18" charset="0"/>
                                </a:rPr>
                                <m:t>𝑖</m:t>
                              </m:r>
                            </m:sub>
                          </m:sSub>
                          <m:r>
                            <a:rPr lang="en-GB" b="0" i="1" smtClean="0">
                              <a:latin typeface="Cambria Math" panose="02040503050406030204" pitchFamily="18" charset="0"/>
                            </a:rPr>
                            <m:t>, </m:t>
                          </m:r>
                          <m:r>
                            <a:rPr lang="en-GB" b="0" i="1" smtClean="0">
                              <a:latin typeface="Cambria Math" panose="02040503050406030204" pitchFamily="18" charset="0"/>
                            </a:rPr>
                            <m:t>𝜎</m:t>
                          </m:r>
                        </m:e>
                      </m:d>
                    </m:oMath>
                  </m:oMathPara>
                </a14:m>
                <a:endParaRPr lang="en-GB" b="0" dirty="0"/>
              </a:p>
              <a:p>
                <a:pPr marL="0" indent="0">
                  <a:buNone/>
                </a:pPr>
                <a:endParaRPr lang="en-GB" b="0" dirty="0"/>
              </a:p>
              <a:p>
                <a:pPr marL="0" indent="0">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𝜇</m:t>
                          </m:r>
                        </m:e>
                        <m:sub>
                          <m:r>
                            <a:rPr lang="en-GB" b="0" i="1" smtClean="0">
                              <a:latin typeface="Cambria Math" panose="02040503050406030204" pitchFamily="18" charset="0"/>
                            </a:rPr>
                            <m:t>𝑖</m:t>
                          </m:r>
                        </m:sub>
                      </m:sSub>
                      <m:r>
                        <a:rPr lang="en-GB" b="0" i="1" smtClean="0">
                          <a:latin typeface="Cambria Math" panose="02040503050406030204" pitchFamily="18" charset="0"/>
                        </a:rPr>
                        <m:t>=</m:t>
                      </m:r>
                      <m:r>
                        <a:rPr lang="en-GB" b="0" i="1" smtClean="0">
                          <a:latin typeface="Cambria Math" panose="02040503050406030204" pitchFamily="18" charset="0"/>
                        </a:rPr>
                        <m:t>𝛼</m:t>
                      </m:r>
                      <m:r>
                        <a:rPr lang="en-GB" b="0" i="1" smtClean="0">
                          <a:latin typeface="Cambria Math" panose="02040503050406030204" pitchFamily="18" charset="0"/>
                        </a:rPr>
                        <m:t>+</m:t>
                      </m:r>
                      <m:r>
                        <a:rPr lang="en-GB" b="0" i="1" smtClean="0">
                          <a:latin typeface="Cambria Math" panose="02040503050406030204" pitchFamily="18" charset="0"/>
                        </a:rPr>
                        <m:t>𝛽</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𝑖</m:t>
                          </m:r>
                        </m:sub>
                      </m:sSub>
                    </m:oMath>
                  </m:oMathPara>
                </a14:m>
                <a:endParaRPr lang="en-GB" b="0" dirty="0"/>
              </a:p>
              <a:p>
                <a:pPr marL="0" indent="0">
                  <a:buNone/>
                </a:pPr>
                <a:endParaRPr lang="en-GB" b="0" dirty="0"/>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𝛼</m:t>
                      </m:r>
                      <m:r>
                        <a:rPr lang="en-GB" b="0" i="1" smtClean="0">
                          <a:latin typeface="Cambria Math" panose="02040503050406030204" pitchFamily="18" charset="0"/>
                        </a:rPr>
                        <m:t> ~ </m:t>
                      </m:r>
                      <m:r>
                        <a:rPr lang="en-GB" b="0" i="1" smtClean="0">
                          <a:latin typeface="Cambria Math" panose="02040503050406030204" pitchFamily="18" charset="0"/>
                        </a:rPr>
                        <m:t>𝑁𝑜𝑟𝑚𝑎𝑙</m:t>
                      </m:r>
                      <m:d>
                        <m:dPr>
                          <m:ctrlPr>
                            <a:rPr lang="en-GB" b="0" i="1" smtClean="0">
                              <a:latin typeface="Cambria Math" panose="02040503050406030204" pitchFamily="18" charset="0"/>
                            </a:rPr>
                          </m:ctrlPr>
                        </m:dPr>
                        <m:e>
                          <m:r>
                            <a:rPr lang="en-GB" b="0" i="1" smtClean="0">
                              <a:latin typeface="Cambria Math" panose="02040503050406030204" pitchFamily="18" charset="0"/>
                            </a:rPr>
                            <m:t>0, 1</m:t>
                          </m:r>
                        </m:e>
                      </m:d>
                    </m:oMath>
                    <m:oMath xmlns:m="http://schemas.openxmlformats.org/officeDocument/2006/math">
                      <m:r>
                        <a:rPr lang="en-GB" b="0" i="1" smtClean="0">
                          <a:latin typeface="Cambria Math" panose="02040503050406030204" pitchFamily="18" charset="0"/>
                        </a:rPr>
                        <m:t>𝛽</m:t>
                      </m:r>
                      <m:r>
                        <a:rPr lang="en-GB" b="0" i="1" smtClean="0">
                          <a:latin typeface="Cambria Math" panose="02040503050406030204" pitchFamily="18" charset="0"/>
                        </a:rPr>
                        <m:t> ~ </m:t>
                      </m:r>
                      <m:r>
                        <a:rPr lang="en-GB" b="0" i="1" smtClean="0">
                          <a:latin typeface="Cambria Math" panose="02040503050406030204" pitchFamily="18" charset="0"/>
                        </a:rPr>
                        <m:t>𝑁𝑜𝑟𝑚𝑎𝑙</m:t>
                      </m:r>
                      <m:d>
                        <m:dPr>
                          <m:ctrlPr>
                            <a:rPr lang="en-GB" b="0" i="1" smtClean="0">
                              <a:latin typeface="Cambria Math" panose="02040503050406030204" pitchFamily="18" charset="0"/>
                            </a:rPr>
                          </m:ctrlPr>
                        </m:dPr>
                        <m:e>
                          <m:r>
                            <a:rPr lang="en-GB" b="0" i="1" smtClean="0">
                              <a:latin typeface="Cambria Math" panose="02040503050406030204" pitchFamily="18" charset="0"/>
                            </a:rPr>
                            <m:t>0, 1</m:t>
                          </m:r>
                        </m:e>
                      </m:d>
                    </m:oMath>
                    <m:oMath xmlns:m="http://schemas.openxmlformats.org/officeDocument/2006/math">
                      <m:r>
                        <a:rPr lang="en-GB" b="0" i="1" smtClean="0">
                          <a:latin typeface="Cambria Math" panose="02040503050406030204" pitchFamily="18" charset="0"/>
                        </a:rPr>
                        <m:t>𝜎</m:t>
                      </m:r>
                      <m:r>
                        <a:rPr lang="en-GB" b="0" i="1" smtClean="0">
                          <a:latin typeface="Cambria Math" panose="02040503050406030204" pitchFamily="18" charset="0"/>
                        </a:rPr>
                        <m:t> ~ </m:t>
                      </m:r>
                      <m:r>
                        <a:rPr lang="en-GB" b="0" i="1" smtClean="0">
                          <a:latin typeface="Cambria Math" panose="02040503050406030204" pitchFamily="18" charset="0"/>
                        </a:rPr>
                        <m:t>𝐻𝑎𝑙𝑓𝐶𝑎𝑢𝑐h𝑦</m:t>
                      </m:r>
                      <m:r>
                        <a:rPr lang="en-GB" b="0" i="1" smtClean="0">
                          <a:latin typeface="Cambria Math" panose="02040503050406030204" pitchFamily="18" charset="0"/>
                        </a:rPr>
                        <m:t>(0, 1)</m:t>
                      </m:r>
                    </m:oMath>
                  </m:oMathPara>
                </a14:m>
                <a:br>
                  <a:rPr lang="en-GB" b="0" dirty="0"/>
                </a:br>
                <a:endParaRPr lang="en-GB" b="0" dirty="0"/>
              </a:p>
              <a:p>
                <a:pPr marL="0" indent="0">
                  <a:buNone/>
                </a:pPr>
                <a:br>
                  <a:rPr lang="en-GB" b="0" dirty="0"/>
                </a:br>
                <a:endParaRPr lang="en-GB" dirty="0"/>
              </a:p>
            </p:txBody>
          </p:sp>
        </mc:Choice>
        <mc:Fallback xmlns="">
          <p:sp>
            <p:nvSpPr>
              <p:cNvPr id="15" name="Content Placeholder 2"/>
              <p:cNvSpPr>
                <a:spLocks noGrp="1" noRot="1" noChangeAspect="1" noMove="1" noResize="1" noEditPoints="1" noAdjustHandles="1" noChangeArrowheads="1" noChangeShapeType="1" noTextEdit="1"/>
              </p:cNvSpPr>
              <p:nvPr>
                <p:ph idx="1"/>
              </p:nvPr>
            </p:nvSpPr>
            <p:spPr>
              <a:xfrm>
                <a:off x="6216073" y="1852114"/>
                <a:ext cx="5137727" cy="4351338"/>
              </a:xfrm>
              <a:blipFill>
                <a:blip r:embed="rId8"/>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1794265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5">
                                            <p:txEl>
                                              <p:pRg st="6" end="6"/>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9" grpId="0" animBg="1"/>
      <p:bldP spid="10" grpId="0" animBg="1"/>
      <p:bldP spid="1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General linear model </a:t>
            </a:r>
            <a:br>
              <a:rPr lang="en-GB" dirty="0"/>
            </a:br>
            <a:r>
              <a:rPr lang="en-GB" sz="3200" dirty="0"/>
              <a:t>Refresher</a:t>
            </a:r>
            <a:endParaRPr lang="en-GB" dirty="0"/>
          </a:p>
        </p:txBody>
      </p:sp>
      <p:pic>
        <p:nvPicPr>
          <p:cNvPr id="15" name="Picture 14"/>
          <p:cNvPicPr>
            <a:picLocks noChangeAspect="1"/>
          </p:cNvPicPr>
          <p:nvPr/>
        </p:nvPicPr>
        <p:blipFill>
          <a:blip r:embed="rId2"/>
          <a:stretch>
            <a:fillRect/>
          </a:stretch>
        </p:blipFill>
        <p:spPr>
          <a:xfrm>
            <a:off x="500395" y="2817091"/>
            <a:ext cx="6251387" cy="4040909"/>
          </a:xfrm>
          <a:prstGeom prst="rect">
            <a:avLst/>
          </a:prstGeom>
        </p:spPr>
      </p:pic>
      <mc:AlternateContent xmlns:mc="http://schemas.openxmlformats.org/markup-compatibility/2006" xmlns:a14="http://schemas.microsoft.com/office/drawing/2010/main">
        <mc:Choice Requires="a14">
          <p:sp>
            <p:nvSpPr>
              <p:cNvPr id="17" name="Content Placeholder 2"/>
              <p:cNvSpPr>
                <a:spLocks noGrp="1"/>
              </p:cNvSpPr>
              <p:nvPr>
                <p:ph idx="1"/>
              </p:nvPr>
            </p:nvSpPr>
            <p:spPr>
              <a:xfrm>
                <a:off x="6216073" y="1852114"/>
                <a:ext cx="5137727" cy="4351338"/>
              </a:xfrm>
            </p:spPr>
            <p:txBody>
              <a:bodyPr>
                <a:noAutofit/>
              </a:bodyPr>
              <a:lstStyle/>
              <a:p>
                <a:pPr marL="0" indent="0">
                  <a:buNone/>
                </a:pPr>
                <a:endParaRPr lang="en-GB"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𝑖</m:t>
                          </m:r>
                        </m:sub>
                      </m:sSub>
                      <m:r>
                        <a:rPr lang="en-GB" b="0" i="1" smtClean="0">
                          <a:latin typeface="Cambria Math" panose="02040503050406030204" pitchFamily="18" charset="0"/>
                        </a:rPr>
                        <m:t> ~ </m:t>
                      </m:r>
                      <m:r>
                        <a:rPr lang="en-GB" b="0" i="1" smtClean="0">
                          <a:latin typeface="Cambria Math" panose="02040503050406030204" pitchFamily="18" charset="0"/>
                        </a:rPr>
                        <m:t>𝑁𝑜𝑟𝑚𝑎𝑙</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𝜇</m:t>
                              </m:r>
                            </m:e>
                            <m:sub>
                              <m:r>
                                <a:rPr lang="en-GB" b="0" i="1" smtClean="0">
                                  <a:latin typeface="Cambria Math" panose="02040503050406030204" pitchFamily="18" charset="0"/>
                                </a:rPr>
                                <m:t>𝑖</m:t>
                              </m:r>
                            </m:sub>
                          </m:sSub>
                          <m:r>
                            <a:rPr lang="en-GB" b="0" i="1" smtClean="0">
                              <a:latin typeface="Cambria Math" panose="02040503050406030204" pitchFamily="18" charset="0"/>
                            </a:rPr>
                            <m:t>, </m:t>
                          </m:r>
                          <m:r>
                            <a:rPr lang="en-GB" b="0" i="1" smtClean="0">
                              <a:latin typeface="Cambria Math" panose="02040503050406030204" pitchFamily="18" charset="0"/>
                            </a:rPr>
                            <m:t>𝜎</m:t>
                          </m:r>
                        </m:e>
                      </m:d>
                    </m:oMath>
                  </m:oMathPara>
                </a14:m>
                <a:endParaRPr lang="en-GB" b="0" dirty="0"/>
              </a:p>
              <a:p>
                <a:pPr marL="0" indent="0">
                  <a:buNone/>
                </a:pPr>
                <a:endParaRPr lang="en-GB" b="0" dirty="0"/>
              </a:p>
              <a:p>
                <a:pPr marL="0" indent="0">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𝜇</m:t>
                          </m:r>
                        </m:e>
                        <m:sub>
                          <m:r>
                            <a:rPr lang="en-GB" b="0" i="1" smtClean="0">
                              <a:latin typeface="Cambria Math" panose="02040503050406030204" pitchFamily="18" charset="0"/>
                            </a:rPr>
                            <m:t>𝑖</m:t>
                          </m:r>
                        </m:sub>
                      </m:sSub>
                      <m:r>
                        <a:rPr lang="en-GB" b="0" i="1" smtClean="0">
                          <a:latin typeface="Cambria Math" panose="02040503050406030204" pitchFamily="18" charset="0"/>
                        </a:rPr>
                        <m:t>=</m:t>
                      </m:r>
                      <m:r>
                        <a:rPr lang="en-GB" b="0" i="1" smtClean="0">
                          <a:latin typeface="Cambria Math" panose="02040503050406030204" pitchFamily="18" charset="0"/>
                        </a:rPr>
                        <m:t>𝛼</m:t>
                      </m:r>
                      <m:r>
                        <a:rPr lang="en-GB" b="0" i="1" smtClean="0">
                          <a:latin typeface="Cambria Math" panose="02040503050406030204" pitchFamily="18" charset="0"/>
                        </a:rPr>
                        <m:t>+</m:t>
                      </m:r>
                      <m:r>
                        <a:rPr lang="en-GB" b="0" i="1" smtClean="0">
                          <a:latin typeface="Cambria Math" panose="02040503050406030204" pitchFamily="18" charset="0"/>
                        </a:rPr>
                        <m:t>𝛽</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𝑖</m:t>
                          </m:r>
                        </m:sub>
                      </m:sSub>
                    </m:oMath>
                  </m:oMathPara>
                </a14:m>
                <a:endParaRPr lang="en-GB" b="0" dirty="0"/>
              </a:p>
              <a:p>
                <a:pPr marL="0" indent="0">
                  <a:buNone/>
                </a:pPr>
                <a:endParaRPr lang="en-GB" b="0" dirty="0"/>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𝛼</m:t>
                      </m:r>
                      <m:r>
                        <a:rPr lang="en-GB" b="0" i="1" smtClean="0">
                          <a:latin typeface="Cambria Math" panose="02040503050406030204" pitchFamily="18" charset="0"/>
                        </a:rPr>
                        <m:t> ~ </m:t>
                      </m:r>
                      <m:r>
                        <a:rPr lang="en-GB" b="0" i="1" smtClean="0">
                          <a:latin typeface="Cambria Math" panose="02040503050406030204" pitchFamily="18" charset="0"/>
                        </a:rPr>
                        <m:t>𝑁𝑜𝑟𝑚𝑎𝑙</m:t>
                      </m:r>
                      <m:d>
                        <m:dPr>
                          <m:ctrlPr>
                            <a:rPr lang="en-GB" b="0" i="1" smtClean="0">
                              <a:latin typeface="Cambria Math" panose="02040503050406030204" pitchFamily="18" charset="0"/>
                            </a:rPr>
                          </m:ctrlPr>
                        </m:dPr>
                        <m:e>
                          <m:r>
                            <a:rPr lang="en-GB" b="0" i="1" smtClean="0">
                              <a:latin typeface="Cambria Math" panose="02040503050406030204" pitchFamily="18" charset="0"/>
                            </a:rPr>
                            <m:t>0, 1</m:t>
                          </m:r>
                        </m:e>
                      </m:d>
                    </m:oMath>
                    <m:oMath xmlns:m="http://schemas.openxmlformats.org/officeDocument/2006/math">
                      <m:r>
                        <a:rPr lang="en-GB" b="0" i="1" smtClean="0">
                          <a:latin typeface="Cambria Math" panose="02040503050406030204" pitchFamily="18" charset="0"/>
                        </a:rPr>
                        <m:t>𝛽</m:t>
                      </m:r>
                      <m:r>
                        <a:rPr lang="en-GB" b="0" i="1" smtClean="0">
                          <a:latin typeface="Cambria Math" panose="02040503050406030204" pitchFamily="18" charset="0"/>
                        </a:rPr>
                        <m:t> ~ </m:t>
                      </m:r>
                      <m:r>
                        <a:rPr lang="en-GB" b="0" i="1" smtClean="0">
                          <a:latin typeface="Cambria Math" panose="02040503050406030204" pitchFamily="18" charset="0"/>
                        </a:rPr>
                        <m:t>𝑁𝑜𝑟𝑚𝑎𝑙</m:t>
                      </m:r>
                      <m:d>
                        <m:dPr>
                          <m:ctrlPr>
                            <a:rPr lang="en-GB" b="0" i="1" smtClean="0">
                              <a:latin typeface="Cambria Math" panose="02040503050406030204" pitchFamily="18" charset="0"/>
                            </a:rPr>
                          </m:ctrlPr>
                        </m:dPr>
                        <m:e>
                          <m:r>
                            <a:rPr lang="en-GB" b="0" i="1" smtClean="0">
                              <a:latin typeface="Cambria Math" panose="02040503050406030204" pitchFamily="18" charset="0"/>
                            </a:rPr>
                            <m:t>0, 1</m:t>
                          </m:r>
                        </m:e>
                      </m:d>
                    </m:oMath>
                    <m:oMath xmlns:m="http://schemas.openxmlformats.org/officeDocument/2006/math">
                      <m:r>
                        <a:rPr lang="en-GB" b="0" i="1" smtClean="0">
                          <a:latin typeface="Cambria Math" panose="02040503050406030204" pitchFamily="18" charset="0"/>
                        </a:rPr>
                        <m:t>𝜎</m:t>
                      </m:r>
                      <m:r>
                        <a:rPr lang="en-GB" b="0" i="1" smtClean="0">
                          <a:latin typeface="Cambria Math" panose="02040503050406030204" pitchFamily="18" charset="0"/>
                        </a:rPr>
                        <m:t> ~ </m:t>
                      </m:r>
                      <m:r>
                        <a:rPr lang="en-GB" b="0" i="1" smtClean="0">
                          <a:latin typeface="Cambria Math" panose="02040503050406030204" pitchFamily="18" charset="0"/>
                        </a:rPr>
                        <m:t>𝐻𝑎𝑙𝑓𝐶𝑎𝑢𝑐h𝑦</m:t>
                      </m:r>
                      <m:r>
                        <a:rPr lang="en-GB" b="0" i="1" smtClean="0">
                          <a:latin typeface="Cambria Math" panose="02040503050406030204" pitchFamily="18" charset="0"/>
                        </a:rPr>
                        <m:t>(0, 1)</m:t>
                      </m:r>
                    </m:oMath>
                  </m:oMathPara>
                </a14:m>
                <a:br>
                  <a:rPr lang="en-GB" b="0" dirty="0"/>
                </a:br>
                <a:endParaRPr lang="en-GB" b="0" dirty="0"/>
              </a:p>
              <a:p>
                <a:pPr marL="0" indent="0">
                  <a:buNone/>
                </a:pPr>
                <a:br>
                  <a:rPr lang="en-GB" b="0" dirty="0"/>
                </a:br>
                <a:endParaRPr lang="en-GB" dirty="0"/>
              </a:p>
            </p:txBody>
          </p:sp>
        </mc:Choice>
        <mc:Fallback xmlns="">
          <p:sp>
            <p:nvSpPr>
              <p:cNvPr id="17" name="Content Placeholder 2"/>
              <p:cNvSpPr>
                <a:spLocks noGrp="1" noRot="1" noChangeAspect="1" noMove="1" noResize="1" noEditPoints="1" noAdjustHandles="1" noChangeArrowheads="1" noChangeShapeType="1" noTextEdit="1"/>
              </p:cNvSpPr>
              <p:nvPr>
                <p:ph idx="1"/>
              </p:nvPr>
            </p:nvSpPr>
            <p:spPr>
              <a:xfrm>
                <a:off x="6216073" y="1852114"/>
                <a:ext cx="5137727" cy="4351338"/>
              </a:xfr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757382" y="1967345"/>
                <a:ext cx="5994400" cy="1200329"/>
              </a:xfrm>
              <a:prstGeom prst="rect">
                <a:avLst/>
              </a:prstGeom>
              <a:noFill/>
            </p:spPr>
            <p:txBody>
              <a:bodyPr wrap="square" rtlCol="0">
                <a:spAutoFit/>
              </a:bodyPr>
              <a:lstStyle/>
              <a:p>
                <a:r>
                  <a:rPr lang="en-GB" sz="2400" dirty="0"/>
                  <a:t>What are examples of quantities that </a:t>
                </a:r>
                <a14:m>
                  <m:oMath xmlns:m="http://schemas.openxmlformats.org/officeDocument/2006/math">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𝑦</m:t>
                        </m:r>
                      </m:e>
                      <m:sub>
                        <m:r>
                          <a:rPr lang="en-GB" sz="2400" b="0" i="1" smtClean="0">
                            <a:latin typeface="Cambria Math" panose="02040503050406030204" pitchFamily="18" charset="0"/>
                          </a:rPr>
                          <m:t>𝑖</m:t>
                        </m:r>
                      </m:sub>
                    </m:sSub>
                  </m:oMath>
                </a14:m>
                <a:r>
                  <a:rPr lang="en-GB" sz="2400" dirty="0"/>
                  <a:t> could represent?</a:t>
                </a:r>
              </a:p>
              <a:p>
                <a:r>
                  <a:rPr lang="en-GB" sz="2400" dirty="0"/>
                  <a:t>Examples that it cannot be?</a:t>
                </a:r>
              </a:p>
            </p:txBody>
          </p:sp>
        </mc:Choice>
        <mc:Fallback xmlns="">
          <p:sp>
            <p:nvSpPr>
              <p:cNvPr id="18" name="TextBox 17"/>
              <p:cNvSpPr txBox="1">
                <a:spLocks noRot="1" noChangeAspect="1" noMove="1" noResize="1" noEditPoints="1" noAdjustHandles="1" noChangeArrowheads="1" noChangeShapeType="1" noTextEdit="1"/>
              </p:cNvSpPr>
              <p:nvPr/>
            </p:nvSpPr>
            <p:spPr>
              <a:xfrm>
                <a:off x="757382" y="1967345"/>
                <a:ext cx="5994400" cy="1200329"/>
              </a:xfrm>
              <a:prstGeom prst="rect">
                <a:avLst/>
              </a:prstGeom>
              <a:blipFill>
                <a:blip r:embed="rId4"/>
                <a:stretch>
                  <a:fillRect l="-1524" t="-4061" b="-10660"/>
                </a:stretch>
              </a:blipFill>
            </p:spPr>
            <p:txBody>
              <a:bodyPr/>
              <a:lstStyle/>
              <a:p>
                <a:r>
                  <a:rPr lang="en-GB">
                    <a:noFill/>
                  </a:rPr>
                  <a:t> </a:t>
                </a:r>
              </a:p>
            </p:txBody>
          </p:sp>
        </mc:Fallback>
      </mc:AlternateContent>
    </p:spTree>
    <p:extLst>
      <p:ext uri="{BB962C8B-B14F-4D97-AF65-F5344CB8AC3E}">
        <p14:creationId xmlns:p14="http://schemas.microsoft.com/office/powerpoint/2010/main" val="1137035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3902075"/>
          </a:xfrm>
        </p:spPr>
        <p:txBody>
          <a:bodyPr/>
          <a:lstStyle/>
          <a:p>
            <a:r>
              <a:rPr lang="en-GB" dirty="0"/>
              <a:t>Generalised linear models</a:t>
            </a:r>
          </a:p>
        </p:txBody>
      </p:sp>
      <p:pic>
        <p:nvPicPr>
          <p:cNvPr id="5" name="Picture 4"/>
          <p:cNvPicPr>
            <a:picLocks noChangeAspect="1"/>
          </p:cNvPicPr>
          <p:nvPr/>
        </p:nvPicPr>
        <p:blipFill>
          <a:blip r:embed="rId2"/>
          <a:stretch>
            <a:fillRect/>
          </a:stretch>
        </p:blipFill>
        <p:spPr>
          <a:xfrm>
            <a:off x="8071756" y="2481942"/>
            <a:ext cx="3282044" cy="4376057"/>
          </a:xfrm>
          <a:prstGeom prst="rect">
            <a:avLst/>
          </a:prstGeom>
        </p:spPr>
      </p:pic>
    </p:spTree>
    <p:extLst>
      <p:ext uri="{BB962C8B-B14F-4D97-AF65-F5344CB8AC3E}">
        <p14:creationId xmlns:p14="http://schemas.microsoft.com/office/powerpoint/2010/main" val="36593587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Generalised linear models</a:t>
            </a:r>
          </a:p>
        </p:txBody>
      </p:sp>
      <p:sp>
        <p:nvSpPr>
          <p:cNvPr id="3" name="Content Placeholder 2"/>
          <p:cNvSpPr>
            <a:spLocks noGrp="1"/>
          </p:cNvSpPr>
          <p:nvPr>
            <p:ph idx="1"/>
          </p:nvPr>
        </p:nvSpPr>
        <p:spPr/>
        <p:txBody>
          <a:bodyPr/>
          <a:lstStyle/>
          <a:p>
            <a:r>
              <a:rPr lang="en-GB" dirty="0"/>
              <a:t>Generalisation of a linear model to accommodate additional data types</a:t>
            </a:r>
          </a:p>
          <a:p>
            <a:r>
              <a:rPr lang="en-GB" dirty="0"/>
              <a:t>Three components:</a:t>
            </a:r>
          </a:p>
          <a:p>
            <a:pPr lvl="1"/>
            <a:r>
              <a:rPr lang="en-GB" dirty="0"/>
              <a:t>Probability distribution</a:t>
            </a:r>
          </a:p>
          <a:p>
            <a:pPr lvl="1"/>
            <a:r>
              <a:rPr lang="en-GB" dirty="0"/>
              <a:t>A linear predictor</a:t>
            </a:r>
          </a:p>
          <a:p>
            <a:pPr lvl="1"/>
            <a:r>
              <a:rPr lang="en-GB" dirty="0"/>
              <a:t>Link function</a:t>
            </a:r>
          </a:p>
        </p:txBody>
      </p:sp>
    </p:spTree>
    <p:extLst>
      <p:ext uri="{BB962C8B-B14F-4D97-AF65-F5344CB8AC3E}">
        <p14:creationId xmlns:p14="http://schemas.microsoft.com/office/powerpoint/2010/main" val="37503985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Can you sketch a model?</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0" indent="0">
                  <a:buNone/>
                </a:pPr>
                <a:endParaRPr lang="en-GB" dirty="0"/>
              </a:p>
              <a:p>
                <a:pPr marL="0" indent="0">
                  <a:buNone/>
                </a:pPr>
                <a:r>
                  <a:rPr lang="en-GB" dirty="0"/>
                  <a:t>We have </a:t>
                </a:r>
                <a:r>
                  <a:rPr lang="en-GB" b="1" dirty="0"/>
                  <a:t>counts of people</a:t>
                </a:r>
                <a:r>
                  <a:rPr lang="en-GB" dirty="0"/>
                  <a:t>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𝑖</m:t>
                        </m:r>
                      </m:sub>
                    </m:sSub>
                    <m:r>
                      <a:rPr lang="en-GB" b="0" i="1" smtClean="0">
                        <a:latin typeface="Cambria Math" panose="02040503050406030204" pitchFamily="18" charset="0"/>
                      </a:rPr>
                      <m:t> </m:t>
                    </m:r>
                  </m:oMath>
                </a14:m>
                <a:r>
                  <a:rPr lang="en-GB" dirty="0"/>
                  <a:t>from a sample of locations </a:t>
                </a:r>
                <a14:m>
                  <m:oMath xmlns:m="http://schemas.openxmlformats.org/officeDocument/2006/math">
                    <m:r>
                      <a:rPr lang="en-GB" b="0" i="1" smtClean="0">
                        <a:latin typeface="Cambria Math" panose="02040503050406030204" pitchFamily="18" charset="0"/>
                      </a:rPr>
                      <m:t>𝑖</m:t>
                    </m:r>
                  </m:oMath>
                </a14:m>
                <a:r>
                  <a:rPr lang="en-GB" dirty="0"/>
                  <a:t> across a country.</a:t>
                </a:r>
              </a:p>
              <a:p>
                <a:pPr marL="0" indent="0">
                  <a:buNone/>
                </a:pPr>
                <a:endParaRPr lang="en-GB" dirty="0"/>
              </a:p>
              <a:p>
                <a:pPr marL="0" indent="0">
                  <a:buNone/>
                </a:pPr>
                <a:r>
                  <a:rPr lang="en-GB" dirty="0"/>
                  <a:t>We want to infer the relationship of population size with the </a:t>
                </a:r>
                <a:r>
                  <a:rPr lang="en-GB" b="1" dirty="0"/>
                  <a:t>unemployment rate</a:t>
                </a:r>
                <a:r>
                  <a:rPr lang="en-GB" dirty="0"/>
                  <a:t>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1,</m:t>
                        </m:r>
                        <m:r>
                          <a:rPr lang="en-GB" b="0" i="1" smtClean="0">
                            <a:latin typeface="Cambria Math" panose="02040503050406030204" pitchFamily="18" charset="0"/>
                          </a:rPr>
                          <m:t>𝑖</m:t>
                        </m:r>
                      </m:sub>
                    </m:sSub>
                  </m:oMath>
                </a14:m>
                <a:r>
                  <a:rPr lang="en-GB" dirty="0"/>
                  <a:t>, </a:t>
                </a:r>
                <a:r>
                  <a:rPr lang="en-GB" b="1" dirty="0"/>
                  <a:t>cost of living</a:t>
                </a:r>
                <a:r>
                  <a:rPr lang="en-GB" dirty="0"/>
                  <a:t>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2,</m:t>
                        </m:r>
                        <m:r>
                          <a:rPr lang="en-GB" b="0" i="1" smtClean="0">
                            <a:latin typeface="Cambria Math" panose="02040503050406030204" pitchFamily="18" charset="0"/>
                          </a:rPr>
                          <m:t>𝑖</m:t>
                        </m:r>
                      </m:sub>
                    </m:sSub>
                  </m:oMath>
                </a14:m>
                <a:r>
                  <a:rPr lang="en-GB" dirty="0"/>
                  <a:t>, and </a:t>
                </a:r>
                <a:r>
                  <a:rPr lang="en-GB" b="1" dirty="0"/>
                  <a:t>number of pubs</a:t>
                </a:r>
                <a:r>
                  <a:rPr lang="en-GB" dirty="0"/>
                  <a:t>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b="0" i="1" smtClean="0">
                            <a:latin typeface="Cambria Math" panose="02040503050406030204" pitchFamily="18" charset="0"/>
                          </a:rPr>
                          <m:t>3</m:t>
                        </m:r>
                        <m:r>
                          <a:rPr lang="en-GB" i="1">
                            <a:latin typeface="Cambria Math" panose="02040503050406030204" pitchFamily="18" charset="0"/>
                          </a:rPr>
                          <m:t>,</m:t>
                        </m:r>
                        <m:r>
                          <a:rPr lang="en-GB" i="1">
                            <a:latin typeface="Cambria Math" panose="02040503050406030204" pitchFamily="18" charset="0"/>
                          </a:rPr>
                          <m:t>𝑖</m:t>
                        </m:r>
                      </m:sub>
                    </m:sSub>
                    <m:r>
                      <a:rPr lang="en-GB" b="0" i="0" smtClean="0">
                        <a:latin typeface="Cambria Math" panose="02040503050406030204" pitchFamily="18" charset="0"/>
                      </a:rPr>
                      <m:t>.</m:t>
                    </m:r>
                  </m:oMath>
                </a14:m>
                <a:r>
                  <a:rPr lang="en-GB" dirty="0"/>
                  <a:t>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217"/>
                </a:stretch>
              </a:blipFill>
            </p:spPr>
            <p:txBody>
              <a:bodyPr/>
              <a:lstStyle/>
              <a:p>
                <a:r>
                  <a:rPr lang="en-GB">
                    <a:noFill/>
                  </a:rPr>
                  <a:t> </a:t>
                </a:r>
              </a:p>
            </p:txBody>
          </p:sp>
        </mc:Fallback>
      </mc:AlternateContent>
    </p:spTree>
    <p:extLst>
      <p:ext uri="{BB962C8B-B14F-4D97-AF65-F5344CB8AC3E}">
        <p14:creationId xmlns:p14="http://schemas.microsoft.com/office/powerpoint/2010/main" val="2124435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Generalised linear model</a:t>
            </a:r>
            <a:br>
              <a:rPr lang="en-GB" dirty="0"/>
            </a:br>
            <a:r>
              <a:rPr lang="en-GB" sz="3200" dirty="0"/>
              <a:t>Poisson regression for count data</a:t>
            </a:r>
            <a:endParaRPr lang="en-GB"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32874" y="1825625"/>
                <a:ext cx="10420926" cy="4351338"/>
              </a:xfrm>
            </p:spPr>
            <p:txBody>
              <a:bodyPr/>
              <a:lstStyle/>
              <a:p>
                <a:pPr marL="0" indent="0">
                  <a:buNone/>
                </a:pPr>
                <a:endParaRPr lang="en-GB"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𝑖</m:t>
                          </m:r>
                        </m:sub>
                      </m:sSub>
                      <m:r>
                        <a:rPr lang="en-GB" b="0" i="1" smtClean="0">
                          <a:latin typeface="Cambria Math" panose="02040503050406030204" pitchFamily="18" charset="0"/>
                        </a:rPr>
                        <m:t> ~ </m:t>
                      </m:r>
                      <m:r>
                        <a:rPr lang="en-GB" b="0" i="1" smtClean="0">
                          <a:latin typeface="Cambria Math" panose="02040503050406030204" pitchFamily="18" charset="0"/>
                        </a:rPr>
                        <m:t>𝑃𝑜𝑖𝑠𝑠𝑜𝑛</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𝜆</m:t>
                              </m:r>
                            </m:e>
                            <m:sub>
                              <m:r>
                                <a:rPr lang="en-GB" b="0" i="1" smtClean="0">
                                  <a:latin typeface="Cambria Math" panose="02040503050406030204" pitchFamily="18" charset="0"/>
                                </a:rPr>
                                <m:t>𝑖</m:t>
                              </m:r>
                            </m:sub>
                          </m:sSub>
                        </m:e>
                      </m:d>
                    </m:oMath>
                  </m:oMathPara>
                </a14:m>
                <a:endParaRPr lang="en-GB" b="0" dirty="0"/>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𝑙𝑜𝑔</m:t>
                          </m:r>
                          <m:r>
                            <a:rPr lang="en-GB" b="0" i="1" smtClean="0">
                              <a:latin typeface="Cambria Math" panose="02040503050406030204" pitchFamily="18" charset="0"/>
                            </a:rPr>
                            <m:t>⁡(</m:t>
                          </m:r>
                          <m:r>
                            <a:rPr lang="en-GB" b="0" i="1" smtClean="0">
                              <a:latin typeface="Cambria Math" panose="02040503050406030204" pitchFamily="18" charset="0"/>
                            </a:rPr>
                            <m:t>𝜆</m:t>
                          </m:r>
                        </m:e>
                        <m:sub>
                          <m:r>
                            <a:rPr lang="en-GB" b="0" i="1" smtClean="0">
                              <a:latin typeface="Cambria Math" panose="02040503050406030204" pitchFamily="18" charset="0"/>
                            </a:rPr>
                            <m:t>𝑖</m:t>
                          </m:r>
                        </m:sub>
                      </m:sSub>
                      <m:r>
                        <a:rPr lang="en-GB" b="0" i="1" smtClean="0">
                          <a:latin typeface="Cambria Math" panose="02040503050406030204" pitchFamily="18" charset="0"/>
                        </a:rPr>
                        <m:t>)=</m:t>
                      </m:r>
                      <m:r>
                        <a:rPr lang="en-GB" b="0" i="1" smtClean="0">
                          <a:latin typeface="Cambria Math" panose="02040503050406030204" pitchFamily="18" charset="0"/>
                        </a:rPr>
                        <m:t>𝛼</m:t>
                      </m:r>
                      <m:r>
                        <a:rPr lang="en-GB" b="0" i="1" smtClean="0">
                          <a:latin typeface="Cambria Math" panose="02040503050406030204" pitchFamily="18" charset="0"/>
                        </a:rPr>
                        <m:t>+</m:t>
                      </m:r>
                      <m:nary>
                        <m:naryPr>
                          <m:chr m:val="∑"/>
                          <m:ctrlPr>
                            <a:rPr lang="en-GB" b="0" i="1" smtClean="0">
                              <a:latin typeface="Cambria Math" panose="02040503050406030204" pitchFamily="18" charset="0"/>
                            </a:rPr>
                          </m:ctrlPr>
                        </m:naryPr>
                        <m:sub>
                          <m:r>
                            <m:rPr>
                              <m:brk m:alnAt="23"/>
                            </m:rPr>
                            <a:rPr lang="en-GB" b="0" i="1" smtClean="0">
                              <a:latin typeface="Cambria Math" panose="02040503050406030204" pitchFamily="18" charset="0"/>
                            </a:rPr>
                            <m:t>𝑘</m:t>
                          </m:r>
                          <m:r>
                            <a:rPr lang="en-GB" b="0" i="1" smtClean="0">
                              <a:latin typeface="Cambria Math" panose="02040503050406030204" pitchFamily="18" charset="0"/>
                            </a:rPr>
                            <m:t>=1</m:t>
                          </m:r>
                        </m:sub>
                        <m:sup>
                          <m:r>
                            <a:rPr lang="en-GB" b="0" i="1" smtClean="0">
                              <a:latin typeface="Cambria Math" panose="02040503050406030204" pitchFamily="18" charset="0"/>
                            </a:rPr>
                            <m:t>𝐾</m:t>
                          </m:r>
                        </m:sup>
                        <m:e>
                          <m:sSub>
                            <m:sSubPr>
                              <m:ctrlPr>
                                <a:rPr lang="en-GB" b="0" i="1" smtClean="0">
                                  <a:latin typeface="Cambria Math" panose="02040503050406030204" pitchFamily="18" charset="0"/>
                                </a:rPr>
                              </m:ctrlPr>
                            </m:sSubPr>
                            <m:e>
                              <m:r>
                                <a:rPr lang="en-GB" b="0" i="1" smtClean="0">
                                  <a:latin typeface="Cambria Math" panose="02040503050406030204" pitchFamily="18" charset="0"/>
                                </a:rPr>
                                <m:t>𝛽</m:t>
                              </m:r>
                            </m:e>
                            <m:sub>
                              <m:r>
                                <a:rPr lang="en-GB" b="0" i="1" smtClean="0">
                                  <a:latin typeface="Cambria Math" panose="02040503050406030204" pitchFamily="18" charset="0"/>
                                </a:rPr>
                                <m:t>𝑘</m:t>
                              </m:r>
                            </m:sub>
                          </m:sSub>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𝑘</m:t>
                              </m:r>
                              <m:r>
                                <a:rPr lang="en-GB" b="0" i="1" smtClean="0">
                                  <a:latin typeface="Cambria Math" panose="02040503050406030204" pitchFamily="18" charset="0"/>
                                </a:rPr>
                                <m:t>,</m:t>
                              </m:r>
                              <m:r>
                                <a:rPr lang="en-GB" b="0" i="1" smtClean="0">
                                  <a:latin typeface="Cambria Math" panose="02040503050406030204" pitchFamily="18" charset="0"/>
                                </a:rPr>
                                <m:t>𝑖</m:t>
                              </m:r>
                            </m:sub>
                          </m:sSub>
                        </m:e>
                      </m:nary>
                    </m:oMath>
                  </m:oMathPara>
                </a14:m>
                <a:endParaRPr lang="en-GB" b="0" dirty="0"/>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r>
                        <a:rPr lang="en-GB" i="1">
                          <a:latin typeface="Cambria Math" panose="02040503050406030204" pitchFamily="18" charset="0"/>
                        </a:rPr>
                        <m:t>𝛼</m:t>
                      </m:r>
                      <m:r>
                        <a:rPr lang="en-GB" i="1">
                          <a:latin typeface="Cambria Math" panose="02040503050406030204" pitchFamily="18" charset="0"/>
                        </a:rPr>
                        <m:t> ~ </m:t>
                      </m:r>
                      <m:r>
                        <a:rPr lang="en-GB" i="1">
                          <a:latin typeface="Cambria Math" panose="02040503050406030204" pitchFamily="18" charset="0"/>
                        </a:rPr>
                        <m:t>𝑁𝑜𝑟𝑚𝑎𝑙</m:t>
                      </m:r>
                      <m:d>
                        <m:dPr>
                          <m:ctrlPr>
                            <a:rPr lang="en-GB" i="1">
                              <a:latin typeface="Cambria Math" panose="02040503050406030204" pitchFamily="18" charset="0"/>
                            </a:rPr>
                          </m:ctrlPr>
                        </m:dPr>
                        <m:e>
                          <m:r>
                            <a:rPr lang="en-GB" i="1">
                              <a:latin typeface="Cambria Math" panose="02040503050406030204" pitchFamily="18" charset="0"/>
                            </a:rPr>
                            <m:t>0, 1</m:t>
                          </m:r>
                          <m:r>
                            <a:rPr lang="en-GB" b="0" i="1" smtClean="0">
                              <a:latin typeface="Cambria Math" panose="02040503050406030204" pitchFamily="18" charset="0"/>
                            </a:rPr>
                            <m:t>5</m:t>
                          </m:r>
                        </m:e>
                      </m:d>
                    </m:oMath>
                    <m:oMath xmlns:m="http://schemas.openxmlformats.org/officeDocument/2006/math">
                      <m:r>
                        <a:rPr lang="en-GB" i="1">
                          <a:latin typeface="Cambria Math" panose="02040503050406030204" pitchFamily="18" charset="0"/>
                        </a:rPr>
                        <m:t>𝛽</m:t>
                      </m:r>
                      <m:r>
                        <a:rPr lang="en-GB" i="1">
                          <a:latin typeface="Cambria Math" panose="02040503050406030204" pitchFamily="18" charset="0"/>
                        </a:rPr>
                        <m:t> ~ </m:t>
                      </m:r>
                      <m:r>
                        <a:rPr lang="en-GB" i="1">
                          <a:latin typeface="Cambria Math" panose="02040503050406030204" pitchFamily="18" charset="0"/>
                        </a:rPr>
                        <m:t>𝑁𝑜𝑟𝑚𝑎𝑙</m:t>
                      </m:r>
                      <m:r>
                        <a:rPr lang="en-GB" i="1">
                          <a:latin typeface="Cambria Math" panose="02040503050406030204" pitchFamily="18" charset="0"/>
                        </a:rPr>
                        <m:t>(0, 10)</m:t>
                      </m:r>
                    </m:oMath>
                  </m:oMathPara>
                </a14:m>
                <a:endParaRPr lang="en-GB" dirty="0"/>
              </a:p>
              <a:p>
                <a:pPr marL="0" indent="0">
                  <a:buNone/>
                </a:pPr>
                <a:endParaRPr lang="en-GB"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32874" y="1825625"/>
                <a:ext cx="10420926" cy="4351338"/>
              </a:xfrm>
              <a:blipFill>
                <a:blip r:embed="rId2"/>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1622872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Can we build a model for these data?</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lnSpcReduction="10000"/>
              </a:bodyPr>
              <a:lstStyle/>
              <a:p>
                <a:pPr marL="0" indent="0">
                  <a:buNone/>
                </a:pPr>
                <a:endParaRPr lang="en-GB" dirty="0"/>
              </a:p>
              <a:p>
                <a:pPr marL="0" indent="0">
                  <a:buNone/>
                </a:pPr>
                <a:r>
                  <a:rPr lang="en-GB" dirty="0"/>
                  <a:t>We have </a:t>
                </a:r>
                <a:r>
                  <a:rPr lang="en-GB" b="1" dirty="0"/>
                  <a:t>counts of active Facebook users</a:t>
                </a:r>
                <a:r>
                  <a:rPr lang="en-GB" dirty="0"/>
                  <a:t>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𝑖</m:t>
                        </m:r>
                      </m:sub>
                    </m:sSub>
                    <m:r>
                      <a:rPr lang="en-GB" b="0" i="1" smtClean="0">
                        <a:latin typeface="Cambria Math" panose="02040503050406030204" pitchFamily="18" charset="0"/>
                      </a:rPr>
                      <m:t> </m:t>
                    </m:r>
                  </m:oMath>
                </a14:m>
                <a:r>
                  <a:rPr lang="en-GB" dirty="0"/>
                  <a:t>from one hundred countries </a:t>
                </a:r>
                <a14:m>
                  <m:oMath xmlns:m="http://schemas.openxmlformats.org/officeDocument/2006/math">
                    <m:r>
                      <a:rPr lang="en-GB" b="0" i="1" smtClean="0">
                        <a:latin typeface="Cambria Math" panose="02040503050406030204" pitchFamily="18" charset="0"/>
                      </a:rPr>
                      <m:t>𝑖</m:t>
                    </m:r>
                  </m:oMath>
                </a14:m>
                <a:r>
                  <a:rPr lang="en-GB" dirty="0"/>
                  <a:t>. We also know the </a:t>
                </a:r>
                <a:r>
                  <a:rPr lang="en-GB" b="1" dirty="0"/>
                  <a:t>total population</a:t>
                </a:r>
                <a:r>
                  <a:rPr lang="en-GB" dirty="0"/>
                  <a:t>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𝑁</m:t>
                        </m:r>
                      </m:e>
                      <m:sub>
                        <m:r>
                          <a:rPr lang="en-GB" i="1">
                            <a:latin typeface="Cambria Math" panose="02040503050406030204" pitchFamily="18" charset="0"/>
                          </a:rPr>
                          <m:t>𝑖</m:t>
                        </m:r>
                      </m:sub>
                    </m:sSub>
                  </m:oMath>
                </a14:m>
                <a:r>
                  <a:rPr lang="en-GB" dirty="0"/>
                  <a:t> of each country.</a:t>
                </a:r>
              </a:p>
              <a:p>
                <a:pPr marL="0" indent="0">
                  <a:buNone/>
                </a:pPr>
                <a:endParaRPr lang="en-GB" dirty="0"/>
              </a:p>
              <a:p>
                <a:pPr marL="0" indent="0">
                  <a:buNone/>
                </a:pPr>
                <a:r>
                  <a:rPr lang="en-GB" dirty="0"/>
                  <a:t>We want to study how country characteristics influence the probability that a person uses Facebook. </a:t>
                </a:r>
              </a:p>
              <a:p>
                <a:pPr marL="0" indent="0">
                  <a:buNone/>
                </a:pPr>
                <a:r>
                  <a:rPr lang="en-GB" dirty="0"/>
                  <a:t>We have data on </a:t>
                </a:r>
                <a:r>
                  <a:rPr lang="en-GB" b="1" dirty="0"/>
                  <a:t>gross domestic product</a:t>
                </a:r>
                <a:r>
                  <a:rPr lang="en-GB" dirty="0"/>
                  <a:t>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1,</m:t>
                        </m:r>
                        <m:r>
                          <a:rPr lang="en-GB" b="0" i="1" smtClean="0">
                            <a:latin typeface="Cambria Math" panose="02040503050406030204" pitchFamily="18" charset="0"/>
                          </a:rPr>
                          <m:t>𝑖</m:t>
                        </m:r>
                      </m:sub>
                    </m:sSub>
                  </m:oMath>
                </a14:m>
                <a:r>
                  <a:rPr lang="en-GB" dirty="0"/>
                  <a:t>, </a:t>
                </a:r>
                <a:r>
                  <a:rPr lang="en-GB" b="1" dirty="0"/>
                  <a:t>broadband internet speeds</a:t>
                </a:r>
                <a:r>
                  <a:rPr lang="en-GB" dirty="0"/>
                  <a:t>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2,</m:t>
                        </m:r>
                        <m:r>
                          <a:rPr lang="en-GB" b="0" i="1" smtClean="0">
                            <a:latin typeface="Cambria Math" panose="02040503050406030204" pitchFamily="18" charset="0"/>
                          </a:rPr>
                          <m:t>𝑖</m:t>
                        </m:r>
                      </m:sub>
                    </m:sSub>
                  </m:oMath>
                </a14:m>
                <a:r>
                  <a:rPr lang="en-GB" dirty="0"/>
                  <a:t>, and </a:t>
                </a:r>
                <a:r>
                  <a:rPr lang="en-GB" b="1" dirty="0"/>
                  <a:t>rates of attainment for secondary education</a:t>
                </a:r>
                <a:r>
                  <a:rPr lang="en-GB" dirty="0"/>
                  <a:t>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b="0" i="1" smtClean="0">
                            <a:latin typeface="Cambria Math" panose="02040503050406030204" pitchFamily="18" charset="0"/>
                          </a:rPr>
                          <m:t>3</m:t>
                        </m:r>
                        <m:r>
                          <a:rPr lang="en-GB" i="1">
                            <a:latin typeface="Cambria Math" panose="02040503050406030204" pitchFamily="18" charset="0"/>
                          </a:rPr>
                          <m:t>,</m:t>
                        </m:r>
                        <m:r>
                          <a:rPr lang="en-GB" i="1">
                            <a:latin typeface="Cambria Math" panose="02040503050406030204" pitchFamily="18" charset="0"/>
                          </a:rPr>
                          <m:t>𝑖</m:t>
                        </m:r>
                      </m:sub>
                    </m:sSub>
                    <m:r>
                      <a:rPr lang="en-GB" b="0" i="0" smtClean="0">
                        <a:latin typeface="Cambria Math" panose="02040503050406030204" pitchFamily="18" charset="0"/>
                      </a:rPr>
                      <m:t>.</m:t>
                    </m:r>
                  </m:oMath>
                </a14:m>
                <a:r>
                  <a:rPr lang="en-GB" dirty="0"/>
                  <a:t> </a:t>
                </a:r>
              </a:p>
              <a:p>
                <a:pPr marL="0" indent="0">
                  <a:buNone/>
                </a:pPr>
                <a:endParaRPr lang="en-GB"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217"/>
                </a:stretch>
              </a:blipFill>
            </p:spPr>
            <p:txBody>
              <a:bodyPr/>
              <a:lstStyle/>
              <a:p>
                <a:r>
                  <a:rPr lang="en-GB">
                    <a:noFill/>
                  </a:rPr>
                  <a:t> </a:t>
                </a:r>
              </a:p>
            </p:txBody>
          </p:sp>
        </mc:Fallback>
      </mc:AlternateContent>
    </p:spTree>
    <p:extLst>
      <p:ext uri="{BB962C8B-B14F-4D97-AF65-F5344CB8AC3E}">
        <p14:creationId xmlns:p14="http://schemas.microsoft.com/office/powerpoint/2010/main" val="11992362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Generalised linear model</a:t>
            </a:r>
            <a:br>
              <a:rPr lang="en-GB" dirty="0"/>
            </a:br>
            <a:r>
              <a:rPr lang="en-GB" sz="3200" dirty="0"/>
              <a:t>Binomial regression for count data</a:t>
            </a:r>
            <a:endParaRPr lang="en-GB"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825625"/>
                <a:ext cx="10515600" cy="4351338"/>
              </a:xfrm>
            </p:spPr>
            <p:txBody>
              <a:bodyPr/>
              <a:lstStyle/>
              <a:p>
                <a:pPr marL="0" indent="0">
                  <a:buNone/>
                </a:pPr>
                <a:endParaRPr lang="en-GB"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𝑖</m:t>
                          </m:r>
                        </m:sub>
                      </m:sSub>
                      <m:r>
                        <a:rPr lang="en-GB" b="0" i="1" smtClean="0">
                          <a:latin typeface="Cambria Math" panose="02040503050406030204" pitchFamily="18" charset="0"/>
                        </a:rPr>
                        <m:t> ~ </m:t>
                      </m:r>
                      <m:r>
                        <a:rPr lang="en-GB" b="0" i="1" smtClean="0">
                          <a:latin typeface="Cambria Math" panose="02040503050406030204" pitchFamily="18" charset="0"/>
                        </a:rPr>
                        <m:t>𝐵𝑖𝑛𝑜𝑚𝑖𝑎𝑙</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𝑁</m:t>
                              </m:r>
                            </m:e>
                            <m:sub>
                              <m:r>
                                <a:rPr lang="en-GB" b="0" i="1" smtClean="0">
                                  <a:latin typeface="Cambria Math" panose="02040503050406030204" pitchFamily="18" charset="0"/>
                                </a:rPr>
                                <m:t>𝑖</m:t>
                              </m:r>
                            </m:sub>
                          </m:sSub>
                          <m:r>
                            <a:rPr lang="en-GB" b="0" i="1" smtClean="0">
                              <a:latin typeface="Cambria Math" panose="02040503050406030204" pitchFamily="18" charset="0"/>
                            </a:rPr>
                            <m:t>, </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𝜃</m:t>
                              </m:r>
                            </m:e>
                            <m:sub>
                              <m:r>
                                <a:rPr lang="en-GB" b="0" i="1" smtClean="0">
                                  <a:latin typeface="Cambria Math" panose="02040503050406030204" pitchFamily="18" charset="0"/>
                                </a:rPr>
                                <m:t>𝑖</m:t>
                              </m:r>
                            </m:sub>
                          </m:sSub>
                        </m:e>
                      </m:d>
                    </m:oMath>
                  </m:oMathPara>
                </a14:m>
                <a:endParaRPr lang="en-GB" b="0" dirty="0"/>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𝑙𝑜𝑔𝑖𝑡</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𝜃</m:t>
                              </m:r>
                            </m:e>
                            <m:sub>
                              <m:r>
                                <a:rPr lang="en-GB" b="0" i="1" smtClean="0">
                                  <a:latin typeface="Cambria Math" panose="02040503050406030204" pitchFamily="18" charset="0"/>
                                </a:rPr>
                                <m:t>𝑖</m:t>
                              </m:r>
                            </m:sub>
                          </m:sSub>
                        </m:e>
                      </m:d>
                      <m:r>
                        <a:rPr lang="en-GB" b="0" i="1" smtClean="0">
                          <a:latin typeface="Cambria Math" panose="02040503050406030204" pitchFamily="18" charset="0"/>
                        </a:rPr>
                        <m:t>=</m:t>
                      </m:r>
                      <m:r>
                        <a:rPr lang="en-GB" b="0" i="1" smtClean="0">
                          <a:latin typeface="Cambria Math" panose="02040503050406030204" pitchFamily="18" charset="0"/>
                        </a:rPr>
                        <m:t>𝛼</m:t>
                      </m:r>
                      <m:r>
                        <a:rPr lang="en-GB" b="0" i="1" smtClean="0">
                          <a:latin typeface="Cambria Math" panose="02040503050406030204" pitchFamily="18" charset="0"/>
                        </a:rPr>
                        <m:t>+</m:t>
                      </m:r>
                      <m:nary>
                        <m:naryPr>
                          <m:chr m:val="∑"/>
                          <m:ctrlPr>
                            <a:rPr lang="en-GB" b="0" i="1" smtClean="0">
                              <a:latin typeface="Cambria Math" panose="02040503050406030204" pitchFamily="18" charset="0"/>
                            </a:rPr>
                          </m:ctrlPr>
                        </m:naryPr>
                        <m:sub>
                          <m:r>
                            <m:rPr>
                              <m:brk m:alnAt="23"/>
                            </m:rPr>
                            <a:rPr lang="en-GB" b="0" i="1" smtClean="0">
                              <a:latin typeface="Cambria Math" panose="02040503050406030204" pitchFamily="18" charset="0"/>
                            </a:rPr>
                            <m:t>𝑘</m:t>
                          </m:r>
                          <m:r>
                            <a:rPr lang="en-GB" b="0" i="1" smtClean="0">
                              <a:latin typeface="Cambria Math" panose="02040503050406030204" pitchFamily="18" charset="0"/>
                            </a:rPr>
                            <m:t>=1</m:t>
                          </m:r>
                        </m:sub>
                        <m:sup>
                          <m:r>
                            <a:rPr lang="en-GB" b="0" i="1" smtClean="0">
                              <a:latin typeface="Cambria Math" panose="02040503050406030204" pitchFamily="18" charset="0"/>
                            </a:rPr>
                            <m:t>𝐾</m:t>
                          </m:r>
                        </m:sup>
                        <m:e>
                          <m:sSub>
                            <m:sSubPr>
                              <m:ctrlPr>
                                <a:rPr lang="en-GB" b="0" i="1" smtClean="0">
                                  <a:latin typeface="Cambria Math" panose="02040503050406030204" pitchFamily="18" charset="0"/>
                                </a:rPr>
                              </m:ctrlPr>
                            </m:sSubPr>
                            <m:e>
                              <m:r>
                                <a:rPr lang="en-GB" b="0" i="1" smtClean="0">
                                  <a:latin typeface="Cambria Math" panose="02040503050406030204" pitchFamily="18" charset="0"/>
                                </a:rPr>
                                <m:t>𝛽</m:t>
                              </m:r>
                            </m:e>
                            <m:sub>
                              <m:r>
                                <a:rPr lang="en-GB" b="0" i="1" smtClean="0">
                                  <a:latin typeface="Cambria Math" panose="02040503050406030204" pitchFamily="18" charset="0"/>
                                </a:rPr>
                                <m:t>𝑘</m:t>
                              </m:r>
                            </m:sub>
                          </m:sSub>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𝑘</m:t>
                              </m:r>
                              <m:r>
                                <a:rPr lang="en-GB" b="0" i="1" smtClean="0">
                                  <a:latin typeface="Cambria Math" panose="02040503050406030204" pitchFamily="18" charset="0"/>
                                </a:rPr>
                                <m:t>,</m:t>
                              </m:r>
                              <m:r>
                                <a:rPr lang="en-GB" b="0" i="1" smtClean="0">
                                  <a:latin typeface="Cambria Math" panose="02040503050406030204" pitchFamily="18" charset="0"/>
                                </a:rPr>
                                <m:t>𝑖</m:t>
                              </m:r>
                            </m:sub>
                          </m:sSub>
                        </m:e>
                      </m:nary>
                    </m:oMath>
                  </m:oMathPara>
                </a14:m>
                <a:endParaRPr lang="en-GB" dirty="0"/>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r>
                        <a:rPr lang="en-GB" i="1">
                          <a:latin typeface="Cambria Math" panose="02040503050406030204" pitchFamily="18" charset="0"/>
                        </a:rPr>
                        <m:t>𝛼</m:t>
                      </m:r>
                      <m:r>
                        <a:rPr lang="en-GB" i="1">
                          <a:latin typeface="Cambria Math" panose="02040503050406030204" pitchFamily="18" charset="0"/>
                        </a:rPr>
                        <m:t> ~ </m:t>
                      </m:r>
                      <m:r>
                        <a:rPr lang="en-GB" i="1">
                          <a:latin typeface="Cambria Math" panose="02040503050406030204" pitchFamily="18" charset="0"/>
                        </a:rPr>
                        <m:t>𝑁𝑜𝑟𝑚𝑎𝑙</m:t>
                      </m:r>
                      <m:d>
                        <m:dPr>
                          <m:ctrlPr>
                            <a:rPr lang="en-GB" i="1">
                              <a:latin typeface="Cambria Math" panose="02040503050406030204" pitchFamily="18" charset="0"/>
                            </a:rPr>
                          </m:ctrlPr>
                        </m:dPr>
                        <m:e>
                          <m:r>
                            <a:rPr lang="en-GB" i="1">
                              <a:latin typeface="Cambria Math" panose="02040503050406030204" pitchFamily="18" charset="0"/>
                            </a:rPr>
                            <m:t>0, 1</m:t>
                          </m:r>
                          <m:r>
                            <a:rPr lang="en-GB" i="1">
                              <a:latin typeface="Cambria Math" panose="02040503050406030204" pitchFamily="18" charset="0"/>
                            </a:rPr>
                            <m:t>𝑒</m:t>
                          </m:r>
                          <m:r>
                            <a:rPr lang="en-GB" i="1">
                              <a:latin typeface="Cambria Math" panose="02040503050406030204" pitchFamily="18" charset="0"/>
                            </a:rPr>
                            <m:t>3</m:t>
                          </m:r>
                        </m:e>
                      </m:d>
                    </m:oMath>
                    <m:oMath xmlns:m="http://schemas.openxmlformats.org/officeDocument/2006/math">
                      <m:r>
                        <a:rPr lang="en-GB" i="1">
                          <a:latin typeface="Cambria Math" panose="02040503050406030204" pitchFamily="18" charset="0"/>
                        </a:rPr>
                        <m:t>𝛽</m:t>
                      </m:r>
                      <m:r>
                        <a:rPr lang="en-GB" i="1">
                          <a:latin typeface="Cambria Math" panose="02040503050406030204" pitchFamily="18" charset="0"/>
                        </a:rPr>
                        <m:t> ~ </m:t>
                      </m:r>
                      <m:r>
                        <a:rPr lang="en-GB" i="1">
                          <a:latin typeface="Cambria Math" panose="02040503050406030204" pitchFamily="18" charset="0"/>
                        </a:rPr>
                        <m:t>𝑁𝑜𝑟𝑚𝑎𝑙</m:t>
                      </m:r>
                      <m:r>
                        <a:rPr lang="en-GB" i="1">
                          <a:latin typeface="Cambria Math" panose="02040503050406030204" pitchFamily="18" charset="0"/>
                        </a:rPr>
                        <m:t>(0, 1</m:t>
                      </m:r>
                      <m:r>
                        <a:rPr lang="en-GB" i="1">
                          <a:latin typeface="Cambria Math" panose="02040503050406030204" pitchFamily="18" charset="0"/>
                        </a:rPr>
                        <m:t>𝑒</m:t>
                      </m:r>
                      <m:r>
                        <a:rPr lang="en-GB" i="1">
                          <a:latin typeface="Cambria Math" panose="02040503050406030204" pitchFamily="18" charset="0"/>
                        </a:rPr>
                        <m:t>3)</m:t>
                      </m:r>
                    </m:oMath>
                  </m:oMathPara>
                </a14:m>
                <a:endParaRPr lang="en-GB" dirty="0"/>
              </a:p>
              <a:p>
                <a:pPr marL="0" indent="0">
                  <a:buNone/>
                </a:pPr>
                <a:endParaRPr lang="en-GB"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825625"/>
                <a:ext cx="10515600" cy="4351338"/>
              </a:xfrm>
              <a:blipFill>
                <a:blip r:embed="rId2"/>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21262850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How about this one?</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lnSpcReduction="10000"/>
              </a:bodyPr>
              <a:lstStyle/>
              <a:p>
                <a:pPr marL="0" indent="0">
                  <a:buNone/>
                </a:pPr>
                <a:endParaRPr lang="en-GB" dirty="0"/>
              </a:p>
              <a:p>
                <a:pPr marL="0" indent="0">
                  <a:buNone/>
                </a:pPr>
                <a:r>
                  <a:rPr lang="en-GB" dirty="0"/>
                  <a:t>We have GitHub data from individual </a:t>
                </a:r>
                <a:r>
                  <a:rPr lang="en-GB" b="1" dirty="0"/>
                  <a:t>Russian programmers </a:t>
                </a:r>
                <a14:m>
                  <m:oMath xmlns:m="http://schemas.openxmlformats.org/officeDocument/2006/math">
                    <m:r>
                      <a:rPr lang="en-GB" b="0" i="1" smtClean="0">
                        <a:latin typeface="Cambria Math" panose="02040503050406030204" pitchFamily="18" charset="0"/>
                      </a:rPr>
                      <m:t>𝑖</m:t>
                    </m:r>
                  </m:oMath>
                </a14:m>
                <a:r>
                  <a:rPr lang="en-GB" b="1" dirty="0"/>
                  <a:t> indicating if they have migrated (or not) </a:t>
                </a:r>
                <a:r>
                  <a:rPr lang="en-GB" dirty="0"/>
                  <a:t>to a new country since 2022. </a:t>
                </a:r>
              </a:p>
              <a:p>
                <a:pPr marL="0" indent="0">
                  <a:buNone/>
                </a:pPr>
                <a:endParaRPr lang="en-GB" dirty="0"/>
              </a:p>
              <a:p>
                <a:pPr marL="0" indent="0">
                  <a:buNone/>
                </a:pPr>
                <a:r>
                  <a:rPr lang="en-GB" dirty="0"/>
                  <a:t>We want to study how individual characteristics influence their probability of migration.</a:t>
                </a:r>
              </a:p>
              <a:p>
                <a:pPr marL="0" indent="0">
                  <a:buNone/>
                </a:pPr>
                <a:r>
                  <a:rPr lang="en-GB" dirty="0"/>
                  <a:t>From their profile, we have their </a:t>
                </a:r>
                <a:r>
                  <a:rPr lang="en-GB" b="1" dirty="0"/>
                  <a:t>number of followers</a:t>
                </a:r>
                <a14:m>
                  <m:oMath xmlns:m="http://schemas.openxmlformats.org/officeDocument/2006/math">
                    <m:r>
                      <a:rPr lang="en-GB" b="0" i="0" smtClean="0">
                        <a:latin typeface="Cambria Math" panose="02040503050406030204" pitchFamily="18" charset="0"/>
                      </a:rPr>
                      <m:t> </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1,</m:t>
                        </m:r>
                        <m:r>
                          <a:rPr lang="en-GB" b="0" i="1" smtClean="0">
                            <a:latin typeface="Cambria Math" panose="02040503050406030204" pitchFamily="18" charset="0"/>
                          </a:rPr>
                          <m:t>𝑖</m:t>
                        </m:r>
                      </m:sub>
                    </m:sSub>
                  </m:oMath>
                </a14:m>
                <a:r>
                  <a:rPr lang="en-GB" dirty="0"/>
                  <a:t>, </a:t>
                </a:r>
                <a:r>
                  <a:rPr lang="en-GB" b="1" dirty="0"/>
                  <a:t>number of contributions</a:t>
                </a:r>
                <a:r>
                  <a:rPr lang="en-GB" dirty="0"/>
                  <a:t> in the past year</a:t>
                </a:r>
                <a:r>
                  <a:rPr lang="en-GB" b="1" dirty="0"/>
                  <a:t>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b="0" i="1" smtClean="0">
                            <a:latin typeface="Cambria Math" panose="02040503050406030204" pitchFamily="18" charset="0"/>
                          </a:rPr>
                          <m:t>2</m:t>
                        </m:r>
                        <m:r>
                          <a:rPr lang="en-GB" i="1">
                            <a:latin typeface="Cambria Math" panose="02040503050406030204" pitchFamily="18" charset="0"/>
                          </a:rPr>
                          <m:t>,</m:t>
                        </m:r>
                        <m:r>
                          <a:rPr lang="en-GB" i="1">
                            <a:latin typeface="Cambria Math" panose="02040503050406030204" pitchFamily="18" charset="0"/>
                          </a:rPr>
                          <m:t>𝑖</m:t>
                        </m:r>
                      </m:sub>
                    </m:sSub>
                  </m:oMath>
                </a14:m>
                <a:r>
                  <a:rPr lang="en-GB" dirty="0"/>
                  <a:t>, and </a:t>
                </a:r>
                <a:r>
                  <a:rPr lang="en-GB" b="1" dirty="0"/>
                  <a:t>number of popular code repositories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3,</m:t>
                        </m:r>
                        <m:r>
                          <a:rPr lang="en-GB" b="0" i="1" smtClean="0">
                            <a:latin typeface="Cambria Math" panose="02040503050406030204" pitchFamily="18" charset="0"/>
                          </a:rPr>
                          <m:t>𝑖</m:t>
                        </m:r>
                      </m:sub>
                    </m:sSub>
                    <m:r>
                      <a:rPr lang="en-GB" b="0" i="0" smtClean="0">
                        <a:latin typeface="Cambria Math" panose="02040503050406030204" pitchFamily="18" charset="0"/>
                      </a:rPr>
                      <m:t>.</m:t>
                    </m:r>
                  </m:oMath>
                </a14:m>
                <a:r>
                  <a:rPr lang="en-GB" dirty="0"/>
                  <a:t> </a:t>
                </a:r>
              </a:p>
              <a:p>
                <a:pPr marL="0" indent="0">
                  <a:buNone/>
                </a:pPr>
                <a:endParaRPr lang="en-GB"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217" r="-1739"/>
                </a:stretch>
              </a:blipFill>
            </p:spPr>
            <p:txBody>
              <a:bodyPr/>
              <a:lstStyle/>
              <a:p>
                <a:r>
                  <a:rPr lang="en-GB">
                    <a:noFill/>
                  </a:rPr>
                  <a:t> </a:t>
                </a:r>
              </a:p>
            </p:txBody>
          </p:sp>
        </mc:Fallback>
      </mc:AlternateContent>
    </p:spTree>
    <p:extLst>
      <p:ext uri="{BB962C8B-B14F-4D97-AF65-F5344CB8AC3E}">
        <p14:creationId xmlns:p14="http://schemas.microsoft.com/office/powerpoint/2010/main" val="11179648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Generalised linear model</a:t>
            </a:r>
            <a:br>
              <a:rPr lang="en-GB" dirty="0"/>
            </a:br>
            <a:r>
              <a:rPr lang="en-GB" sz="3200" dirty="0"/>
              <a:t>Logistic regression for binary outcomes</a:t>
            </a:r>
            <a:endParaRPr lang="en-GB"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23636" y="1825625"/>
                <a:ext cx="10430164" cy="4351338"/>
              </a:xfrm>
            </p:spPr>
            <p:txBody>
              <a:bodyPr/>
              <a:lstStyle/>
              <a:p>
                <a:pPr marL="0" indent="0">
                  <a:buNone/>
                </a:pPr>
                <a:endParaRPr lang="en-GB"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𝑖</m:t>
                          </m:r>
                        </m:sub>
                      </m:sSub>
                      <m:r>
                        <a:rPr lang="en-GB" b="0" i="1" smtClean="0">
                          <a:latin typeface="Cambria Math" panose="02040503050406030204" pitchFamily="18" charset="0"/>
                        </a:rPr>
                        <m:t> ~ </m:t>
                      </m:r>
                      <m:r>
                        <a:rPr lang="en-GB" b="0" i="1" smtClean="0">
                          <a:latin typeface="Cambria Math" panose="02040503050406030204" pitchFamily="18" charset="0"/>
                        </a:rPr>
                        <m:t>𝐵𝑒𝑟𝑛𝑜𝑢𝑙𝑙𝑖</m:t>
                      </m:r>
                      <m:d>
                        <m:dPr>
                          <m:ctrlPr>
                            <a:rPr lang="en-GB" b="0" i="1" smtClean="0">
                              <a:latin typeface="Cambria Math" panose="02040503050406030204" pitchFamily="18" charset="0"/>
                            </a:rPr>
                          </m:ctrlPr>
                        </m:dPr>
                        <m:e>
                          <m:r>
                            <a:rPr lang="en-GB" b="0" i="1" smtClean="0">
                              <a:latin typeface="Cambria Math" panose="02040503050406030204" pitchFamily="18" charset="0"/>
                            </a:rPr>
                            <m:t>𝜃</m:t>
                          </m:r>
                        </m:e>
                      </m:d>
                    </m:oMath>
                  </m:oMathPara>
                </a14:m>
                <a:endParaRPr lang="en-GB" b="0" dirty="0"/>
              </a:p>
              <a:p>
                <a:pPr marL="0" indent="0">
                  <a:buNone/>
                </a:pPr>
                <a:br>
                  <a:rPr lang="en-GB" b="0" dirty="0"/>
                </a:b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𝑙𝑜𝑔𝑖𝑡</m:t>
                      </m:r>
                      <m:d>
                        <m:dPr>
                          <m:ctrlPr>
                            <a:rPr lang="en-GB" b="0" i="1" smtClean="0">
                              <a:latin typeface="Cambria Math" panose="02040503050406030204" pitchFamily="18" charset="0"/>
                            </a:rPr>
                          </m:ctrlPr>
                        </m:dPr>
                        <m:e>
                          <m:r>
                            <a:rPr lang="en-GB" b="0" i="1" smtClean="0">
                              <a:latin typeface="Cambria Math" panose="02040503050406030204" pitchFamily="18" charset="0"/>
                            </a:rPr>
                            <m:t>𝜃</m:t>
                          </m:r>
                        </m:e>
                      </m:d>
                      <m:r>
                        <a:rPr lang="en-GB" b="0" i="1" smtClean="0">
                          <a:latin typeface="Cambria Math" panose="02040503050406030204" pitchFamily="18" charset="0"/>
                        </a:rPr>
                        <m:t>=</m:t>
                      </m:r>
                      <m:r>
                        <a:rPr lang="en-GB" b="0" i="1" smtClean="0">
                          <a:latin typeface="Cambria Math" panose="02040503050406030204" pitchFamily="18" charset="0"/>
                        </a:rPr>
                        <m:t>𝛼</m:t>
                      </m:r>
                      <m:r>
                        <a:rPr lang="en-GB" b="0" i="1" smtClean="0">
                          <a:latin typeface="Cambria Math" panose="02040503050406030204" pitchFamily="18" charset="0"/>
                        </a:rPr>
                        <m:t>+</m:t>
                      </m:r>
                      <m:nary>
                        <m:naryPr>
                          <m:chr m:val="∑"/>
                          <m:ctrlPr>
                            <a:rPr lang="en-GB" b="0" i="1" smtClean="0">
                              <a:latin typeface="Cambria Math" panose="02040503050406030204" pitchFamily="18" charset="0"/>
                            </a:rPr>
                          </m:ctrlPr>
                        </m:naryPr>
                        <m:sub>
                          <m:r>
                            <m:rPr>
                              <m:brk m:alnAt="23"/>
                            </m:rPr>
                            <a:rPr lang="en-GB" b="0" i="1" smtClean="0">
                              <a:latin typeface="Cambria Math" panose="02040503050406030204" pitchFamily="18" charset="0"/>
                            </a:rPr>
                            <m:t>𝑘</m:t>
                          </m:r>
                          <m:r>
                            <a:rPr lang="en-GB" b="0" i="1" smtClean="0">
                              <a:latin typeface="Cambria Math" panose="02040503050406030204" pitchFamily="18" charset="0"/>
                            </a:rPr>
                            <m:t>=1</m:t>
                          </m:r>
                        </m:sub>
                        <m:sup>
                          <m:r>
                            <a:rPr lang="en-GB" b="0" i="1" smtClean="0">
                              <a:latin typeface="Cambria Math" panose="02040503050406030204" pitchFamily="18" charset="0"/>
                            </a:rPr>
                            <m:t>𝐾</m:t>
                          </m:r>
                        </m:sup>
                        <m:e>
                          <m:sSub>
                            <m:sSubPr>
                              <m:ctrlPr>
                                <a:rPr lang="en-GB" b="0" i="1" smtClean="0">
                                  <a:latin typeface="Cambria Math" panose="02040503050406030204" pitchFamily="18" charset="0"/>
                                </a:rPr>
                              </m:ctrlPr>
                            </m:sSubPr>
                            <m:e>
                              <m:r>
                                <a:rPr lang="en-GB" b="0" i="1" smtClean="0">
                                  <a:latin typeface="Cambria Math" panose="02040503050406030204" pitchFamily="18" charset="0"/>
                                </a:rPr>
                                <m:t>𝛽</m:t>
                              </m:r>
                            </m:e>
                            <m:sub>
                              <m:r>
                                <a:rPr lang="en-GB" b="0" i="1" smtClean="0">
                                  <a:latin typeface="Cambria Math" panose="02040503050406030204" pitchFamily="18" charset="0"/>
                                </a:rPr>
                                <m:t>𝑘</m:t>
                              </m:r>
                            </m:sub>
                          </m:sSub>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𝑘</m:t>
                              </m:r>
                              <m:r>
                                <a:rPr lang="en-GB" b="0" i="1" smtClean="0">
                                  <a:latin typeface="Cambria Math" panose="02040503050406030204" pitchFamily="18" charset="0"/>
                                </a:rPr>
                                <m:t>,</m:t>
                              </m:r>
                              <m:r>
                                <a:rPr lang="en-GB" b="0" i="1" smtClean="0">
                                  <a:latin typeface="Cambria Math" panose="02040503050406030204" pitchFamily="18" charset="0"/>
                                </a:rPr>
                                <m:t>𝑖</m:t>
                              </m:r>
                            </m:sub>
                          </m:sSub>
                        </m:e>
                      </m:nary>
                    </m:oMath>
                  </m:oMathPara>
                </a14:m>
                <a:endParaRPr lang="en-GB" b="0" dirty="0"/>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𝛼</m:t>
                      </m:r>
                      <m:r>
                        <a:rPr lang="en-GB" b="0" i="1" smtClean="0">
                          <a:latin typeface="Cambria Math" panose="02040503050406030204" pitchFamily="18" charset="0"/>
                        </a:rPr>
                        <m:t> ~ </m:t>
                      </m:r>
                      <m:r>
                        <a:rPr lang="en-GB" b="0" i="1" smtClean="0">
                          <a:latin typeface="Cambria Math" panose="02040503050406030204" pitchFamily="18" charset="0"/>
                        </a:rPr>
                        <m:t>𝑁𝑜𝑟𝑚𝑎𝑙</m:t>
                      </m:r>
                      <m:d>
                        <m:dPr>
                          <m:ctrlPr>
                            <a:rPr lang="en-GB" b="0" i="1" smtClean="0">
                              <a:latin typeface="Cambria Math" panose="02040503050406030204" pitchFamily="18" charset="0"/>
                            </a:rPr>
                          </m:ctrlPr>
                        </m:dPr>
                        <m:e>
                          <m:r>
                            <a:rPr lang="en-GB" b="0" i="1" smtClean="0">
                              <a:latin typeface="Cambria Math" panose="02040503050406030204" pitchFamily="18" charset="0"/>
                            </a:rPr>
                            <m:t>0, 1</m:t>
                          </m:r>
                          <m:r>
                            <a:rPr lang="en-GB" b="0" i="1" smtClean="0">
                              <a:latin typeface="Cambria Math" panose="02040503050406030204" pitchFamily="18" charset="0"/>
                            </a:rPr>
                            <m:t>𝑒</m:t>
                          </m:r>
                          <m:r>
                            <a:rPr lang="en-GB" b="0" i="1" smtClean="0">
                              <a:latin typeface="Cambria Math" panose="02040503050406030204" pitchFamily="18" charset="0"/>
                            </a:rPr>
                            <m:t>3</m:t>
                          </m:r>
                        </m:e>
                      </m:d>
                    </m:oMath>
                    <m:oMath xmlns:m="http://schemas.openxmlformats.org/officeDocument/2006/math">
                      <m:r>
                        <a:rPr lang="en-GB" b="0" i="1" smtClean="0">
                          <a:latin typeface="Cambria Math" panose="02040503050406030204" pitchFamily="18" charset="0"/>
                        </a:rPr>
                        <m:t>𝛽</m:t>
                      </m:r>
                      <m:r>
                        <a:rPr lang="en-GB" b="0" i="1" smtClean="0">
                          <a:latin typeface="Cambria Math" panose="02040503050406030204" pitchFamily="18" charset="0"/>
                        </a:rPr>
                        <m:t> ~ </m:t>
                      </m:r>
                      <m:r>
                        <a:rPr lang="en-GB" b="0" i="1" smtClean="0">
                          <a:latin typeface="Cambria Math" panose="02040503050406030204" pitchFamily="18" charset="0"/>
                        </a:rPr>
                        <m:t>𝑁𝑜𝑟𝑚𝑎𝑙</m:t>
                      </m:r>
                      <m:r>
                        <a:rPr lang="en-GB" b="0" i="1" smtClean="0">
                          <a:latin typeface="Cambria Math" panose="02040503050406030204" pitchFamily="18" charset="0"/>
                        </a:rPr>
                        <m:t>(0, 1</m:t>
                      </m:r>
                      <m:r>
                        <a:rPr lang="en-GB" b="0" i="1" smtClean="0">
                          <a:latin typeface="Cambria Math" panose="02040503050406030204" pitchFamily="18" charset="0"/>
                        </a:rPr>
                        <m:t>𝑒</m:t>
                      </m:r>
                      <m:r>
                        <a:rPr lang="en-GB" b="0" i="1" smtClean="0">
                          <a:latin typeface="Cambria Math" panose="02040503050406030204" pitchFamily="18" charset="0"/>
                        </a:rPr>
                        <m:t>3)</m:t>
                      </m:r>
                    </m:oMath>
                  </m:oMathPara>
                </a14:m>
                <a:endParaRPr lang="en-GB"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23636" y="1825625"/>
                <a:ext cx="10430164" cy="4351338"/>
              </a:xfrm>
              <a:blipFill>
                <a:blip r:embed="rId2"/>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34057649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391602"/>
          </a:xfrm>
        </p:spPr>
        <p:txBody>
          <a:bodyPr/>
          <a:lstStyle/>
          <a:p>
            <a:r>
              <a:rPr lang="en-GB" dirty="0"/>
              <a:t>Some other useful models beyond GLMs…</a:t>
            </a:r>
          </a:p>
        </p:txBody>
      </p:sp>
    </p:spTree>
    <p:extLst>
      <p:ext uri="{BB962C8B-B14F-4D97-AF65-F5344CB8AC3E}">
        <p14:creationId xmlns:p14="http://schemas.microsoft.com/office/powerpoint/2010/main" val="28567140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What do you think about this one?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marL="0" indent="0">
                  <a:buNone/>
                </a:pPr>
                <a:endParaRPr lang="en-GB" dirty="0"/>
              </a:p>
              <a:p>
                <a:pPr marL="0" indent="0">
                  <a:buNone/>
                </a:pPr>
                <a:r>
                  <a:rPr lang="en-GB" dirty="0"/>
                  <a:t>We have data on the </a:t>
                </a:r>
                <a:r>
                  <a:rPr lang="en-GB" b="1" dirty="0"/>
                  <a:t>proportion women</a:t>
                </a:r>
                <a:r>
                  <a:rPr lang="en-GB" dirty="0"/>
                  <a:t> among employees of the top tech companies </a:t>
                </a:r>
                <a14:m>
                  <m:oMath xmlns:m="http://schemas.openxmlformats.org/officeDocument/2006/math">
                    <m:r>
                      <a:rPr lang="en-GB" i="1">
                        <a:latin typeface="Cambria Math" panose="02040503050406030204" pitchFamily="18" charset="0"/>
                      </a:rPr>
                      <m:t>𝑖</m:t>
                    </m:r>
                  </m:oMath>
                </a14:m>
                <a:r>
                  <a:rPr lang="en-GB" b="1" dirty="0"/>
                  <a:t> </a:t>
                </a:r>
                <a:r>
                  <a:rPr lang="en-GB" dirty="0"/>
                  <a:t>globally. </a:t>
                </a:r>
                <a:r>
                  <a:rPr lang="en-GB" b="1" dirty="0"/>
                  <a:t> </a:t>
                </a:r>
              </a:p>
              <a:p>
                <a:pPr marL="0" indent="0">
                  <a:buNone/>
                </a:pPr>
                <a:endParaRPr lang="en-GB" dirty="0"/>
              </a:p>
              <a:p>
                <a:pPr marL="0" indent="0">
                  <a:buNone/>
                </a:pPr>
                <a:r>
                  <a:rPr lang="en-GB" dirty="0"/>
                  <a:t>We want to study how these ratios are influenced by company characteristics like </a:t>
                </a:r>
                <a:r>
                  <a:rPr lang="en-GB" b="1" dirty="0"/>
                  <a:t>female CEO</a:t>
                </a:r>
                <a:r>
                  <a:rPr lang="en-GB" dirty="0"/>
                  <a:t>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1,</m:t>
                        </m:r>
                        <m:r>
                          <a:rPr lang="en-GB" b="0" i="1" smtClean="0">
                            <a:latin typeface="Cambria Math" panose="02040503050406030204" pitchFamily="18" charset="0"/>
                          </a:rPr>
                          <m:t>𝑖</m:t>
                        </m:r>
                      </m:sub>
                    </m:sSub>
                  </m:oMath>
                </a14:m>
                <a:r>
                  <a:rPr lang="en-GB" dirty="0"/>
                  <a:t>, </a:t>
                </a:r>
                <a:r>
                  <a:rPr lang="en-GB" b="1" dirty="0"/>
                  <a:t>gender pay gap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b="0" i="1" smtClean="0">
                            <a:latin typeface="Cambria Math" panose="02040503050406030204" pitchFamily="18" charset="0"/>
                          </a:rPr>
                          <m:t>2</m:t>
                        </m:r>
                        <m:r>
                          <a:rPr lang="en-GB" i="1">
                            <a:latin typeface="Cambria Math" panose="02040503050406030204" pitchFamily="18" charset="0"/>
                          </a:rPr>
                          <m:t>,</m:t>
                        </m:r>
                        <m:r>
                          <a:rPr lang="en-GB" i="1">
                            <a:latin typeface="Cambria Math" panose="02040503050406030204" pitchFamily="18" charset="0"/>
                          </a:rPr>
                          <m:t>𝑖</m:t>
                        </m:r>
                      </m:sub>
                    </m:sSub>
                  </m:oMath>
                </a14:m>
                <a:r>
                  <a:rPr lang="en-GB" dirty="0"/>
                  <a:t>, and </a:t>
                </a:r>
                <a:r>
                  <a:rPr lang="en-GB" b="1" dirty="0"/>
                  <a:t>days paid maternity leave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3,</m:t>
                        </m:r>
                        <m:r>
                          <a:rPr lang="en-GB" b="0" i="1" smtClean="0">
                            <a:latin typeface="Cambria Math" panose="02040503050406030204" pitchFamily="18" charset="0"/>
                          </a:rPr>
                          <m:t>𝑖</m:t>
                        </m:r>
                      </m:sub>
                    </m:sSub>
                    <m:r>
                      <a:rPr lang="en-GB" b="0" i="0" smtClean="0">
                        <a:latin typeface="Cambria Math" panose="02040503050406030204" pitchFamily="18" charset="0"/>
                      </a:rPr>
                      <m:t>.</m:t>
                    </m:r>
                  </m:oMath>
                </a14:m>
                <a:r>
                  <a:rPr lang="en-GB" dirty="0"/>
                  <a:t>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217" r="-522"/>
                </a:stretch>
              </a:blipFill>
            </p:spPr>
            <p:txBody>
              <a:bodyPr/>
              <a:lstStyle/>
              <a:p>
                <a:r>
                  <a:rPr lang="en-GB">
                    <a:noFill/>
                  </a:rPr>
                  <a:t> </a:t>
                </a:r>
              </a:p>
            </p:txBody>
          </p:sp>
        </mc:Fallback>
      </mc:AlternateContent>
    </p:spTree>
    <p:extLst>
      <p:ext uri="{BB962C8B-B14F-4D97-AF65-F5344CB8AC3E}">
        <p14:creationId xmlns:p14="http://schemas.microsoft.com/office/powerpoint/2010/main" val="19967280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Beta regression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052945" y="1825625"/>
                <a:ext cx="10300855" cy="4351338"/>
              </a:xfrm>
            </p:spPr>
            <p:txBody>
              <a:bodyPr>
                <a:normAutofit/>
              </a:bodyPr>
              <a:lstStyle/>
              <a:p>
                <a:pPr marL="0" indent="0">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𝑖</m:t>
                          </m:r>
                        </m:sub>
                      </m:sSub>
                      <m:r>
                        <a:rPr lang="en-GB" b="0" i="1" smtClean="0">
                          <a:latin typeface="Cambria Math" panose="02040503050406030204" pitchFamily="18" charset="0"/>
                        </a:rPr>
                        <m:t> ~ </m:t>
                      </m:r>
                      <m:r>
                        <a:rPr lang="en-GB" b="0" i="1" smtClean="0">
                          <a:latin typeface="Cambria Math" panose="02040503050406030204" pitchFamily="18" charset="0"/>
                        </a:rPr>
                        <m:t>𝐵𝑒𝑡𝑎</m:t>
                      </m:r>
                      <m:d>
                        <m:dPr>
                          <m:ctrlPr>
                            <a:rPr lang="en-GB" b="0" i="1" smtClean="0">
                              <a:latin typeface="Cambria Math" panose="02040503050406030204" pitchFamily="18" charset="0"/>
                            </a:rPr>
                          </m:ctrlPr>
                        </m:dPr>
                        <m:e>
                          <m:r>
                            <a:rPr lang="en-GB" i="1" smtClean="0">
                              <a:latin typeface="Cambria Math" panose="02040503050406030204" pitchFamily="18" charset="0"/>
                            </a:rPr>
                            <m:t>𝜇</m:t>
                          </m:r>
                          <m:r>
                            <a:rPr lang="en-GB" b="0" i="1" smtClean="0">
                              <a:latin typeface="Cambria Math" panose="02040503050406030204" pitchFamily="18" charset="0"/>
                            </a:rPr>
                            <m:t>𝜏</m:t>
                          </m:r>
                          <m:r>
                            <a:rPr lang="en-GB" b="0" i="1" smtClean="0">
                              <a:latin typeface="Cambria Math" panose="02040503050406030204" pitchFamily="18" charset="0"/>
                            </a:rPr>
                            <m:t>,</m:t>
                          </m:r>
                          <m:r>
                            <a:rPr lang="en-GB" b="0" i="1" smtClean="0">
                              <a:latin typeface="Cambria Math" panose="02040503050406030204" pitchFamily="18" charset="0"/>
                            </a:rPr>
                            <m:t>𝜏</m:t>
                          </m:r>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𝜇</m:t>
                              </m:r>
                            </m:e>
                            <m:sub>
                              <m:r>
                                <a:rPr lang="en-GB" b="0" i="1" smtClean="0">
                                  <a:latin typeface="Cambria Math" panose="02040503050406030204" pitchFamily="18" charset="0"/>
                                </a:rPr>
                                <m:t>𝑖</m:t>
                              </m:r>
                            </m:sub>
                          </m:sSub>
                          <m:r>
                            <a:rPr lang="en-GB" b="0" i="1" smtClean="0">
                              <a:latin typeface="Cambria Math" panose="02040503050406030204" pitchFamily="18" charset="0"/>
                            </a:rPr>
                            <m:t>𝜏</m:t>
                          </m:r>
                        </m:e>
                      </m:d>
                    </m:oMath>
                  </m:oMathPara>
                </a14:m>
                <a:endParaRPr lang="en-GB" b="0" dirty="0"/>
              </a:p>
              <a:p>
                <a:pPr marL="0" indent="0">
                  <a:buNone/>
                </a:pPr>
                <a:endParaRPr lang="en-GB" b="0" dirty="0"/>
              </a:p>
              <a:p>
                <a:pPr marL="0" indent="0">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𝑙𝑜𝑔𝑖𝑡</m:t>
                          </m:r>
                          <m:r>
                            <a:rPr lang="en-GB" b="0" i="1" smtClean="0">
                              <a:latin typeface="Cambria Math" panose="02040503050406030204" pitchFamily="18" charset="0"/>
                            </a:rPr>
                            <m:t>(</m:t>
                          </m:r>
                          <m:r>
                            <a:rPr lang="en-GB" b="0" i="1" smtClean="0">
                              <a:latin typeface="Cambria Math" panose="02040503050406030204" pitchFamily="18" charset="0"/>
                            </a:rPr>
                            <m:t>𝜇</m:t>
                          </m:r>
                        </m:e>
                        <m:sub>
                          <m:r>
                            <a:rPr lang="en-GB" b="0" i="1" smtClean="0">
                              <a:latin typeface="Cambria Math" panose="02040503050406030204" pitchFamily="18" charset="0"/>
                            </a:rPr>
                            <m:t>𝑖</m:t>
                          </m:r>
                        </m:sub>
                      </m:sSub>
                      <m:r>
                        <a:rPr lang="en-GB" b="0" i="1" smtClean="0">
                          <a:latin typeface="Cambria Math" panose="02040503050406030204" pitchFamily="18" charset="0"/>
                        </a:rPr>
                        <m:t>)=</m:t>
                      </m:r>
                      <m:r>
                        <a:rPr lang="en-GB" b="0" i="1" smtClean="0">
                          <a:latin typeface="Cambria Math" panose="02040503050406030204" pitchFamily="18" charset="0"/>
                        </a:rPr>
                        <m:t>𝛼</m:t>
                      </m:r>
                      <m:r>
                        <a:rPr lang="en-GB" b="0" i="1" smtClean="0">
                          <a:latin typeface="Cambria Math" panose="02040503050406030204" pitchFamily="18" charset="0"/>
                        </a:rPr>
                        <m:t>+</m:t>
                      </m:r>
                      <m:nary>
                        <m:naryPr>
                          <m:chr m:val="∑"/>
                          <m:ctrlPr>
                            <a:rPr lang="en-GB" i="1">
                              <a:latin typeface="Cambria Math" panose="02040503050406030204" pitchFamily="18" charset="0"/>
                            </a:rPr>
                          </m:ctrlPr>
                        </m:naryPr>
                        <m:sub>
                          <m:r>
                            <m:rPr>
                              <m:brk m:alnAt="23"/>
                            </m:rPr>
                            <a:rPr lang="en-GB" i="1">
                              <a:latin typeface="Cambria Math" panose="02040503050406030204" pitchFamily="18" charset="0"/>
                            </a:rPr>
                            <m:t>𝑘</m:t>
                          </m:r>
                          <m:r>
                            <a:rPr lang="en-GB" i="1">
                              <a:latin typeface="Cambria Math" panose="02040503050406030204" pitchFamily="18" charset="0"/>
                            </a:rPr>
                            <m:t>=1</m:t>
                          </m:r>
                        </m:sub>
                        <m:sup>
                          <m:r>
                            <a:rPr lang="en-GB" i="1">
                              <a:latin typeface="Cambria Math" panose="02040503050406030204" pitchFamily="18" charset="0"/>
                            </a:rPr>
                            <m:t>𝐾</m:t>
                          </m:r>
                        </m:sup>
                        <m:e>
                          <m:sSub>
                            <m:sSubPr>
                              <m:ctrlPr>
                                <a:rPr lang="en-GB" i="1">
                                  <a:latin typeface="Cambria Math" panose="02040503050406030204" pitchFamily="18" charset="0"/>
                                </a:rPr>
                              </m:ctrlPr>
                            </m:sSubPr>
                            <m:e>
                              <m:r>
                                <a:rPr lang="en-GB" i="1">
                                  <a:latin typeface="Cambria Math" panose="02040503050406030204" pitchFamily="18" charset="0"/>
                                </a:rPr>
                                <m:t>𝛽</m:t>
                              </m:r>
                            </m:e>
                            <m:sub>
                              <m:r>
                                <a:rPr lang="en-GB" i="1">
                                  <a:latin typeface="Cambria Math" panose="02040503050406030204" pitchFamily="18" charset="0"/>
                                </a:rPr>
                                <m:t>𝑘</m:t>
                              </m:r>
                            </m:sub>
                          </m:sSub>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𝑘</m:t>
                              </m:r>
                              <m:r>
                                <a:rPr lang="en-GB" i="1">
                                  <a:latin typeface="Cambria Math" panose="02040503050406030204" pitchFamily="18" charset="0"/>
                                </a:rPr>
                                <m:t>,</m:t>
                              </m:r>
                              <m:r>
                                <a:rPr lang="en-GB" i="1">
                                  <a:latin typeface="Cambria Math" panose="02040503050406030204" pitchFamily="18" charset="0"/>
                                </a:rPr>
                                <m:t>𝑖</m:t>
                              </m:r>
                            </m:sub>
                          </m:sSub>
                        </m:e>
                      </m:nary>
                    </m:oMath>
                  </m:oMathPara>
                </a14:m>
                <a:endParaRPr lang="en-GB" b="0" dirty="0"/>
              </a:p>
              <a:p>
                <a:pPr marL="0" indent="0">
                  <a:buNone/>
                </a:pPr>
                <a:endParaRPr lang="en-GB"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GB" i="1">
                          <a:latin typeface="Cambria Math" panose="02040503050406030204" pitchFamily="18" charset="0"/>
                        </a:rPr>
                        <m:t>𝛼</m:t>
                      </m:r>
                      <m:r>
                        <a:rPr lang="en-GB" i="1">
                          <a:latin typeface="Cambria Math" panose="02040503050406030204" pitchFamily="18" charset="0"/>
                        </a:rPr>
                        <m:t> ~ </m:t>
                      </m:r>
                      <m:r>
                        <a:rPr lang="en-GB" i="1">
                          <a:latin typeface="Cambria Math" panose="02040503050406030204" pitchFamily="18" charset="0"/>
                        </a:rPr>
                        <m:t>𝑁𝑜𝑟𝑚𝑎𝑙</m:t>
                      </m:r>
                      <m:d>
                        <m:dPr>
                          <m:ctrlPr>
                            <a:rPr lang="en-GB" i="1">
                              <a:latin typeface="Cambria Math" panose="02040503050406030204" pitchFamily="18" charset="0"/>
                            </a:rPr>
                          </m:ctrlPr>
                        </m:dPr>
                        <m:e>
                          <m:r>
                            <a:rPr lang="en-GB" i="1">
                              <a:latin typeface="Cambria Math" panose="02040503050406030204" pitchFamily="18" charset="0"/>
                            </a:rPr>
                            <m:t>0, 1</m:t>
                          </m:r>
                          <m:r>
                            <a:rPr lang="en-GB" i="1">
                              <a:latin typeface="Cambria Math" panose="02040503050406030204" pitchFamily="18" charset="0"/>
                            </a:rPr>
                            <m:t>𝑒</m:t>
                          </m:r>
                          <m:r>
                            <a:rPr lang="en-GB" i="1">
                              <a:latin typeface="Cambria Math" panose="02040503050406030204" pitchFamily="18" charset="0"/>
                            </a:rPr>
                            <m:t>3</m:t>
                          </m:r>
                        </m:e>
                      </m:d>
                    </m:oMath>
                  </m:oMathPara>
                </a14:m>
                <a:endParaRPr lang="en-GB"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GB" i="1">
                          <a:latin typeface="Cambria Math" panose="02040503050406030204" pitchFamily="18" charset="0"/>
                        </a:rPr>
                        <m:t>𝛽</m:t>
                      </m:r>
                      <m:r>
                        <a:rPr lang="en-GB" i="1">
                          <a:latin typeface="Cambria Math" panose="02040503050406030204" pitchFamily="18" charset="0"/>
                        </a:rPr>
                        <m:t> ~ </m:t>
                      </m:r>
                      <m:r>
                        <a:rPr lang="en-GB" i="1">
                          <a:latin typeface="Cambria Math" panose="02040503050406030204" pitchFamily="18" charset="0"/>
                        </a:rPr>
                        <m:t>𝑁𝑜𝑟𝑚𝑎𝑙</m:t>
                      </m:r>
                      <m:r>
                        <a:rPr lang="en-GB" i="1">
                          <a:latin typeface="Cambria Math" panose="02040503050406030204" pitchFamily="18" charset="0"/>
                        </a:rPr>
                        <m:t>(0, 1</m:t>
                      </m:r>
                      <m:r>
                        <a:rPr lang="en-GB" i="1">
                          <a:latin typeface="Cambria Math" panose="02040503050406030204" pitchFamily="18" charset="0"/>
                        </a:rPr>
                        <m:t>𝑒</m:t>
                      </m:r>
                      <m:r>
                        <a:rPr lang="en-GB" i="1">
                          <a:latin typeface="Cambria Math" panose="02040503050406030204" pitchFamily="18" charset="0"/>
                        </a:rPr>
                        <m:t>3)</m:t>
                      </m:r>
                    </m:oMath>
                  </m:oMathPara>
                </a14:m>
                <a:endParaRPr lang="en-GB" dirty="0"/>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𝜏</m:t>
                      </m:r>
                      <m:r>
                        <a:rPr lang="en-GB" b="0" i="1" smtClean="0">
                          <a:latin typeface="Cambria Math" panose="02040503050406030204" pitchFamily="18" charset="0"/>
                        </a:rPr>
                        <m:t> ~ </m:t>
                      </m:r>
                      <m:r>
                        <a:rPr lang="en-GB" b="0" i="1" smtClean="0">
                          <a:latin typeface="Cambria Math" panose="02040503050406030204" pitchFamily="18" charset="0"/>
                        </a:rPr>
                        <m:t>𝑈𝑛𝑖𝑓𝑜𝑟𝑚</m:t>
                      </m:r>
                      <m:r>
                        <a:rPr lang="en-GB" b="0" i="1" smtClean="0">
                          <a:latin typeface="Cambria Math" panose="02040503050406030204" pitchFamily="18" charset="0"/>
                        </a:rPr>
                        <m:t>(0, 1</m:t>
                      </m:r>
                      <m:r>
                        <a:rPr lang="en-GB" b="0" i="1" smtClean="0">
                          <a:latin typeface="Cambria Math" panose="02040503050406030204" pitchFamily="18" charset="0"/>
                        </a:rPr>
                        <m:t>𝑒</m:t>
                      </m:r>
                      <m:r>
                        <a:rPr lang="en-GB" b="0" i="1" smtClean="0">
                          <a:latin typeface="Cambria Math" panose="02040503050406030204" pitchFamily="18" charset="0"/>
                        </a:rPr>
                        <m:t>3)</m:t>
                      </m:r>
                    </m:oMath>
                  </m:oMathPara>
                </a14:m>
                <a:endParaRPr lang="en-GB"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052945" y="1825625"/>
                <a:ext cx="10300855" cy="4351338"/>
              </a:xfrm>
              <a:blipFill>
                <a:blip r:embed="rId2"/>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39307199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Last one…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marL="0" indent="0">
                  <a:buNone/>
                </a:pPr>
                <a:endParaRPr lang="en-GB" dirty="0"/>
              </a:p>
              <a:p>
                <a:pPr marL="0" indent="0">
                  <a:buNone/>
                </a:pPr>
                <a:r>
                  <a:rPr lang="en-GB" dirty="0"/>
                  <a:t>We have data on </a:t>
                </a:r>
                <a:r>
                  <a:rPr lang="en-GB" b="1" dirty="0"/>
                  <a:t>total fertility rates for every major city</a:t>
                </a:r>
                <a:r>
                  <a:rPr lang="en-GB" dirty="0"/>
                  <a:t> </a:t>
                </a:r>
                <a14:m>
                  <m:oMath xmlns:m="http://schemas.openxmlformats.org/officeDocument/2006/math">
                    <m:r>
                      <a:rPr lang="en-GB" b="0" i="1" smtClean="0">
                        <a:latin typeface="Cambria Math" panose="02040503050406030204" pitchFamily="18" charset="0"/>
                      </a:rPr>
                      <m:t>𝑖</m:t>
                    </m:r>
                  </m:oMath>
                </a14:m>
                <a:r>
                  <a:rPr lang="en-GB" b="1" dirty="0"/>
                  <a:t> </a:t>
                </a:r>
                <a:r>
                  <a:rPr lang="en-GB" dirty="0"/>
                  <a:t>in the world. </a:t>
                </a:r>
                <a:r>
                  <a:rPr lang="en-GB" b="1" dirty="0"/>
                  <a:t> </a:t>
                </a:r>
              </a:p>
              <a:p>
                <a:pPr marL="0" indent="0">
                  <a:buNone/>
                </a:pPr>
                <a:endParaRPr lang="en-GB" dirty="0"/>
              </a:p>
              <a:p>
                <a:pPr marL="0" indent="0">
                  <a:buNone/>
                </a:pPr>
                <a:r>
                  <a:rPr lang="en-GB" dirty="0"/>
                  <a:t>We want to study how these rates are influenced by </a:t>
                </a:r>
                <a:r>
                  <a:rPr lang="en-GB" b="1" dirty="0"/>
                  <a:t>population density</a:t>
                </a:r>
                <a:r>
                  <a:rPr lang="en-GB" dirty="0"/>
                  <a:t>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1,</m:t>
                        </m:r>
                        <m:r>
                          <a:rPr lang="en-GB" b="0" i="1" smtClean="0">
                            <a:latin typeface="Cambria Math" panose="02040503050406030204" pitchFamily="18" charset="0"/>
                          </a:rPr>
                          <m:t>𝑖</m:t>
                        </m:r>
                      </m:sub>
                    </m:sSub>
                  </m:oMath>
                </a14:m>
                <a:r>
                  <a:rPr lang="en-GB" dirty="0"/>
                  <a:t>, </a:t>
                </a:r>
                <a:r>
                  <a:rPr lang="en-GB" b="1" dirty="0"/>
                  <a:t>hospitals per capita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b="0" i="1" smtClean="0">
                            <a:latin typeface="Cambria Math" panose="02040503050406030204" pitchFamily="18" charset="0"/>
                          </a:rPr>
                          <m:t>2</m:t>
                        </m:r>
                        <m:r>
                          <a:rPr lang="en-GB" i="1">
                            <a:latin typeface="Cambria Math" panose="02040503050406030204" pitchFamily="18" charset="0"/>
                          </a:rPr>
                          <m:t>,</m:t>
                        </m:r>
                        <m:r>
                          <a:rPr lang="en-GB" i="1">
                            <a:latin typeface="Cambria Math" panose="02040503050406030204" pitchFamily="18" charset="0"/>
                          </a:rPr>
                          <m:t>𝑖</m:t>
                        </m:r>
                      </m:sub>
                    </m:sSub>
                  </m:oMath>
                </a14:m>
                <a:r>
                  <a:rPr lang="en-GB" dirty="0"/>
                  <a:t>, and </a:t>
                </a:r>
                <a:r>
                  <a:rPr lang="en-GB" b="1" dirty="0"/>
                  <a:t>4G coverage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3,</m:t>
                        </m:r>
                        <m:r>
                          <a:rPr lang="en-GB" b="0" i="1" smtClean="0">
                            <a:latin typeface="Cambria Math" panose="02040503050406030204" pitchFamily="18" charset="0"/>
                          </a:rPr>
                          <m:t>𝑖</m:t>
                        </m:r>
                      </m:sub>
                    </m:sSub>
                    <m:r>
                      <a:rPr lang="en-GB" b="0" i="0" smtClean="0">
                        <a:latin typeface="Cambria Math" panose="02040503050406030204" pitchFamily="18" charset="0"/>
                      </a:rPr>
                      <m:t>.</m:t>
                    </m:r>
                  </m:oMath>
                </a14:m>
                <a:r>
                  <a:rPr lang="en-GB" dirty="0"/>
                  <a:t> </a:t>
                </a:r>
              </a:p>
              <a:p>
                <a:pPr marL="0" indent="0">
                  <a:buNone/>
                </a:pPr>
                <a:endParaRPr lang="en-GB"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217" r="-1275"/>
                </a:stretch>
              </a:blipFill>
            </p:spPr>
            <p:txBody>
              <a:bodyPr/>
              <a:lstStyle/>
              <a:p>
                <a:r>
                  <a:rPr lang="en-GB">
                    <a:noFill/>
                  </a:rPr>
                  <a:t> </a:t>
                </a:r>
              </a:p>
            </p:txBody>
          </p:sp>
        </mc:Fallback>
      </mc:AlternateContent>
    </p:spTree>
    <p:extLst>
      <p:ext uri="{BB962C8B-B14F-4D97-AF65-F5344CB8AC3E}">
        <p14:creationId xmlns:p14="http://schemas.microsoft.com/office/powerpoint/2010/main" val="3894431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Log-linear regression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60582" y="1825625"/>
                <a:ext cx="10393218" cy="4351338"/>
              </a:xfrm>
            </p:spPr>
            <p:txBody>
              <a:bodyPr/>
              <a:lstStyle/>
              <a:p>
                <a:pPr marL="0" indent="0">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𝑖</m:t>
                          </m:r>
                        </m:sub>
                      </m:sSub>
                      <m:r>
                        <a:rPr lang="en-GB" b="0" i="1" smtClean="0">
                          <a:latin typeface="Cambria Math" panose="02040503050406030204" pitchFamily="18" charset="0"/>
                        </a:rPr>
                        <m:t> ~ </m:t>
                      </m:r>
                      <m:r>
                        <a:rPr lang="en-GB" b="0" i="1" smtClean="0">
                          <a:latin typeface="Cambria Math" panose="02040503050406030204" pitchFamily="18" charset="0"/>
                        </a:rPr>
                        <m:t>𝐿𝑜𝑔𝑁𝑜𝑟𝑚𝑎𝑙</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𝜇</m:t>
                              </m:r>
                            </m:e>
                            <m:sub>
                              <m:r>
                                <a:rPr lang="en-GB" b="0" i="1" smtClean="0">
                                  <a:latin typeface="Cambria Math" panose="02040503050406030204" pitchFamily="18" charset="0"/>
                                </a:rPr>
                                <m:t>𝑖</m:t>
                              </m:r>
                            </m:sub>
                          </m:sSub>
                          <m:r>
                            <a:rPr lang="en-GB" b="0" i="1" smtClean="0">
                              <a:latin typeface="Cambria Math" panose="02040503050406030204" pitchFamily="18" charset="0"/>
                            </a:rPr>
                            <m:t>, </m:t>
                          </m:r>
                          <m:r>
                            <a:rPr lang="en-GB" b="0" i="1" smtClean="0">
                              <a:latin typeface="Cambria Math" panose="02040503050406030204" pitchFamily="18" charset="0"/>
                            </a:rPr>
                            <m:t>𝜎</m:t>
                          </m:r>
                        </m:e>
                      </m:d>
                    </m:oMath>
                  </m:oMathPara>
                </a14:m>
                <a:endParaRPr lang="en-GB" b="0" dirty="0"/>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𝜇</m:t>
                          </m:r>
                        </m:e>
                        <m:sub>
                          <m:r>
                            <a:rPr lang="en-GB" b="0" i="1" smtClean="0">
                              <a:latin typeface="Cambria Math" panose="02040503050406030204" pitchFamily="18" charset="0"/>
                            </a:rPr>
                            <m:t>𝑖</m:t>
                          </m:r>
                        </m:sub>
                      </m:sSub>
                      <m:r>
                        <a:rPr lang="en-GB" b="0" i="1" smtClean="0">
                          <a:latin typeface="Cambria Math" panose="02040503050406030204" pitchFamily="18" charset="0"/>
                        </a:rPr>
                        <m:t>=</m:t>
                      </m:r>
                      <m:r>
                        <a:rPr lang="en-GB" b="0" i="1" smtClean="0">
                          <a:latin typeface="Cambria Math" panose="02040503050406030204" pitchFamily="18" charset="0"/>
                        </a:rPr>
                        <m:t>𝛼</m:t>
                      </m:r>
                      <m:r>
                        <a:rPr lang="en-GB" b="0" i="1" smtClean="0">
                          <a:latin typeface="Cambria Math" panose="02040503050406030204" pitchFamily="18" charset="0"/>
                        </a:rPr>
                        <m:t>+</m:t>
                      </m:r>
                      <m:nary>
                        <m:naryPr>
                          <m:chr m:val="∑"/>
                          <m:ctrlPr>
                            <a:rPr lang="en-GB" i="1">
                              <a:latin typeface="Cambria Math" panose="02040503050406030204" pitchFamily="18" charset="0"/>
                            </a:rPr>
                          </m:ctrlPr>
                        </m:naryPr>
                        <m:sub>
                          <m:r>
                            <m:rPr>
                              <m:brk m:alnAt="23"/>
                            </m:rPr>
                            <a:rPr lang="en-GB" i="1">
                              <a:latin typeface="Cambria Math" panose="02040503050406030204" pitchFamily="18" charset="0"/>
                            </a:rPr>
                            <m:t>𝑘</m:t>
                          </m:r>
                          <m:r>
                            <a:rPr lang="en-GB" i="1">
                              <a:latin typeface="Cambria Math" panose="02040503050406030204" pitchFamily="18" charset="0"/>
                            </a:rPr>
                            <m:t>=1</m:t>
                          </m:r>
                        </m:sub>
                        <m:sup>
                          <m:r>
                            <a:rPr lang="en-GB" i="1">
                              <a:latin typeface="Cambria Math" panose="02040503050406030204" pitchFamily="18" charset="0"/>
                            </a:rPr>
                            <m:t>𝐾</m:t>
                          </m:r>
                        </m:sup>
                        <m:e>
                          <m:sSub>
                            <m:sSubPr>
                              <m:ctrlPr>
                                <a:rPr lang="en-GB" i="1">
                                  <a:latin typeface="Cambria Math" panose="02040503050406030204" pitchFamily="18" charset="0"/>
                                </a:rPr>
                              </m:ctrlPr>
                            </m:sSubPr>
                            <m:e>
                              <m:r>
                                <a:rPr lang="en-GB" i="1">
                                  <a:latin typeface="Cambria Math" panose="02040503050406030204" pitchFamily="18" charset="0"/>
                                </a:rPr>
                                <m:t>𝛽</m:t>
                              </m:r>
                            </m:e>
                            <m:sub>
                              <m:r>
                                <a:rPr lang="en-GB" i="1">
                                  <a:latin typeface="Cambria Math" panose="02040503050406030204" pitchFamily="18" charset="0"/>
                                </a:rPr>
                                <m:t>𝑘</m:t>
                              </m:r>
                            </m:sub>
                          </m:sSub>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𝑘</m:t>
                              </m:r>
                              <m:r>
                                <a:rPr lang="en-GB" i="1">
                                  <a:latin typeface="Cambria Math" panose="02040503050406030204" pitchFamily="18" charset="0"/>
                                </a:rPr>
                                <m:t>,</m:t>
                              </m:r>
                              <m:r>
                                <a:rPr lang="en-GB" i="1">
                                  <a:latin typeface="Cambria Math" panose="02040503050406030204" pitchFamily="18" charset="0"/>
                                </a:rPr>
                                <m:t>𝑖</m:t>
                              </m:r>
                            </m:sub>
                          </m:sSub>
                        </m:e>
                      </m:nary>
                    </m:oMath>
                  </m:oMathPara>
                </a14:m>
                <a:endParaRPr lang="en-GB" b="0" dirty="0"/>
              </a:p>
              <a:p>
                <a:pPr marL="0" indent="0">
                  <a:buNone/>
                </a:pPr>
                <a:endParaRPr lang="en-GB" b="0" dirty="0"/>
              </a:p>
              <a:p>
                <a:pPr marL="0" indent="0">
                  <a:buNone/>
                </a:pPr>
                <a14:m>
                  <m:oMathPara xmlns:m="http://schemas.openxmlformats.org/officeDocument/2006/math">
                    <m:oMathParaPr>
                      <m:jc m:val="centerGroup"/>
                    </m:oMathParaPr>
                    <m:oMath xmlns:m="http://schemas.openxmlformats.org/officeDocument/2006/math">
                      <m:r>
                        <a:rPr lang="en-GB" i="1">
                          <a:latin typeface="Cambria Math" panose="02040503050406030204" pitchFamily="18" charset="0"/>
                        </a:rPr>
                        <m:t>𝛼</m:t>
                      </m:r>
                      <m:r>
                        <a:rPr lang="en-GB" i="1">
                          <a:latin typeface="Cambria Math" panose="02040503050406030204" pitchFamily="18" charset="0"/>
                        </a:rPr>
                        <m:t> ~ </m:t>
                      </m:r>
                      <m:r>
                        <a:rPr lang="en-GB" i="1">
                          <a:latin typeface="Cambria Math" panose="02040503050406030204" pitchFamily="18" charset="0"/>
                        </a:rPr>
                        <m:t>𝑁𝑜𝑟𝑚𝑎𝑙</m:t>
                      </m:r>
                      <m:d>
                        <m:dPr>
                          <m:ctrlPr>
                            <a:rPr lang="en-GB" i="1">
                              <a:latin typeface="Cambria Math" panose="02040503050406030204" pitchFamily="18" charset="0"/>
                            </a:rPr>
                          </m:ctrlPr>
                        </m:dPr>
                        <m:e>
                          <m:r>
                            <a:rPr lang="en-GB" i="1">
                              <a:latin typeface="Cambria Math" panose="02040503050406030204" pitchFamily="18" charset="0"/>
                            </a:rPr>
                            <m:t>0, 1</m:t>
                          </m:r>
                          <m:r>
                            <a:rPr lang="en-GB" i="1">
                              <a:latin typeface="Cambria Math" panose="02040503050406030204" pitchFamily="18" charset="0"/>
                            </a:rPr>
                            <m:t>𝑒</m:t>
                          </m:r>
                          <m:r>
                            <a:rPr lang="en-GB" i="1">
                              <a:latin typeface="Cambria Math" panose="02040503050406030204" pitchFamily="18" charset="0"/>
                            </a:rPr>
                            <m:t>3</m:t>
                          </m:r>
                        </m:e>
                      </m:d>
                    </m:oMath>
                    <m:oMath xmlns:m="http://schemas.openxmlformats.org/officeDocument/2006/math">
                      <m:r>
                        <a:rPr lang="en-GB" i="1">
                          <a:latin typeface="Cambria Math" panose="02040503050406030204" pitchFamily="18" charset="0"/>
                        </a:rPr>
                        <m:t>𝛽</m:t>
                      </m:r>
                      <m:r>
                        <a:rPr lang="en-GB" i="1">
                          <a:latin typeface="Cambria Math" panose="02040503050406030204" pitchFamily="18" charset="0"/>
                        </a:rPr>
                        <m:t> ~ </m:t>
                      </m:r>
                      <m:r>
                        <a:rPr lang="en-GB" i="1">
                          <a:latin typeface="Cambria Math" panose="02040503050406030204" pitchFamily="18" charset="0"/>
                        </a:rPr>
                        <m:t>𝑁𝑜𝑟𝑚𝑎𝑙</m:t>
                      </m:r>
                      <m:r>
                        <a:rPr lang="en-GB" i="1">
                          <a:latin typeface="Cambria Math" panose="02040503050406030204" pitchFamily="18" charset="0"/>
                        </a:rPr>
                        <m:t>(0, 1</m:t>
                      </m:r>
                      <m:r>
                        <a:rPr lang="en-GB" i="1">
                          <a:latin typeface="Cambria Math" panose="02040503050406030204" pitchFamily="18" charset="0"/>
                        </a:rPr>
                        <m:t>𝑒</m:t>
                      </m:r>
                      <m:r>
                        <a:rPr lang="en-GB" i="1">
                          <a:latin typeface="Cambria Math" panose="02040503050406030204" pitchFamily="18" charset="0"/>
                        </a:rPr>
                        <m:t>3)</m:t>
                      </m:r>
                    </m:oMath>
                  </m:oMathPara>
                </a14:m>
                <a:endParaRPr lang="en-GB" dirty="0"/>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𝜎</m:t>
                      </m:r>
                      <m:r>
                        <a:rPr lang="en-GB" b="0" i="1" smtClean="0">
                          <a:latin typeface="Cambria Math" panose="02040503050406030204" pitchFamily="18" charset="0"/>
                        </a:rPr>
                        <m:t> ~ </m:t>
                      </m:r>
                      <m:r>
                        <a:rPr lang="en-GB" b="0" i="1" smtClean="0">
                          <a:latin typeface="Cambria Math" panose="02040503050406030204" pitchFamily="18" charset="0"/>
                        </a:rPr>
                        <m:t>𝐻𝑎𝑙𝑓𝑁𝑜𝑟𝑚𝑎𝑙</m:t>
                      </m:r>
                      <m:r>
                        <a:rPr lang="en-GB" b="0" i="1" smtClean="0">
                          <a:latin typeface="Cambria Math" panose="02040503050406030204" pitchFamily="18" charset="0"/>
                        </a:rPr>
                        <m:t>(0, 1)</m:t>
                      </m:r>
                    </m:oMath>
                  </m:oMathPara>
                </a14:m>
                <a:endParaRPr lang="en-GB"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60582" y="1825625"/>
                <a:ext cx="10393218" cy="4351338"/>
              </a:xfrm>
              <a:blipFill>
                <a:blip r:embed="rId2"/>
                <a:stretch>
                  <a:fillRect/>
                </a:stretch>
              </a:blipFill>
            </p:spPr>
            <p:txBody>
              <a:bodyPr/>
              <a:lstStyle/>
              <a:p>
                <a:r>
                  <a:rPr lang="en-GB">
                    <a:noFill/>
                  </a:rPr>
                  <a:t> </a:t>
                </a:r>
              </a:p>
            </p:txBody>
          </p:sp>
        </mc:Fallback>
      </mc:AlternateContent>
      <p:sp>
        <p:nvSpPr>
          <p:cNvPr id="5" name="Rectangle 4"/>
          <p:cNvSpPr/>
          <p:nvPr/>
        </p:nvSpPr>
        <p:spPr>
          <a:xfrm>
            <a:off x="838200" y="5699909"/>
            <a:ext cx="9718964" cy="954107"/>
          </a:xfrm>
          <a:prstGeom prst="rect">
            <a:avLst/>
          </a:prstGeom>
        </p:spPr>
        <p:txBody>
          <a:bodyPr wrap="square">
            <a:spAutoFit/>
          </a:bodyPr>
          <a:lstStyle/>
          <a:p>
            <a:r>
              <a:rPr lang="en-GB" sz="2800" dirty="0"/>
              <a:t>What if we also wanted to include a </a:t>
            </a:r>
            <a:r>
              <a:rPr lang="en-GB" sz="2800" b="1" dirty="0"/>
              <a:t>country effect</a:t>
            </a:r>
            <a:r>
              <a:rPr lang="en-GB" sz="2800" dirty="0"/>
              <a:t>? </a:t>
            </a:r>
            <a:br>
              <a:rPr lang="en-GB" sz="2800" dirty="0"/>
            </a:br>
            <a:r>
              <a:rPr lang="en-GB" sz="2800" dirty="0"/>
              <a:t>How would you do that?</a:t>
            </a:r>
          </a:p>
        </p:txBody>
      </p:sp>
    </p:spTree>
    <p:extLst>
      <p:ext uri="{BB962C8B-B14F-4D97-AF65-F5344CB8AC3E}">
        <p14:creationId xmlns:p14="http://schemas.microsoft.com/office/powerpoint/2010/main" val="130725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837201"/>
          </a:xfrm>
        </p:spPr>
        <p:txBody>
          <a:bodyPr/>
          <a:lstStyle/>
          <a:p>
            <a:pPr algn="ctr"/>
            <a:r>
              <a:rPr lang="en-GB" dirty="0"/>
              <a:t>Hierarchical Models</a:t>
            </a:r>
          </a:p>
        </p:txBody>
      </p:sp>
    </p:spTree>
    <p:extLst>
      <p:ext uri="{BB962C8B-B14F-4D97-AF65-F5344CB8AC3E}">
        <p14:creationId xmlns:p14="http://schemas.microsoft.com/office/powerpoint/2010/main" val="16485110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Hierarchical models</a:t>
            </a:r>
          </a:p>
        </p:txBody>
      </p:sp>
      <p:sp>
        <p:nvSpPr>
          <p:cNvPr id="3" name="Content Placeholder 2"/>
          <p:cNvSpPr>
            <a:spLocks noGrp="1"/>
          </p:cNvSpPr>
          <p:nvPr>
            <p:ph idx="1"/>
          </p:nvPr>
        </p:nvSpPr>
        <p:spPr/>
        <p:txBody>
          <a:bodyPr>
            <a:normAutofit fontScale="92500"/>
          </a:bodyPr>
          <a:lstStyle/>
          <a:p>
            <a:r>
              <a:rPr lang="en-GB" dirty="0"/>
              <a:t>Multiple levels (i.e. sub-models) within the same model</a:t>
            </a:r>
          </a:p>
          <a:p>
            <a:r>
              <a:rPr lang="en-GB" dirty="0"/>
              <a:t>The outcome of one level is an input to another level</a:t>
            </a:r>
          </a:p>
          <a:p>
            <a:endParaRPr lang="en-GB" dirty="0"/>
          </a:p>
          <a:p>
            <a:pPr marL="0" indent="0">
              <a:buNone/>
            </a:pPr>
            <a:r>
              <a:rPr lang="en-GB" b="1" dirty="0"/>
              <a:t>Why do we want to do this?</a:t>
            </a:r>
          </a:p>
          <a:p>
            <a:r>
              <a:rPr lang="en-GB" dirty="0"/>
              <a:t>Sharing information among groups to increase statistical power</a:t>
            </a:r>
          </a:p>
          <a:p>
            <a:r>
              <a:rPr lang="en-GB" dirty="0"/>
              <a:t>Processes occurring at multiple scales (i.e. spatial, temporal, </a:t>
            </a:r>
            <a:r>
              <a:rPr lang="en-GB" dirty="0" err="1"/>
              <a:t>etc</a:t>
            </a:r>
            <a:r>
              <a:rPr lang="en-GB" dirty="0"/>
              <a:t>)</a:t>
            </a:r>
          </a:p>
          <a:p>
            <a:r>
              <a:rPr lang="en-GB" dirty="0"/>
              <a:t>Partition uncertainty into process error and observation error</a:t>
            </a:r>
          </a:p>
          <a:p>
            <a:r>
              <a:rPr lang="en-GB" dirty="0"/>
              <a:t>Different deterministic functions (i.e. regressions) for different levels of the model</a:t>
            </a:r>
          </a:p>
          <a:p>
            <a:endParaRPr lang="en-GB" dirty="0"/>
          </a:p>
        </p:txBody>
      </p:sp>
    </p:spTree>
    <p:extLst>
      <p:ext uri="{BB962C8B-B14F-4D97-AF65-F5344CB8AC3E}">
        <p14:creationId xmlns:p14="http://schemas.microsoft.com/office/powerpoint/2010/main" val="2709343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Random effects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289964" y="1825625"/>
                <a:ext cx="5063836" cy="4351338"/>
              </a:xfrm>
            </p:spPr>
            <p:txBody>
              <a:bodyPr/>
              <a:lstStyle/>
              <a:p>
                <a:pPr marL="0" indent="0">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𝑖</m:t>
                          </m:r>
                        </m:sub>
                      </m:sSub>
                      <m:r>
                        <a:rPr lang="en-GB" b="0" i="1" smtClean="0">
                          <a:latin typeface="Cambria Math" panose="02040503050406030204" pitchFamily="18" charset="0"/>
                        </a:rPr>
                        <m:t> ~ </m:t>
                      </m:r>
                      <m:r>
                        <a:rPr lang="en-GB" b="0" i="1" smtClean="0">
                          <a:latin typeface="Cambria Math" panose="02040503050406030204" pitchFamily="18" charset="0"/>
                        </a:rPr>
                        <m:t>𝑃𝑜𝑖𝑠𝑠𝑜𝑛</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𝜆</m:t>
                              </m:r>
                            </m:e>
                            <m:sub>
                              <m:r>
                                <a:rPr lang="en-GB" b="0" i="1" smtClean="0">
                                  <a:latin typeface="Cambria Math" panose="02040503050406030204" pitchFamily="18" charset="0"/>
                                </a:rPr>
                                <m:t>𝑖</m:t>
                              </m:r>
                            </m:sub>
                          </m:sSub>
                        </m:e>
                      </m:d>
                    </m:oMath>
                  </m:oMathPara>
                </a14:m>
                <a:endParaRPr lang="en-GB" b="0" dirty="0"/>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𝑙𝑜𝑔</m:t>
                      </m:r>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𝜆</m:t>
                          </m:r>
                        </m:e>
                        <m:sub>
                          <m:r>
                            <a:rPr lang="en-GB" b="0" i="1" smtClean="0">
                              <a:latin typeface="Cambria Math" panose="02040503050406030204" pitchFamily="18" charset="0"/>
                            </a:rPr>
                            <m:t>𝑖</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𝛼</m:t>
                          </m:r>
                        </m:e>
                        <m:sub>
                          <m:r>
                            <a:rPr lang="en-GB" b="0" i="1" smtClean="0">
                              <a:latin typeface="Cambria Math" panose="02040503050406030204" pitchFamily="18" charset="0"/>
                            </a:rPr>
                            <m:t>𝑔</m:t>
                          </m:r>
                        </m:sub>
                      </m:sSub>
                      <m:r>
                        <a:rPr lang="en-GB" b="0" i="1" smtClean="0">
                          <a:latin typeface="Cambria Math" panose="02040503050406030204" pitchFamily="18" charset="0"/>
                        </a:rPr>
                        <m:t>+</m:t>
                      </m:r>
                      <m:r>
                        <a:rPr lang="en-GB" b="0" i="1" smtClean="0">
                          <a:latin typeface="Cambria Math" panose="02040503050406030204" pitchFamily="18" charset="0"/>
                        </a:rPr>
                        <m:t>𝛽</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𝑖</m:t>
                          </m:r>
                        </m:sub>
                      </m:sSub>
                    </m:oMath>
                  </m:oMathPara>
                </a14:m>
                <a:endParaRPr lang="en-GB" b="0" dirty="0"/>
              </a:p>
              <a:p>
                <a:pPr marL="0" indent="0">
                  <a:buNone/>
                </a:pPr>
                <a:endParaRPr lang="en-GB" b="0" dirty="0"/>
              </a:p>
              <a:p>
                <a:pPr marL="0" indent="0">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𝛼</m:t>
                          </m:r>
                        </m:e>
                        <m:sub>
                          <m:r>
                            <a:rPr lang="en-GB" b="0" i="1" smtClean="0">
                              <a:latin typeface="Cambria Math" panose="02040503050406030204" pitchFamily="18" charset="0"/>
                            </a:rPr>
                            <m:t>𝑔</m:t>
                          </m:r>
                        </m:sub>
                      </m:sSub>
                      <m:r>
                        <a:rPr lang="en-GB" b="0" i="1" smtClean="0">
                          <a:latin typeface="Cambria Math" panose="02040503050406030204" pitchFamily="18" charset="0"/>
                        </a:rPr>
                        <m:t> ~ </m:t>
                      </m:r>
                      <m:r>
                        <a:rPr lang="en-GB" b="0" i="1" smtClean="0">
                          <a:latin typeface="Cambria Math" panose="02040503050406030204" pitchFamily="18" charset="0"/>
                        </a:rPr>
                        <m:t>𝑁𝑜𝑟𝑚𝑎𝑙</m:t>
                      </m:r>
                      <m:d>
                        <m:dPr>
                          <m:ctrlPr>
                            <a:rPr lang="en-GB" b="0" i="1" smtClean="0">
                              <a:latin typeface="Cambria Math" panose="02040503050406030204" pitchFamily="18" charset="0"/>
                            </a:rPr>
                          </m:ctrlPr>
                        </m:dPr>
                        <m:e>
                          <m:sSup>
                            <m:sSupPr>
                              <m:ctrlPr>
                                <a:rPr lang="en-GB" b="0" i="1" smtClean="0">
                                  <a:latin typeface="Cambria Math" panose="02040503050406030204" pitchFamily="18" charset="0"/>
                                </a:rPr>
                              </m:ctrlPr>
                            </m:sSupPr>
                            <m:e>
                              <m:r>
                                <a:rPr lang="en-GB" b="0" i="1" smtClean="0">
                                  <a:latin typeface="Cambria Math" panose="02040503050406030204" pitchFamily="18" charset="0"/>
                                </a:rPr>
                                <m:t>𝜇</m:t>
                              </m:r>
                            </m:e>
                            <m:sup>
                              <m:r>
                                <a:rPr lang="en-GB" b="0" i="1" smtClean="0">
                                  <a:latin typeface="Cambria Math" panose="02040503050406030204" pitchFamily="18" charset="0"/>
                                </a:rPr>
                                <m:t>𝛼</m:t>
                              </m:r>
                            </m:sup>
                          </m:sSup>
                          <m:r>
                            <a:rPr lang="en-GB" b="0" i="1" smtClean="0">
                              <a:latin typeface="Cambria Math" panose="02040503050406030204" pitchFamily="18" charset="0"/>
                            </a:rPr>
                            <m:t>, </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𝜎</m:t>
                              </m:r>
                            </m:e>
                            <m:sup>
                              <m:r>
                                <a:rPr lang="en-GB" b="0" i="1" smtClean="0">
                                  <a:latin typeface="Cambria Math" panose="02040503050406030204" pitchFamily="18" charset="0"/>
                                </a:rPr>
                                <m:t>𝛼</m:t>
                              </m:r>
                            </m:sup>
                          </m:sSup>
                        </m:e>
                      </m:d>
                    </m:oMath>
                  </m:oMathPara>
                </a14:m>
                <a:endParaRPr lang="en-GB" b="0" dirty="0"/>
              </a:p>
              <a:p>
                <a:pPr marL="0" indent="0">
                  <a:buNone/>
                </a:pPr>
                <a:endParaRPr lang="en-GB" b="0" i="1" dirty="0">
                  <a:latin typeface="Cambria Math" panose="02040503050406030204" pitchFamily="18" charset="0"/>
                </a:endParaRPr>
              </a:p>
              <a:p>
                <a:pPr marL="0" indent="0">
                  <a:buNone/>
                </a:pPr>
                <a:endParaRPr lang="en-GB"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𝜇</m:t>
                          </m:r>
                        </m:e>
                        <m:sup>
                          <m:r>
                            <a:rPr lang="en-GB" b="0" i="1" smtClean="0">
                              <a:latin typeface="Cambria Math" panose="02040503050406030204" pitchFamily="18" charset="0"/>
                            </a:rPr>
                            <m:t>𝛼</m:t>
                          </m:r>
                        </m:sup>
                      </m:sSup>
                      <m:r>
                        <a:rPr lang="en-GB" b="0" i="1" smtClean="0">
                          <a:latin typeface="Cambria Math" panose="02040503050406030204" pitchFamily="18" charset="0"/>
                        </a:rPr>
                        <m:t> ~ </m:t>
                      </m:r>
                      <m:r>
                        <a:rPr lang="en-GB" b="0" i="1" smtClean="0">
                          <a:latin typeface="Cambria Math" panose="02040503050406030204" pitchFamily="18" charset="0"/>
                        </a:rPr>
                        <m:t>𝑁𝑜𝑟𝑚𝑎𝑙</m:t>
                      </m:r>
                      <m:d>
                        <m:dPr>
                          <m:ctrlPr>
                            <a:rPr lang="en-GB" b="0" i="1" smtClean="0">
                              <a:latin typeface="Cambria Math" panose="02040503050406030204" pitchFamily="18" charset="0"/>
                            </a:rPr>
                          </m:ctrlPr>
                        </m:dPr>
                        <m:e>
                          <m:r>
                            <a:rPr lang="en-GB" b="0" i="1" smtClean="0">
                              <a:latin typeface="Cambria Math" panose="02040503050406030204" pitchFamily="18" charset="0"/>
                            </a:rPr>
                            <m:t>0, 1</m:t>
                          </m:r>
                          <m:r>
                            <a:rPr lang="en-GB" b="0" i="1" smtClean="0">
                              <a:latin typeface="Cambria Math" panose="02040503050406030204" pitchFamily="18" charset="0"/>
                            </a:rPr>
                            <m:t>𝑒</m:t>
                          </m:r>
                          <m:r>
                            <a:rPr lang="en-GB" b="0" i="1" smtClean="0">
                              <a:latin typeface="Cambria Math" panose="02040503050406030204" pitchFamily="18" charset="0"/>
                            </a:rPr>
                            <m:t>3</m:t>
                          </m:r>
                        </m:e>
                      </m:d>
                    </m:oMath>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𝜎</m:t>
                          </m:r>
                        </m:e>
                        <m:sup>
                          <m:r>
                            <a:rPr lang="en-GB" b="0" i="1" smtClean="0">
                              <a:latin typeface="Cambria Math" panose="02040503050406030204" pitchFamily="18" charset="0"/>
                            </a:rPr>
                            <m:t>𝛼</m:t>
                          </m:r>
                        </m:sup>
                      </m:sSup>
                      <m:r>
                        <a:rPr lang="en-GB" b="0" i="1" smtClean="0">
                          <a:latin typeface="Cambria Math" panose="02040503050406030204" pitchFamily="18" charset="0"/>
                        </a:rPr>
                        <m:t> ~ </m:t>
                      </m:r>
                      <m:r>
                        <a:rPr lang="en-GB" b="0" i="1" smtClean="0">
                          <a:latin typeface="Cambria Math" panose="02040503050406030204" pitchFamily="18" charset="0"/>
                        </a:rPr>
                        <m:t>𝐶𝑎𝑢𝑐h𝑦</m:t>
                      </m:r>
                      <m:d>
                        <m:dPr>
                          <m:ctrlPr>
                            <a:rPr lang="en-GB" b="0" i="1" smtClean="0">
                              <a:latin typeface="Cambria Math" panose="02040503050406030204" pitchFamily="18" charset="0"/>
                            </a:rPr>
                          </m:ctrlPr>
                        </m:dPr>
                        <m:e>
                          <m:r>
                            <a:rPr lang="en-GB" b="0" i="1" smtClean="0">
                              <a:latin typeface="Cambria Math" panose="02040503050406030204" pitchFamily="18" charset="0"/>
                            </a:rPr>
                            <m:t>0, 1</m:t>
                          </m:r>
                          <m:r>
                            <a:rPr lang="en-GB" b="0" i="1" smtClean="0">
                              <a:latin typeface="Cambria Math" panose="02040503050406030204" pitchFamily="18" charset="0"/>
                            </a:rPr>
                            <m:t>𝑒</m:t>
                          </m:r>
                          <m:r>
                            <a:rPr lang="en-GB" b="0" i="1" smtClean="0">
                              <a:latin typeface="Cambria Math" panose="02040503050406030204" pitchFamily="18" charset="0"/>
                            </a:rPr>
                            <m:t>3</m:t>
                          </m:r>
                        </m:e>
                      </m:d>
                    </m:oMath>
                  </m:oMathPara>
                </a14:m>
                <a:endParaRPr lang="en-GB" dirty="0"/>
              </a:p>
              <a:p>
                <a:pPr marL="0" indent="0">
                  <a:buNone/>
                </a:pPr>
                <a:endParaRPr lang="en-GB"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289964" y="1825625"/>
                <a:ext cx="5063836" cy="4351338"/>
              </a:xfr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 name="Content Placeholder 2"/>
              <p:cNvSpPr txBox="1">
                <a:spLocks/>
              </p:cNvSpPr>
              <p:nvPr/>
            </p:nvSpPr>
            <p:spPr>
              <a:xfrm>
                <a:off x="838200" y="1825625"/>
                <a:ext cx="5451764"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Effects (e.g. intercept, slope) are dependent on another factor</a:t>
                </a:r>
              </a:p>
              <a:p>
                <a:r>
                  <a:rPr lang="en-GB" dirty="0"/>
                  <a:t>Usually a grouping factor (</a:t>
                </a:r>
                <a14:m>
                  <m:oMath xmlns:m="http://schemas.openxmlformats.org/officeDocument/2006/math">
                    <m:r>
                      <a:rPr lang="en-GB" b="0" i="1" smtClean="0">
                        <a:latin typeface="Cambria Math" panose="02040503050406030204" pitchFamily="18" charset="0"/>
                      </a:rPr>
                      <m:t>𝑔</m:t>
                    </m:r>
                  </m:oMath>
                </a14:m>
                <a:r>
                  <a:rPr lang="en-GB" dirty="0"/>
                  <a:t>)</a:t>
                </a:r>
              </a:p>
              <a:p>
                <a:r>
                  <a:rPr lang="en-GB" dirty="0"/>
                  <a:t>The effects are not independent among groups</a:t>
                </a:r>
              </a:p>
              <a:p>
                <a:r>
                  <a:rPr lang="en-GB" dirty="0"/>
                  <a:t>Prior model and hyper-priors</a:t>
                </a:r>
              </a:p>
            </p:txBody>
          </p:sp>
        </mc:Choice>
        <mc:Fallback xmlns="">
          <p:sp>
            <p:nvSpPr>
              <p:cNvPr id="4" name="Content Placeholder 2"/>
              <p:cNvSpPr txBox="1">
                <a:spLocks noRot="1" noChangeAspect="1" noMove="1" noResize="1" noEditPoints="1" noAdjustHandles="1" noChangeArrowheads="1" noChangeShapeType="1" noTextEdit="1"/>
              </p:cNvSpPr>
              <p:nvPr/>
            </p:nvSpPr>
            <p:spPr>
              <a:xfrm>
                <a:off x="838200" y="1825625"/>
                <a:ext cx="5451764" cy="4351338"/>
              </a:xfrm>
              <a:prstGeom prst="rect">
                <a:avLst/>
              </a:prstGeom>
              <a:blipFill>
                <a:blip r:embed="rId3"/>
                <a:stretch>
                  <a:fillRect l="-2013" t="-2241"/>
                </a:stretch>
              </a:blipFill>
            </p:spPr>
            <p:txBody>
              <a:bodyPr/>
              <a:lstStyle/>
              <a:p>
                <a:r>
                  <a:rPr lang="en-GB">
                    <a:noFill/>
                  </a:rPr>
                  <a:t> </a:t>
                </a:r>
              </a:p>
            </p:txBody>
          </p:sp>
        </mc:Fallback>
      </mc:AlternateContent>
      <p:sp>
        <p:nvSpPr>
          <p:cNvPr id="5" name="TextBox 4"/>
          <p:cNvSpPr txBox="1"/>
          <p:nvPr/>
        </p:nvSpPr>
        <p:spPr>
          <a:xfrm>
            <a:off x="0" y="6273225"/>
            <a:ext cx="5532582" cy="584775"/>
          </a:xfrm>
          <a:prstGeom prst="rect">
            <a:avLst/>
          </a:prstGeom>
          <a:noFill/>
        </p:spPr>
        <p:txBody>
          <a:bodyPr wrap="square" rtlCol="0">
            <a:spAutoFit/>
          </a:bodyPr>
          <a:lstStyle/>
          <a:p>
            <a:r>
              <a:rPr lang="en-GB" sz="1600" dirty="0" err="1">
                <a:solidFill>
                  <a:schemeClr val="bg1">
                    <a:lumMod val="65000"/>
                  </a:schemeClr>
                </a:solidFill>
              </a:rPr>
              <a:t>Gelman</a:t>
            </a:r>
            <a:r>
              <a:rPr lang="en-GB" sz="1600" dirty="0">
                <a:solidFill>
                  <a:schemeClr val="bg1">
                    <a:lumMod val="65000"/>
                  </a:schemeClr>
                </a:solidFill>
              </a:rPr>
              <a:t> A. 2006. Prior distributions for variance parameters in hierarchical models. </a:t>
            </a:r>
            <a:r>
              <a:rPr lang="en-GB" sz="1600" i="1" dirty="0">
                <a:solidFill>
                  <a:schemeClr val="bg1">
                    <a:lumMod val="65000"/>
                  </a:schemeClr>
                </a:solidFill>
              </a:rPr>
              <a:t>Bayesian Analysis </a:t>
            </a:r>
            <a:r>
              <a:rPr lang="en-GB" sz="1600" dirty="0">
                <a:solidFill>
                  <a:schemeClr val="bg1">
                    <a:lumMod val="65000"/>
                  </a:schemeClr>
                </a:solidFill>
              </a:rPr>
              <a:t>1(3):515-533.</a:t>
            </a:r>
          </a:p>
        </p:txBody>
      </p:sp>
    </p:spTree>
    <p:extLst>
      <p:ext uri="{BB962C8B-B14F-4D97-AF65-F5344CB8AC3E}">
        <p14:creationId xmlns:p14="http://schemas.microsoft.com/office/powerpoint/2010/main" val="3391505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Random effects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289964" y="1825625"/>
                <a:ext cx="5063836" cy="4351338"/>
              </a:xfrm>
            </p:spPr>
            <p:txBody>
              <a:bodyPr/>
              <a:lstStyle/>
              <a:p>
                <a:pPr marL="0" indent="0">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𝑖</m:t>
                          </m:r>
                        </m:sub>
                      </m:sSub>
                      <m:r>
                        <a:rPr lang="en-GB" b="0" i="1" smtClean="0">
                          <a:latin typeface="Cambria Math" panose="02040503050406030204" pitchFamily="18" charset="0"/>
                        </a:rPr>
                        <m:t> ~ </m:t>
                      </m:r>
                      <m:r>
                        <a:rPr lang="en-GB" b="0" i="1" smtClean="0">
                          <a:latin typeface="Cambria Math" panose="02040503050406030204" pitchFamily="18" charset="0"/>
                        </a:rPr>
                        <m:t>𝑃𝑜𝑖𝑠𝑠𝑜𝑛</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𝜆</m:t>
                              </m:r>
                            </m:e>
                            <m:sub>
                              <m:r>
                                <a:rPr lang="en-GB" b="0" i="1" smtClean="0">
                                  <a:latin typeface="Cambria Math" panose="02040503050406030204" pitchFamily="18" charset="0"/>
                                </a:rPr>
                                <m:t>𝑖</m:t>
                              </m:r>
                            </m:sub>
                          </m:sSub>
                        </m:e>
                      </m:d>
                    </m:oMath>
                  </m:oMathPara>
                </a14:m>
                <a:endParaRPr lang="en-GB" b="0" dirty="0"/>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𝑙𝑜𝑔</m:t>
                      </m:r>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𝜆</m:t>
                          </m:r>
                        </m:e>
                        <m:sub>
                          <m:r>
                            <a:rPr lang="en-GB" b="0" i="1" smtClean="0">
                              <a:latin typeface="Cambria Math" panose="02040503050406030204" pitchFamily="18" charset="0"/>
                            </a:rPr>
                            <m:t>𝑖</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𝛼</m:t>
                          </m:r>
                        </m:e>
                        <m:sub>
                          <m:r>
                            <a:rPr lang="en-GB" b="0" i="1" smtClean="0">
                              <a:latin typeface="Cambria Math" panose="02040503050406030204" pitchFamily="18" charset="0"/>
                            </a:rPr>
                            <m:t>𝑔</m:t>
                          </m:r>
                        </m:sub>
                      </m:sSub>
                      <m:r>
                        <a:rPr lang="en-GB" b="0" i="1" smtClean="0">
                          <a:latin typeface="Cambria Math" panose="02040503050406030204" pitchFamily="18" charset="0"/>
                        </a:rPr>
                        <m:t>+</m:t>
                      </m:r>
                      <m:r>
                        <a:rPr lang="en-GB" b="0" i="1" smtClean="0">
                          <a:latin typeface="Cambria Math" panose="02040503050406030204" pitchFamily="18" charset="0"/>
                        </a:rPr>
                        <m:t>𝛽</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𝑖</m:t>
                          </m:r>
                        </m:sub>
                      </m:sSub>
                    </m:oMath>
                  </m:oMathPara>
                </a14:m>
                <a:endParaRPr lang="en-GB" b="0" dirty="0"/>
              </a:p>
              <a:p>
                <a:pPr marL="0" indent="0">
                  <a:buNone/>
                </a:pPr>
                <a:endParaRPr lang="en-GB" b="0" dirty="0"/>
              </a:p>
              <a:p>
                <a:pPr marL="0" indent="0">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𝛼</m:t>
                          </m:r>
                        </m:e>
                        <m:sub>
                          <m:r>
                            <a:rPr lang="en-GB" b="0" i="1" smtClean="0">
                              <a:latin typeface="Cambria Math" panose="02040503050406030204" pitchFamily="18" charset="0"/>
                            </a:rPr>
                            <m:t>𝑔</m:t>
                          </m:r>
                        </m:sub>
                      </m:sSub>
                      <m:r>
                        <a:rPr lang="en-GB" b="0" i="1" smtClean="0">
                          <a:latin typeface="Cambria Math" panose="02040503050406030204" pitchFamily="18" charset="0"/>
                        </a:rPr>
                        <m:t> ~ </m:t>
                      </m:r>
                      <m:r>
                        <a:rPr lang="en-GB" b="0" i="1" smtClean="0">
                          <a:latin typeface="Cambria Math" panose="02040503050406030204" pitchFamily="18" charset="0"/>
                        </a:rPr>
                        <m:t>𝑁𝑜𝑟𝑚𝑎𝑙</m:t>
                      </m:r>
                      <m:d>
                        <m:dPr>
                          <m:ctrlPr>
                            <a:rPr lang="en-GB" b="0" i="1" smtClean="0">
                              <a:latin typeface="Cambria Math" panose="02040503050406030204" pitchFamily="18" charset="0"/>
                            </a:rPr>
                          </m:ctrlPr>
                        </m:dPr>
                        <m:e>
                          <m:sSup>
                            <m:sSupPr>
                              <m:ctrlPr>
                                <a:rPr lang="en-GB" b="0" i="1" smtClean="0">
                                  <a:latin typeface="Cambria Math" panose="02040503050406030204" pitchFamily="18" charset="0"/>
                                </a:rPr>
                              </m:ctrlPr>
                            </m:sSupPr>
                            <m:e>
                              <m:r>
                                <a:rPr lang="en-GB" b="0" i="1" smtClean="0">
                                  <a:latin typeface="Cambria Math" panose="02040503050406030204" pitchFamily="18" charset="0"/>
                                </a:rPr>
                                <m:t>𝜇</m:t>
                              </m:r>
                            </m:e>
                            <m:sup>
                              <m:r>
                                <a:rPr lang="en-GB" b="0" i="1" smtClean="0">
                                  <a:latin typeface="Cambria Math" panose="02040503050406030204" pitchFamily="18" charset="0"/>
                                </a:rPr>
                                <m:t>𝛼</m:t>
                              </m:r>
                            </m:sup>
                          </m:sSup>
                          <m:r>
                            <a:rPr lang="en-GB" b="0" i="1" smtClean="0">
                              <a:latin typeface="Cambria Math" panose="02040503050406030204" pitchFamily="18" charset="0"/>
                            </a:rPr>
                            <m:t>, </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𝜎</m:t>
                              </m:r>
                            </m:e>
                            <m:sup>
                              <m:r>
                                <a:rPr lang="en-GB" b="0" i="1" smtClean="0">
                                  <a:latin typeface="Cambria Math" panose="02040503050406030204" pitchFamily="18" charset="0"/>
                                </a:rPr>
                                <m:t>𝛼</m:t>
                              </m:r>
                            </m:sup>
                          </m:sSup>
                        </m:e>
                      </m:d>
                    </m:oMath>
                  </m:oMathPara>
                </a14:m>
                <a:endParaRPr lang="en-GB" b="0" dirty="0"/>
              </a:p>
              <a:p>
                <a:pPr marL="0" indent="0">
                  <a:buNone/>
                </a:pPr>
                <a:endParaRPr lang="en-GB" b="0" i="1" dirty="0">
                  <a:latin typeface="Cambria Math" panose="02040503050406030204" pitchFamily="18" charset="0"/>
                </a:endParaRPr>
              </a:p>
              <a:p>
                <a:pPr marL="0" indent="0">
                  <a:buNone/>
                </a:pPr>
                <a:endParaRPr lang="en-GB"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𝜇</m:t>
                          </m:r>
                        </m:e>
                        <m:sup>
                          <m:r>
                            <a:rPr lang="en-GB" b="0" i="1" smtClean="0">
                              <a:latin typeface="Cambria Math" panose="02040503050406030204" pitchFamily="18" charset="0"/>
                            </a:rPr>
                            <m:t>𝛼</m:t>
                          </m:r>
                        </m:sup>
                      </m:sSup>
                      <m:r>
                        <a:rPr lang="en-GB" b="0" i="1" smtClean="0">
                          <a:latin typeface="Cambria Math" panose="02040503050406030204" pitchFamily="18" charset="0"/>
                        </a:rPr>
                        <m:t> ~ </m:t>
                      </m:r>
                      <m:r>
                        <a:rPr lang="en-GB" b="0" i="1" smtClean="0">
                          <a:latin typeface="Cambria Math" panose="02040503050406030204" pitchFamily="18" charset="0"/>
                        </a:rPr>
                        <m:t>𝑁𝑜𝑟𝑚𝑎𝑙</m:t>
                      </m:r>
                      <m:d>
                        <m:dPr>
                          <m:ctrlPr>
                            <a:rPr lang="en-GB" b="0" i="1" smtClean="0">
                              <a:latin typeface="Cambria Math" panose="02040503050406030204" pitchFamily="18" charset="0"/>
                            </a:rPr>
                          </m:ctrlPr>
                        </m:dPr>
                        <m:e>
                          <m:r>
                            <a:rPr lang="en-GB" b="0" i="1" smtClean="0">
                              <a:latin typeface="Cambria Math" panose="02040503050406030204" pitchFamily="18" charset="0"/>
                            </a:rPr>
                            <m:t>0, 1</m:t>
                          </m:r>
                          <m:r>
                            <a:rPr lang="en-GB" b="0" i="1" smtClean="0">
                              <a:latin typeface="Cambria Math" panose="02040503050406030204" pitchFamily="18" charset="0"/>
                            </a:rPr>
                            <m:t>𝑒</m:t>
                          </m:r>
                          <m:r>
                            <a:rPr lang="en-GB" b="0" i="1" smtClean="0">
                              <a:latin typeface="Cambria Math" panose="02040503050406030204" pitchFamily="18" charset="0"/>
                            </a:rPr>
                            <m:t>3</m:t>
                          </m:r>
                        </m:e>
                      </m:d>
                    </m:oMath>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𝜎</m:t>
                          </m:r>
                        </m:e>
                        <m:sup>
                          <m:r>
                            <a:rPr lang="en-GB" b="0" i="1" smtClean="0">
                              <a:latin typeface="Cambria Math" panose="02040503050406030204" pitchFamily="18" charset="0"/>
                            </a:rPr>
                            <m:t>𝛼</m:t>
                          </m:r>
                        </m:sup>
                      </m:sSup>
                      <m:r>
                        <a:rPr lang="en-GB" b="0" i="1" smtClean="0">
                          <a:latin typeface="Cambria Math" panose="02040503050406030204" pitchFamily="18" charset="0"/>
                        </a:rPr>
                        <m:t> ~ </m:t>
                      </m:r>
                      <m:r>
                        <a:rPr lang="en-GB" b="0" i="1" smtClean="0">
                          <a:latin typeface="Cambria Math" panose="02040503050406030204" pitchFamily="18" charset="0"/>
                        </a:rPr>
                        <m:t>𝐶𝑎𝑢𝑐h𝑦</m:t>
                      </m:r>
                      <m:d>
                        <m:dPr>
                          <m:ctrlPr>
                            <a:rPr lang="en-GB" b="0" i="1" smtClean="0">
                              <a:latin typeface="Cambria Math" panose="02040503050406030204" pitchFamily="18" charset="0"/>
                            </a:rPr>
                          </m:ctrlPr>
                        </m:dPr>
                        <m:e>
                          <m:r>
                            <a:rPr lang="en-GB" b="0" i="1" smtClean="0">
                              <a:latin typeface="Cambria Math" panose="02040503050406030204" pitchFamily="18" charset="0"/>
                            </a:rPr>
                            <m:t>0, 1</m:t>
                          </m:r>
                          <m:r>
                            <a:rPr lang="en-GB" b="0" i="1" smtClean="0">
                              <a:latin typeface="Cambria Math" panose="02040503050406030204" pitchFamily="18" charset="0"/>
                            </a:rPr>
                            <m:t>𝑒</m:t>
                          </m:r>
                          <m:r>
                            <a:rPr lang="en-GB" b="0" i="1" smtClean="0">
                              <a:latin typeface="Cambria Math" panose="02040503050406030204" pitchFamily="18" charset="0"/>
                            </a:rPr>
                            <m:t>3</m:t>
                          </m:r>
                        </m:e>
                      </m:d>
                    </m:oMath>
                  </m:oMathPara>
                </a14:m>
                <a:endParaRPr lang="en-GB" dirty="0"/>
              </a:p>
              <a:p>
                <a:pPr marL="0" indent="0">
                  <a:buNone/>
                </a:pPr>
                <a:endParaRPr lang="en-GB"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289964" y="1825625"/>
                <a:ext cx="5063836" cy="4351338"/>
              </a:xfrm>
              <a:blipFill>
                <a:blip r:embed="rId3"/>
                <a:stretch>
                  <a:fillRect/>
                </a:stretch>
              </a:blipFill>
            </p:spPr>
            <p:txBody>
              <a:bodyPr/>
              <a:lstStyle/>
              <a:p>
                <a:r>
                  <a:rPr lang="en-GB">
                    <a:noFill/>
                  </a:rPr>
                  <a:t> </a:t>
                </a:r>
              </a:p>
            </p:txBody>
          </p:sp>
        </mc:Fallback>
      </mc:AlternateContent>
      <p:sp>
        <p:nvSpPr>
          <p:cNvPr id="5" name="Rectangle 4"/>
          <p:cNvSpPr/>
          <p:nvPr/>
        </p:nvSpPr>
        <p:spPr>
          <a:xfrm>
            <a:off x="3787468" y="2093259"/>
            <a:ext cx="1751004" cy="3180705"/>
          </a:xfrm>
          <a:prstGeom prst="rect">
            <a:avLst/>
          </a:prstGeom>
          <a:solidFill>
            <a:schemeClr val="bg1">
              <a:lumMod val="85000"/>
            </a:schemeClr>
          </a:solid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GB"/>
          </a:p>
        </p:txBody>
      </p:sp>
      <p:sp>
        <p:nvSpPr>
          <p:cNvPr id="6" name="Rectangle 5"/>
          <p:cNvSpPr/>
          <p:nvPr/>
        </p:nvSpPr>
        <p:spPr>
          <a:xfrm>
            <a:off x="1810327" y="2093259"/>
            <a:ext cx="1770523" cy="3180706"/>
          </a:xfrm>
          <a:prstGeom prst="rect">
            <a:avLst/>
          </a:prstGeom>
          <a:solidFill>
            <a:schemeClr val="bg1">
              <a:lumMod val="85000"/>
            </a:schemeClr>
          </a:solid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7" name="Rectangle 6"/>
              <p:cNvSpPr/>
              <p:nvPr/>
            </p:nvSpPr>
            <p:spPr>
              <a:xfrm>
                <a:off x="4741362" y="2254108"/>
                <a:ext cx="615461" cy="580292"/>
              </a:xfrm>
              <a:prstGeom prst="rect">
                <a:avLst/>
              </a:prstGeom>
              <a:solidFill>
                <a:schemeClr val="bg1"/>
              </a:solid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𝑖</m:t>
                          </m:r>
                        </m:sub>
                      </m:sSub>
                    </m:oMath>
                  </m:oMathPara>
                </a14:m>
                <a:endParaRPr lang="en-GB" dirty="0"/>
              </a:p>
            </p:txBody>
          </p:sp>
        </mc:Choice>
        <mc:Fallback xmlns="">
          <p:sp>
            <p:nvSpPr>
              <p:cNvPr id="7" name="Rectangle 6"/>
              <p:cNvSpPr>
                <a:spLocks noRot="1" noChangeAspect="1" noMove="1" noResize="1" noEditPoints="1" noAdjustHandles="1" noChangeArrowheads="1" noChangeShapeType="1" noTextEdit="1"/>
              </p:cNvSpPr>
              <p:nvPr/>
            </p:nvSpPr>
            <p:spPr>
              <a:xfrm>
                <a:off x="4741362" y="2254108"/>
                <a:ext cx="615461" cy="580292"/>
              </a:xfrm>
              <a:prstGeom prst="rect">
                <a:avLst/>
              </a:prstGeom>
              <a:blipFill>
                <a:blip r:embed="rId4"/>
                <a:stretch>
                  <a:fillRect/>
                </a:stretch>
              </a:blipFill>
              <a:ln w="9525" cap="flat" cmpd="sng" algn="ctr">
                <a:solidFill>
                  <a:schemeClr val="dk1"/>
                </a:solidFill>
                <a:prstDash val="solid"/>
                <a:round/>
                <a:headEnd type="none" w="med" len="med"/>
                <a:tailEnd type="none" w="med" len="med"/>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Oval 7"/>
              <p:cNvSpPr/>
              <p:nvPr/>
            </p:nvSpPr>
            <p:spPr>
              <a:xfrm>
                <a:off x="4310539" y="3309183"/>
                <a:ext cx="659423" cy="668216"/>
              </a:xfrm>
              <a:prstGeom prst="ellipse">
                <a:avLst/>
              </a:prstGeom>
              <a:solidFill>
                <a:schemeClr val="bg1"/>
              </a:solid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𝜆</m:t>
                          </m:r>
                        </m:e>
                        <m:sub>
                          <m:r>
                            <a:rPr lang="en-GB" b="0" i="1" smtClean="0">
                              <a:latin typeface="Cambria Math" panose="02040503050406030204" pitchFamily="18" charset="0"/>
                            </a:rPr>
                            <m:t>𝑖</m:t>
                          </m:r>
                        </m:sub>
                      </m:sSub>
                    </m:oMath>
                  </m:oMathPara>
                </a14:m>
                <a:endParaRPr lang="en-GB" dirty="0"/>
              </a:p>
            </p:txBody>
          </p:sp>
        </mc:Choice>
        <mc:Fallback xmlns="">
          <p:sp>
            <p:nvSpPr>
              <p:cNvPr id="8" name="Oval 7"/>
              <p:cNvSpPr>
                <a:spLocks noRot="1" noChangeAspect="1" noMove="1" noResize="1" noEditPoints="1" noAdjustHandles="1" noChangeArrowheads="1" noChangeShapeType="1" noTextEdit="1"/>
              </p:cNvSpPr>
              <p:nvPr/>
            </p:nvSpPr>
            <p:spPr>
              <a:xfrm>
                <a:off x="4310539" y="3309183"/>
                <a:ext cx="659423" cy="668216"/>
              </a:xfrm>
              <a:prstGeom prst="ellipse">
                <a:avLst/>
              </a:prstGeom>
              <a:blipFill>
                <a:blip r:embed="rId5"/>
                <a:stretch>
                  <a:fillRect/>
                </a:stretch>
              </a:blipFill>
              <a:ln w="9525" cap="flat" cmpd="sng" algn="ctr">
                <a:solidFill>
                  <a:schemeClr val="dk1"/>
                </a:solidFill>
                <a:prstDash val="solid"/>
                <a:round/>
                <a:headEnd type="none" w="med" len="med"/>
                <a:tailEnd type="none" w="med" len="med"/>
              </a:ln>
            </p:spPr>
            <p:txBody>
              <a:bodyPr/>
              <a:lstStyle/>
              <a:p>
                <a:r>
                  <a:rPr lang="en-GB">
                    <a:noFill/>
                  </a:rPr>
                  <a:t> </a:t>
                </a:r>
              </a:p>
            </p:txBody>
          </p:sp>
        </mc:Fallback>
      </mc:AlternateContent>
      <p:cxnSp>
        <p:nvCxnSpPr>
          <p:cNvPr id="10" name="Straight Arrow Connector 9"/>
          <p:cNvCxnSpPr>
            <a:stCxn id="8" idx="0"/>
            <a:endCxn id="7" idx="2"/>
          </p:cNvCxnSpPr>
          <p:nvPr/>
        </p:nvCxnSpPr>
        <p:spPr>
          <a:xfrm flipV="1">
            <a:off x="4640251" y="2834400"/>
            <a:ext cx="408842" cy="474783"/>
          </a:xfrm>
          <a:prstGeom prst="straightConnector1">
            <a:avLst/>
          </a:prstGeom>
          <a:ln w="25400">
            <a:tailEnd type="triangle" w="med" len="med"/>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2" name="Oval 11"/>
              <p:cNvSpPr/>
              <p:nvPr/>
            </p:nvSpPr>
            <p:spPr>
              <a:xfrm>
                <a:off x="2378161" y="3310957"/>
                <a:ext cx="659423" cy="668216"/>
              </a:xfrm>
              <a:prstGeom prst="ellipse">
                <a:avLst/>
              </a:prstGeom>
              <a:solidFill>
                <a:schemeClr val="bg1"/>
              </a:solid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𝛼</m:t>
                          </m:r>
                        </m:e>
                        <m:sub>
                          <m:r>
                            <a:rPr lang="en-GB" b="0" i="1" smtClean="0">
                              <a:latin typeface="Cambria Math" panose="02040503050406030204" pitchFamily="18" charset="0"/>
                            </a:rPr>
                            <m:t>𝑔</m:t>
                          </m:r>
                        </m:sub>
                      </m:sSub>
                    </m:oMath>
                  </m:oMathPara>
                </a14:m>
                <a:endParaRPr lang="en-GB" b="0" dirty="0"/>
              </a:p>
            </p:txBody>
          </p:sp>
        </mc:Choice>
        <mc:Fallback xmlns="">
          <p:sp>
            <p:nvSpPr>
              <p:cNvPr id="12" name="Oval 11"/>
              <p:cNvSpPr>
                <a:spLocks noRot="1" noChangeAspect="1" noMove="1" noResize="1" noEditPoints="1" noAdjustHandles="1" noChangeArrowheads="1" noChangeShapeType="1" noTextEdit="1"/>
              </p:cNvSpPr>
              <p:nvPr/>
            </p:nvSpPr>
            <p:spPr>
              <a:xfrm>
                <a:off x="2378161" y="3310957"/>
                <a:ext cx="659423" cy="668216"/>
              </a:xfrm>
              <a:prstGeom prst="ellipse">
                <a:avLst/>
              </a:prstGeom>
              <a:blipFill>
                <a:blip r:embed="rId6"/>
                <a:stretch>
                  <a:fillRect/>
                </a:stretch>
              </a:blipFill>
              <a:ln w="9525" cap="flat" cmpd="sng" algn="ctr">
                <a:solidFill>
                  <a:schemeClr val="dk1"/>
                </a:solidFill>
                <a:prstDash val="solid"/>
                <a:round/>
                <a:headEnd type="none" w="med" len="med"/>
                <a:tailEnd type="none" w="med" len="med"/>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 name="Oval 12"/>
              <p:cNvSpPr/>
              <p:nvPr/>
            </p:nvSpPr>
            <p:spPr>
              <a:xfrm>
                <a:off x="4310539" y="4453956"/>
                <a:ext cx="659423" cy="668216"/>
              </a:xfrm>
              <a:prstGeom prst="ellipse">
                <a:avLst/>
              </a:prstGeom>
              <a:solidFill>
                <a:schemeClr val="bg1"/>
              </a:solid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𝛽</m:t>
                      </m:r>
                    </m:oMath>
                  </m:oMathPara>
                </a14:m>
                <a:endParaRPr lang="en-GB" b="0" dirty="0"/>
              </a:p>
            </p:txBody>
          </p:sp>
        </mc:Choice>
        <mc:Fallback xmlns="">
          <p:sp>
            <p:nvSpPr>
              <p:cNvPr id="13" name="Oval 12"/>
              <p:cNvSpPr>
                <a:spLocks noRot="1" noChangeAspect="1" noMove="1" noResize="1" noEditPoints="1" noAdjustHandles="1" noChangeArrowheads="1" noChangeShapeType="1" noTextEdit="1"/>
              </p:cNvSpPr>
              <p:nvPr/>
            </p:nvSpPr>
            <p:spPr>
              <a:xfrm>
                <a:off x="4310539" y="4453956"/>
                <a:ext cx="659423" cy="668216"/>
              </a:xfrm>
              <a:prstGeom prst="ellipse">
                <a:avLst/>
              </a:prstGeom>
              <a:blipFill>
                <a:blip r:embed="rId7"/>
                <a:stretch>
                  <a:fillRect/>
                </a:stretch>
              </a:blipFill>
              <a:ln w="9525" cap="flat" cmpd="sng" algn="ctr">
                <a:solidFill>
                  <a:schemeClr val="dk1"/>
                </a:solidFill>
                <a:prstDash val="solid"/>
                <a:round/>
                <a:headEnd type="none" w="med" len="med"/>
                <a:tailEnd type="none" w="med" len="med"/>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 name="Rectangle 13"/>
              <p:cNvSpPr/>
              <p:nvPr/>
            </p:nvSpPr>
            <p:spPr>
              <a:xfrm>
                <a:off x="3932542" y="2254108"/>
                <a:ext cx="615461" cy="580292"/>
              </a:xfrm>
              <a:prstGeom prst="rect">
                <a:avLst/>
              </a:prstGeom>
              <a:solidFill>
                <a:schemeClr val="bg1"/>
              </a:solid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𝑖</m:t>
                          </m:r>
                        </m:sub>
                      </m:sSub>
                    </m:oMath>
                  </m:oMathPara>
                </a14:m>
                <a:endParaRPr lang="en-GB" dirty="0"/>
              </a:p>
            </p:txBody>
          </p:sp>
        </mc:Choice>
        <mc:Fallback xmlns="">
          <p:sp>
            <p:nvSpPr>
              <p:cNvPr id="14" name="Rectangle 13"/>
              <p:cNvSpPr>
                <a:spLocks noRot="1" noChangeAspect="1" noMove="1" noResize="1" noEditPoints="1" noAdjustHandles="1" noChangeArrowheads="1" noChangeShapeType="1" noTextEdit="1"/>
              </p:cNvSpPr>
              <p:nvPr/>
            </p:nvSpPr>
            <p:spPr>
              <a:xfrm>
                <a:off x="3932542" y="2254108"/>
                <a:ext cx="615461" cy="580292"/>
              </a:xfrm>
              <a:prstGeom prst="rect">
                <a:avLst/>
              </a:prstGeom>
              <a:blipFill>
                <a:blip r:embed="rId8"/>
                <a:stretch>
                  <a:fillRect/>
                </a:stretch>
              </a:blipFill>
              <a:ln w="9525" cap="flat" cmpd="sng" algn="ctr">
                <a:solidFill>
                  <a:schemeClr val="dk1"/>
                </a:solidFill>
                <a:prstDash val="solid"/>
                <a:round/>
                <a:headEnd type="none" w="med" len="med"/>
                <a:tailEnd type="none" w="med" len="med"/>
              </a:ln>
            </p:spPr>
            <p:txBody>
              <a:bodyPr/>
              <a:lstStyle/>
              <a:p>
                <a:r>
                  <a:rPr lang="en-GB">
                    <a:noFill/>
                  </a:rPr>
                  <a:t> </a:t>
                </a:r>
              </a:p>
            </p:txBody>
          </p:sp>
        </mc:Fallback>
      </mc:AlternateContent>
      <p:cxnSp>
        <p:nvCxnSpPr>
          <p:cNvPr id="15" name="Straight Arrow Connector 14"/>
          <p:cNvCxnSpPr>
            <a:stCxn id="14" idx="2"/>
            <a:endCxn id="8" idx="0"/>
          </p:cNvCxnSpPr>
          <p:nvPr/>
        </p:nvCxnSpPr>
        <p:spPr>
          <a:xfrm>
            <a:off x="4240273" y="2834400"/>
            <a:ext cx="399978" cy="474783"/>
          </a:xfrm>
          <a:prstGeom prst="straightConnector1">
            <a:avLst/>
          </a:prstGeom>
          <a:ln w="25400">
            <a:prstDash val="sysDash"/>
            <a:tailEnd type="triangle" w="med" len="med"/>
          </a:ln>
        </p:spPr>
        <p:style>
          <a:lnRef idx="1">
            <a:schemeClr val="dk1"/>
          </a:lnRef>
          <a:fillRef idx="0">
            <a:schemeClr val="dk1"/>
          </a:fillRef>
          <a:effectRef idx="0">
            <a:schemeClr val="dk1"/>
          </a:effectRef>
          <a:fontRef idx="minor">
            <a:schemeClr val="tx1"/>
          </a:fontRef>
        </p:style>
      </p:cxnSp>
      <p:cxnSp>
        <p:nvCxnSpPr>
          <p:cNvPr id="16" name="Straight Arrow Connector 15"/>
          <p:cNvCxnSpPr>
            <a:stCxn id="12" idx="6"/>
            <a:endCxn id="8" idx="2"/>
          </p:cNvCxnSpPr>
          <p:nvPr/>
        </p:nvCxnSpPr>
        <p:spPr>
          <a:xfrm flipV="1">
            <a:off x="3037584" y="3643291"/>
            <a:ext cx="1272955" cy="1774"/>
          </a:xfrm>
          <a:prstGeom prst="straightConnector1">
            <a:avLst/>
          </a:prstGeom>
          <a:ln w="25400">
            <a:prstDash val="sysDash"/>
            <a:tailEnd type="triangle" w="med" len="med"/>
          </a:ln>
        </p:spPr>
        <p:style>
          <a:lnRef idx="1">
            <a:schemeClr val="dk1"/>
          </a:lnRef>
          <a:fillRef idx="0">
            <a:schemeClr val="dk1"/>
          </a:fillRef>
          <a:effectRef idx="0">
            <a:schemeClr val="dk1"/>
          </a:effectRef>
          <a:fontRef idx="minor">
            <a:schemeClr val="tx1"/>
          </a:fontRef>
        </p:style>
      </p:cxnSp>
      <p:cxnSp>
        <p:nvCxnSpPr>
          <p:cNvPr id="17" name="Straight Arrow Connector 16"/>
          <p:cNvCxnSpPr>
            <a:stCxn id="13" idx="0"/>
            <a:endCxn id="8" idx="4"/>
          </p:cNvCxnSpPr>
          <p:nvPr/>
        </p:nvCxnSpPr>
        <p:spPr>
          <a:xfrm flipV="1">
            <a:off x="4640251" y="3977399"/>
            <a:ext cx="0" cy="476557"/>
          </a:xfrm>
          <a:prstGeom prst="straightConnector1">
            <a:avLst/>
          </a:prstGeom>
          <a:ln w="25400">
            <a:prstDash val="sysDash"/>
            <a:tailEnd type="triangle" w="med" len="med"/>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8" name="Oval 17"/>
              <p:cNvSpPr/>
              <p:nvPr/>
            </p:nvSpPr>
            <p:spPr>
              <a:xfrm>
                <a:off x="1983732" y="4453956"/>
                <a:ext cx="659423" cy="668216"/>
              </a:xfrm>
              <a:prstGeom prst="ellipse">
                <a:avLst/>
              </a:prstGeom>
              <a:solidFill>
                <a:schemeClr val="bg1"/>
              </a:solid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𝜇</m:t>
                          </m:r>
                        </m:e>
                        <m:sup>
                          <m:r>
                            <a:rPr lang="en-GB" b="0" i="1" smtClean="0">
                              <a:latin typeface="Cambria Math" panose="02040503050406030204" pitchFamily="18" charset="0"/>
                            </a:rPr>
                            <m:t>𝛼</m:t>
                          </m:r>
                        </m:sup>
                      </m:sSup>
                    </m:oMath>
                  </m:oMathPara>
                </a14:m>
                <a:endParaRPr lang="en-GB" b="0" dirty="0"/>
              </a:p>
            </p:txBody>
          </p:sp>
        </mc:Choice>
        <mc:Fallback xmlns="">
          <p:sp>
            <p:nvSpPr>
              <p:cNvPr id="18" name="Oval 17"/>
              <p:cNvSpPr>
                <a:spLocks noRot="1" noChangeAspect="1" noMove="1" noResize="1" noEditPoints="1" noAdjustHandles="1" noChangeArrowheads="1" noChangeShapeType="1" noTextEdit="1"/>
              </p:cNvSpPr>
              <p:nvPr/>
            </p:nvSpPr>
            <p:spPr>
              <a:xfrm>
                <a:off x="1983732" y="4453956"/>
                <a:ext cx="659423" cy="668216"/>
              </a:xfrm>
              <a:prstGeom prst="ellipse">
                <a:avLst/>
              </a:prstGeom>
              <a:blipFill>
                <a:blip r:embed="rId9"/>
                <a:stretch>
                  <a:fillRect/>
                </a:stretch>
              </a:blipFill>
              <a:ln w="9525" cap="flat" cmpd="sng" algn="ctr">
                <a:solidFill>
                  <a:schemeClr val="dk1"/>
                </a:solidFill>
                <a:prstDash val="solid"/>
                <a:round/>
                <a:headEnd type="none" w="med" len="med"/>
                <a:tailEnd type="none" w="med" len="med"/>
              </a:ln>
            </p:spPr>
            <p:txBody>
              <a:bodyPr/>
              <a:lstStyle/>
              <a:p>
                <a:r>
                  <a:rPr lang="en-GB">
                    <a:noFill/>
                  </a:rPr>
                  <a:t> </a:t>
                </a:r>
              </a:p>
            </p:txBody>
          </p:sp>
        </mc:Fallback>
      </mc:AlternateContent>
      <p:cxnSp>
        <p:nvCxnSpPr>
          <p:cNvPr id="19" name="Straight Arrow Connector 18"/>
          <p:cNvCxnSpPr>
            <a:stCxn id="18" idx="0"/>
            <a:endCxn id="12" idx="4"/>
          </p:cNvCxnSpPr>
          <p:nvPr/>
        </p:nvCxnSpPr>
        <p:spPr>
          <a:xfrm flipV="1">
            <a:off x="2313444" y="3979173"/>
            <a:ext cx="394429" cy="474783"/>
          </a:xfrm>
          <a:prstGeom prst="straightConnector1">
            <a:avLst/>
          </a:prstGeom>
          <a:ln w="25400">
            <a:tailEnd type="triangle" w="med" len="med"/>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0" name="Oval 19"/>
              <p:cNvSpPr/>
              <p:nvPr/>
            </p:nvSpPr>
            <p:spPr>
              <a:xfrm>
                <a:off x="2739810" y="4453956"/>
                <a:ext cx="659423" cy="668216"/>
              </a:xfrm>
              <a:prstGeom prst="ellipse">
                <a:avLst/>
              </a:prstGeom>
              <a:solidFill>
                <a:schemeClr val="bg1"/>
              </a:solid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𝜎</m:t>
                          </m:r>
                        </m:e>
                        <m:sup>
                          <m:r>
                            <a:rPr lang="en-GB" b="0" i="1" smtClean="0">
                              <a:latin typeface="Cambria Math" panose="02040503050406030204" pitchFamily="18" charset="0"/>
                            </a:rPr>
                            <m:t>𝛼</m:t>
                          </m:r>
                        </m:sup>
                      </m:sSup>
                    </m:oMath>
                  </m:oMathPara>
                </a14:m>
                <a:endParaRPr lang="en-GB" b="0" dirty="0"/>
              </a:p>
            </p:txBody>
          </p:sp>
        </mc:Choice>
        <mc:Fallback xmlns="">
          <p:sp>
            <p:nvSpPr>
              <p:cNvPr id="20" name="Oval 19"/>
              <p:cNvSpPr>
                <a:spLocks noRot="1" noChangeAspect="1" noMove="1" noResize="1" noEditPoints="1" noAdjustHandles="1" noChangeArrowheads="1" noChangeShapeType="1" noTextEdit="1"/>
              </p:cNvSpPr>
              <p:nvPr/>
            </p:nvSpPr>
            <p:spPr>
              <a:xfrm>
                <a:off x="2739810" y="4453956"/>
                <a:ext cx="659423" cy="668216"/>
              </a:xfrm>
              <a:prstGeom prst="ellipse">
                <a:avLst/>
              </a:prstGeom>
              <a:blipFill>
                <a:blip r:embed="rId10"/>
                <a:stretch>
                  <a:fillRect/>
                </a:stretch>
              </a:blipFill>
              <a:ln w="9525" cap="flat" cmpd="sng" algn="ctr">
                <a:solidFill>
                  <a:schemeClr val="dk1"/>
                </a:solidFill>
                <a:prstDash val="solid"/>
                <a:round/>
                <a:headEnd type="none" w="med" len="med"/>
                <a:tailEnd type="none" w="med" len="med"/>
              </a:ln>
            </p:spPr>
            <p:txBody>
              <a:bodyPr/>
              <a:lstStyle/>
              <a:p>
                <a:r>
                  <a:rPr lang="en-GB">
                    <a:noFill/>
                  </a:rPr>
                  <a:t> </a:t>
                </a:r>
              </a:p>
            </p:txBody>
          </p:sp>
        </mc:Fallback>
      </mc:AlternateContent>
      <p:cxnSp>
        <p:nvCxnSpPr>
          <p:cNvPr id="21" name="Straight Arrow Connector 20"/>
          <p:cNvCxnSpPr>
            <a:stCxn id="20" idx="0"/>
            <a:endCxn id="12" idx="4"/>
          </p:cNvCxnSpPr>
          <p:nvPr/>
        </p:nvCxnSpPr>
        <p:spPr>
          <a:xfrm flipH="1" flipV="1">
            <a:off x="2707873" y="3979173"/>
            <a:ext cx="361649" cy="474783"/>
          </a:xfrm>
          <a:prstGeom prst="straightConnector1">
            <a:avLst/>
          </a:prstGeom>
          <a:ln w="25400">
            <a:tailEnd type="triangle" w="med" len="med"/>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2" name="Rectangle 21"/>
              <p:cNvSpPr/>
              <p:nvPr/>
            </p:nvSpPr>
            <p:spPr>
              <a:xfrm>
                <a:off x="2273997" y="2254108"/>
                <a:ext cx="861653" cy="580292"/>
              </a:xfrm>
              <a:prstGeom prst="rect">
                <a:avLst/>
              </a:prstGeom>
              <a:solidFill>
                <a:schemeClr val="bg1"/>
              </a:solid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𝑔𝑟𝑜𝑢𝑝</m:t>
                          </m:r>
                        </m:e>
                        <m:sub>
                          <m:r>
                            <a:rPr lang="en-GB" b="0" i="1" smtClean="0">
                              <a:latin typeface="Cambria Math" panose="02040503050406030204" pitchFamily="18" charset="0"/>
                            </a:rPr>
                            <m:t>𝑖</m:t>
                          </m:r>
                        </m:sub>
                      </m:sSub>
                    </m:oMath>
                  </m:oMathPara>
                </a14:m>
                <a:endParaRPr lang="en-GB" dirty="0"/>
              </a:p>
            </p:txBody>
          </p:sp>
        </mc:Choice>
        <mc:Fallback xmlns="">
          <p:sp>
            <p:nvSpPr>
              <p:cNvPr id="22" name="Rectangle 21"/>
              <p:cNvSpPr>
                <a:spLocks noRot="1" noChangeAspect="1" noMove="1" noResize="1" noEditPoints="1" noAdjustHandles="1" noChangeArrowheads="1" noChangeShapeType="1" noTextEdit="1"/>
              </p:cNvSpPr>
              <p:nvPr/>
            </p:nvSpPr>
            <p:spPr>
              <a:xfrm>
                <a:off x="2273997" y="2254108"/>
                <a:ext cx="861653" cy="580292"/>
              </a:xfrm>
              <a:prstGeom prst="rect">
                <a:avLst/>
              </a:prstGeom>
              <a:blipFill>
                <a:blip r:embed="rId11"/>
                <a:stretch>
                  <a:fillRect l="-2797"/>
                </a:stretch>
              </a:blipFill>
              <a:ln w="9525" cap="flat" cmpd="sng" algn="ctr">
                <a:solidFill>
                  <a:schemeClr val="dk1"/>
                </a:solidFill>
                <a:prstDash val="solid"/>
                <a:round/>
                <a:headEnd type="none" w="med" len="med"/>
                <a:tailEnd type="none" w="med" len="med"/>
              </a:ln>
            </p:spPr>
            <p:txBody>
              <a:bodyPr/>
              <a:lstStyle/>
              <a:p>
                <a:r>
                  <a:rPr lang="en-GB">
                    <a:noFill/>
                  </a:rPr>
                  <a:t> </a:t>
                </a:r>
              </a:p>
            </p:txBody>
          </p:sp>
        </mc:Fallback>
      </mc:AlternateContent>
      <p:cxnSp>
        <p:nvCxnSpPr>
          <p:cNvPr id="23" name="Straight Arrow Connector 22"/>
          <p:cNvCxnSpPr>
            <a:stCxn id="22" idx="2"/>
            <a:endCxn id="12" idx="0"/>
          </p:cNvCxnSpPr>
          <p:nvPr/>
        </p:nvCxnSpPr>
        <p:spPr>
          <a:xfrm>
            <a:off x="2704824" y="2834400"/>
            <a:ext cx="3049" cy="476557"/>
          </a:xfrm>
          <a:prstGeom prst="straightConnector1">
            <a:avLst/>
          </a:prstGeom>
          <a:ln w="25400">
            <a:tailEnd type="triangle" w="med" len="med"/>
          </a:ln>
        </p:spPr>
        <p:style>
          <a:lnRef idx="1">
            <a:schemeClr val="dk1"/>
          </a:lnRef>
          <a:fillRef idx="0">
            <a:schemeClr val="dk1"/>
          </a:fillRef>
          <a:effectRef idx="0">
            <a:schemeClr val="dk1"/>
          </a:effectRef>
          <a:fontRef idx="minor">
            <a:schemeClr val="tx1"/>
          </a:fontRef>
        </p:style>
      </p:cxnSp>
      <p:sp>
        <p:nvSpPr>
          <p:cNvPr id="24" name="TextBox 23"/>
          <p:cNvSpPr txBox="1"/>
          <p:nvPr/>
        </p:nvSpPr>
        <p:spPr>
          <a:xfrm>
            <a:off x="0" y="6273225"/>
            <a:ext cx="5532582" cy="584775"/>
          </a:xfrm>
          <a:prstGeom prst="rect">
            <a:avLst/>
          </a:prstGeom>
          <a:noFill/>
        </p:spPr>
        <p:txBody>
          <a:bodyPr wrap="square" rtlCol="0">
            <a:spAutoFit/>
          </a:bodyPr>
          <a:lstStyle/>
          <a:p>
            <a:r>
              <a:rPr lang="en-GB" sz="1600" dirty="0" err="1">
                <a:solidFill>
                  <a:schemeClr val="bg1">
                    <a:lumMod val="65000"/>
                  </a:schemeClr>
                </a:solidFill>
              </a:rPr>
              <a:t>Gelman</a:t>
            </a:r>
            <a:r>
              <a:rPr lang="en-GB" sz="1600" dirty="0">
                <a:solidFill>
                  <a:schemeClr val="bg1">
                    <a:lumMod val="65000"/>
                  </a:schemeClr>
                </a:solidFill>
              </a:rPr>
              <a:t> A. 2006. Prior distributions for variance parameters in hierarchical models. </a:t>
            </a:r>
            <a:r>
              <a:rPr lang="en-GB" sz="1600" i="1" dirty="0">
                <a:solidFill>
                  <a:schemeClr val="bg1">
                    <a:lumMod val="65000"/>
                  </a:schemeClr>
                </a:solidFill>
              </a:rPr>
              <a:t>Bayesian Analysis </a:t>
            </a:r>
            <a:r>
              <a:rPr lang="en-GB" sz="1600" dirty="0">
                <a:solidFill>
                  <a:schemeClr val="bg1">
                    <a:lumMod val="65000"/>
                  </a:schemeClr>
                </a:solidFill>
              </a:rPr>
              <a:t>1(3):515-533.</a:t>
            </a:r>
          </a:p>
        </p:txBody>
      </p:sp>
    </p:spTree>
    <p:extLst>
      <p:ext uri="{BB962C8B-B14F-4D97-AF65-F5344CB8AC3E}">
        <p14:creationId xmlns:p14="http://schemas.microsoft.com/office/powerpoint/2010/main" val="8327211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Mark-recapture</a:t>
            </a:r>
          </a:p>
        </p:txBody>
      </p:sp>
      <p:sp>
        <p:nvSpPr>
          <p:cNvPr id="3" name="Content Placeholder 2"/>
          <p:cNvSpPr>
            <a:spLocks noGrp="1"/>
          </p:cNvSpPr>
          <p:nvPr>
            <p:ph idx="1"/>
          </p:nvPr>
        </p:nvSpPr>
        <p:spPr/>
        <p:txBody>
          <a:bodyPr>
            <a:normAutofit fontScale="92500" lnSpcReduction="10000"/>
          </a:bodyPr>
          <a:lstStyle/>
          <a:p>
            <a:r>
              <a:rPr lang="en-GB" dirty="0"/>
              <a:t>A method originally designed for estimating unobservable animal populations</a:t>
            </a:r>
          </a:p>
          <a:p>
            <a:r>
              <a:rPr lang="en-GB" dirty="0"/>
              <a:t>Useful in demography for estimating populations that are impossible to census</a:t>
            </a:r>
          </a:p>
          <a:p>
            <a:r>
              <a:rPr lang="en-GB" b="1" dirty="0"/>
              <a:t>Lincoln-Peterson mark recapture</a:t>
            </a:r>
            <a:r>
              <a:rPr lang="en-GB" dirty="0"/>
              <a:t> in the oldest and simplest approach (assuming a closed population)</a:t>
            </a:r>
          </a:p>
          <a:p>
            <a:r>
              <a:rPr lang="en-GB" b="1" dirty="0"/>
              <a:t>Cormack-Jolly-</a:t>
            </a:r>
            <a:r>
              <a:rPr lang="en-GB" b="1" dirty="0" err="1"/>
              <a:t>Seber</a:t>
            </a:r>
            <a:r>
              <a:rPr lang="en-GB" b="1" dirty="0"/>
              <a:t> method</a:t>
            </a:r>
            <a:r>
              <a:rPr lang="en-GB" dirty="0"/>
              <a:t> is an open-population method in which the population can change due to mortality.</a:t>
            </a:r>
          </a:p>
          <a:p>
            <a:r>
              <a:rPr lang="en-GB" b="1" dirty="0"/>
              <a:t>“Multi-systems estimation” </a:t>
            </a:r>
            <a:r>
              <a:rPr lang="en-GB" dirty="0"/>
              <a:t>is a based on these approaches and has been used to estimate casualties from armed conflicts (including unobserved casualties). </a:t>
            </a:r>
            <a:endParaRPr lang="en-GB" b="1" dirty="0"/>
          </a:p>
        </p:txBody>
      </p:sp>
      <p:sp>
        <p:nvSpPr>
          <p:cNvPr id="4" name="TextBox 3"/>
          <p:cNvSpPr txBox="1"/>
          <p:nvPr/>
        </p:nvSpPr>
        <p:spPr>
          <a:xfrm>
            <a:off x="0" y="6027003"/>
            <a:ext cx="12192000" cy="830997"/>
          </a:xfrm>
          <a:prstGeom prst="rect">
            <a:avLst/>
          </a:prstGeom>
          <a:noFill/>
        </p:spPr>
        <p:txBody>
          <a:bodyPr wrap="square" rtlCol="0">
            <a:spAutoFit/>
          </a:bodyPr>
          <a:lstStyle/>
          <a:p>
            <a:r>
              <a:rPr lang="en-GB" sz="1600" dirty="0" err="1">
                <a:solidFill>
                  <a:schemeClr val="bg1">
                    <a:lumMod val="65000"/>
                  </a:schemeClr>
                </a:solidFill>
              </a:rPr>
              <a:t>Manrique-Vallier</a:t>
            </a:r>
            <a:r>
              <a:rPr lang="en-GB" sz="1600" dirty="0">
                <a:solidFill>
                  <a:schemeClr val="bg1">
                    <a:lumMod val="65000"/>
                  </a:schemeClr>
                </a:solidFill>
              </a:rPr>
              <a:t> et al. 2021. Capture-recapture for casualty estimation and beyond: Recent advances and research directions. Chapter in 	</a:t>
            </a:r>
            <a:r>
              <a:rPr lang="en-GB" sz="1600" i="1" dirty="0">
                <a:solidFill>
                  <a:schemeClr val="bg1">
                    <a:lumMod val="65000"/>
                  </a:schemeClr>
                </a:solidFill>
              </a:rPr>
              <a:t>Statistics in the Public Interest. </a:t>
            </a:r>
            <a:r>
              <a:rPr lang="en-GB" sz="1600" dirty="0">
                <a:solidFill>
                  <a:schemeClr val="bg1">
                    <a:lumMod val="65000"/>
                  </a:schemeClr>
                </a:solidFill>
              </a:rPr>
              <a:t>Pp. 15-31. Springer.</a:t>
            </a:r>
          </a:p>
          <a:p>
            <a:r>
              <a:rPr lang="en-GB" sz="1600" dirty="0">
                <a:solidFill>
                  <a:schemeClr val="bg1">
                    <a:lumMod val="65000"/>
                  </a:schemeClr>
                </a:solidFill>
              </a:rPr>
              <a:t>Stan User’s Guide. Mark-recapture models. </a:t>
            </a:r>
            <a:r>
              <a:rPr lang="en-GB" sz="1600" dirty="0">
                <a:solidFill>
                  <a:schemeClr val="bg1">
                    <a:lumMod val="65000"/>
                  </a:schemeClr>
                </a:solidFill>
                <a:hlinkClick r:id="rId2"/>
              </a:rPr>
              <a:t>https://mc-stan.org/docs/stan-users-guide/latent-discrete.html#mark-recapture-models</a:t>
            </a:r>
            <a:r>
              <a:rPr lang="en-GB" sz="1600" dirty="0">
                <a:solidFill>
                  <a:schemeClr val="bg1">
                    <a:lumMod val="65000"/>
                  </a:schemeClr>
                </a:solidFill>
              </a:rPr>
              <a:t> </a:t>
            </a:r>
          </a:p>
        </p:txBody>
      </p:sp>
    </p:spTree>
    <p:extLst>
      <p:ext uri="{BB962C8B-B14F-4D97-AF65-F5344CB8AC3E}">
        <p14:creationId xmlns:p14="http://schemas.microsoft.com/office/powerpoint/2010/main" val="5170075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Mark-recapture model </a:t>
            </a:r>
            <a:br>
              <a:rPr lang="en-GB" dirty="0"/>
            </a:br>
            <a:r>
              <a:rPr lang="en-GB" dirty="0"/>
              <a:t>(Lincoln-Peterson)</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838200" y="1825625"/>
                <a:ext cx="5451764" cy="4351338"/>
              </a:xfrm>
            </p:spPr>
            <p:txBody>
              <a:bodyPr>
                <a:normAutofit fontScale="92500" lnSpcReduction="10000"/>
              </a:bodyPr>
              <a:lstStyle/>
              <a:p>
                <a:r>
                  <a:rPr lang="en-GB" dirty="0"/>
                  <a:t>Estimate an unobservable population size from mark-recapture data</a:t>
                </a:r>
              </a:p>
              <a:p>
                <a:r>
                  <a:rPr lang="en-GB" dirty="0"/>
                  <a:t>Conduct a survey randomly sampling </a:t>
                </a:r>
                <a14:m>
                  <m:oMath xmlns:m="http://schemas.openxmlformats.org/officeDocument/2006/math">
                    <m:r>
                      <a:rPr lang="en-GB" b="0" i="1" smtClean="0">
                        <a:latin typeface="Cambria Math" panose="02040503050406030204" pitchFamily="18" charset="0"/>
                      </a:rPr>
                      <m:t>𝑀</m:t>
                    </m:r>
                  </m:oMath>
                </a14:m>
                <a:r>
                  <a:rPr lang="en-GB" dirty="0"/>
                  <a:t> “marked” individuals from the population</a:t>
                </a:r>
              </a:p>
              <a:p>
                <a:r>
                  <a:rPr lang="en-GB" dirty="0"/>
                  <a:t>Conduct a second round of the survey randomly sampling </a:t>
                </a:r>
                <a14:m>
                  <m:oMath xmlns:m="http://schemas.openxmlformats.org/officeDocument/2006/math">
                    <m:r>
                      <a:rPr lang="en-GB" b="0" i="1" smtClean="0">
                        <a:latin typeface="Cambria Math" panose="02040503050406030204" pitchFamily="18" charset="0"/>
                      </a:rPr>
                      <m:t>𝐶</m:t>
                    </m:r>
                  </m:oMath>
                </a14:m>
                <a:r>
                  <a:rPr lang="en-GB" dirty="0"/>
                  <a:t> “captured” individuals</a:t>
                </a:r>
              </a:p>
              <a:p>
                <a:r>
                  <a:rPr lang="en-GB" dirty="0"/>
                  <a:t>Count the number of “recaptured” individuals </a:t>
                </a:r>
                <a14:m>
                  <m:oMath xmlns:m="http://schemas.openxmlformats.org/officeDocument/2006/math">
                    <m:r>
                      <a:rPr lang="en-GB" b="0" i="1" smtClean="0">
                        <a:latin typeface="Cambria Math" panose="02040503050406030204" pitchFamily="18" charset="0"/>
                      </a:rPr>
                      <m:t>𝑅</m:t>
                    </m:r>
                  </m:oMath>
                </a14:m>
                <a:r>
                  <a:rPr lang="en-GB" dirty="0"/>
                  <a:t> in the second round</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838200" y="1825625"/>
                <a:ext cx="5451764" cy="4351338"/>
              </a:xfrm>
              <a:blipFill>
                <a:blip r:embed="rId2"/>
                <a:stretch>
                  <a:fillRect l="-1790" t="-3081" r="-2796" b="-196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 name="Content Placeholder 2"/>
              <p:cNvSpPr txBox="1">
                <a:spLocks/>
              </p:cNvSpPr>
              <p:nvPr/>
            </p:nvSpPr>
            <p:spPr>
              <a:xfrm>
                <a:off x="6945745" y="1825625"/>
                <a:ext cx="4408056"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GB" sz="2400" b="0" i="1" dirty="0">
                  <a:latin typeface="Cambria Math" panose="02040503050406030204" pitchFamily="18" charset="0"/>
                </a:endParaRPr>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GB" sz="2400" b="0" i="1" smtClean="0">
                          <a:latin typeface="Cambria Math" panose="02040503050406030204" pitchFamily="18" charset="0"/>
                        </a:rPr>
                        <m:t>𝑅</m:t>
                      </m:r>
                      <m:r>
                        <a:rPr lang="en-GB" sz="2400" b="0" i="1" smtClean="0">
                          <a:latin typeface="Cambria Math" panose="02040503050406030204" pitchFamily="18" charset="0"/>
                        </a:rPr>
                        <m:t> ~ </m:t>
                      </m:r>
                      <m:r>
                        <a:rPr lang="en-GB" sz="2400" b="0" i="1" smtClean="0">
                          <a:latin typeface="Cambria Math" panose="02040503050406030204" pitchFamily="18" charset="0"/>
                        </a:rPr>
                        <m:t>𝐵𝑖𝑛𝑜𝑚𝑖𝑎𝑙</m:t>
                      </m:r>
                      <m:d>
                        <m:dPr>
                          <m:ctrlPr>
                            <a:rPr lang="en-GB" sz="2400" b="0" i="1" smtClean="0">
                              <a:latin typeface="Cambria Math" panose="02040503050406030204" pitchFamily="18" charset="0"/>
                            </a:rPr>
                          </m:ctrlPr>
                        </m:dPr>
                        <m:e>
                          <m:r>
                            <a:rPr lang="en-GB" sz="2400" b="0" i="1" smtClean="0">
                              <a:latin typeface="Cambria Math" panose="02040503050406030204" pitchFamily="18" charset="0"/>
                            </a:rPr>
                            <m:t>𝐶</m:t>
                          </m:r>
                          <m:r>
                            <a:rPr lang="en-GB" sz="2400" b="0" i="1" smtClean="0">
                              <a:latin typeface="Cambria Math" panose="02040503050406030204" pitchFamily="18" charset="0"/>
                            </a:rPr>
                            <m:t>,</m:t>
                          </m:r>
                          <m:f>
                            <m:fPr>
                              <m:ctrlPr>
                                <a:rPr lang="en-GB" sz="2400" b="0" i="1" smtClean="0">
                                  <a:latin typeface="Cambria Math" panose="02040503050406030204" pitchFamily="18" charset="0"/>
                                </a:rPr>
                              </m:ctrlPr>
                            </m:fPr>
                            <m:num>
                              <m:r>
                                <a:rPr lang="en-GB" sz="2400" b="0" i="1" smtClean="0">
                                  <a:latin typeface="Cambria Math" panose="02040503050406030204" pitchFamily="18" charset="0"/>
                                </a:rPr>
                                <m:t>𝑀</m:t>
                              </m:r>
                            </m:num>
                            <m:den>
                              <m:r>
                                <a:rPr lang="en-GB" sz="2400" b="0" i="1" smtClean="0">
                                  <a:latin typeface="Cambria Math" panose="02040503050406030204" pitchFamily="18" charset="0"/>
                                </a:rPr>
                                <m:t>𝑁</m:t>
                              </m:r>
                            </m:den>
                          </m:f>
                        </m:e>
                      </m:d>
                    </m:oMath>
                  </m:oMathPara>
                </a14:m>
                <a:endParaRPr lang="en-GB" sz="2400" b="0" dirty="0"/>
              </a:p>
              <a:p>
                <a:pPr marL="0" indent="0">
                  <a:buFont typeface="Arial" panose="020B0604020202020204" pitchFamily="34" charset="0"/>
                  <a:buNone/>
                </a:pPr>
                <a:endParaRPr lang="en-GB" sz="2400" dirty="0"/>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GB" sz="2400" b="0" i="1" smtClean="0">
                          <a:latin typeface="Cambria Math" panose="02040503050406030204" pitchFamily="18" charset="0"/>
                        </a:rPr>
                        <m:t>𝑁</m:t>
                      </m:r>
                      <m:r>
                        <a:rPr lang="en-GB" sz="2400" b="0" i="1" smtClean="0">
                          <a:latin typeface="Cambria Math" panose="02040503050406030204" pitchFamily="18" charset="0"/>
                        </a:rPr>
                        <m:t> ~ </m:t>
                      </m:r>
                      <m:r>
                        <a:rPr lang="en-GB" sz="2400" b="0" i="1" smtClean="0">
                          <a:latin typeface="Cambria Math" panose="02040503050406030204" pitchFamily="18" charset="0"/>
                        </a:rPr>
                        <m:t>𝑈𝑛𝑖𝑓𝑜𝑟𝑚</m:t>
                      </m:r>
                      <m:r>
                        <a:rPr lang="en-GB" sz="2400" b="0" i="1" smtClean="0">
                          <a:latin typeface="Cambria Math" panose="02040503050406030204" pitchFamily="18" charset="0"/>
                        </a:rPr>
                        <m:t>(</m:t>
                      </m:r>
                      <m:r>
                        <a:rPr lang="en-GB" sz="2400" b="0" i="1" smtClean="0">
                          <a:latin typeface="Cambria Math" panose="02040503050406030204" pitchFamily="18" charset="0"/>
                        </a:rPr>
                        <m:t>𝐶</m:t>
                      </m:r>
                      <m:r>
                        <a:rPr lang="en-GB" sz="2400" b="0" i="1" smtClean="0">
                          <a:latin typeface="Cambria Math" panose="02040503050406030204" pitchFamily="18" charset="0"/>
                        </a:rPr>
                        <m:t>−</m:t>
                      </m:r>
                      <m:r>
                        <a:rPr lang="en-GB" sz="2400" b="0" i="1" smtClean="0">
                          <a:latin typeface="Cambria Math" panose="02040503050406030204" pitchFamily="18" charset="0"/>
                        </a:rPr>
                        <m:t>𝑅</m:t>
                      </m:r>
                      <m:r>
                        <a:rPr lang="en-GB" sz="2400" b="0" i="1" smtClean="0">
                          <a:latin typeface="Cambria Math" panose="02040503050406030204" pitchFamily="18" charset="0"/>
                        </a:rPr>
                        <m:t>+</m:t>
                      </m:r>
                      <m:r>
                        <a:rPr lang="en-GB" sz="2400" b="0" i="1" smtClean="0">
                          <a:latin typeface="Cambria Math" panose="02040503050406030204" pitchFamily="18" charset="0"/>
                        </a:rPr>
                        <m:t>𝑀</m:t>
                      </m:r>
                      <m:r>
                        <a:rPr lang="en-GB" sz="2400" b="0" i="1" smtClean="0">
                          <a:latin typeface="Cambria Math" panose="02040503050406030204" pitchFamily="18" charset="0"/>
                        </a:rPr>
                        <m:t>, 1</m:t>
                      </m:r>
                      <m:r>
                        <a:rPr lang="en-GB" sz="2400" b="0" i="1" smtClean="0">
                          <a:latin typeface="Cambria Math" panose="02040503050406030204" pitchFamily="18" charset="0"/>
                        </a:rPr>
                        <m:t>𝑒</m:t>
                      </m:r>
                      <m:r>
                        <a:rPr lang="en-GB" sz="2400" b="0" i="1" smtClean="0">
                          <a:latin typeface="Cambria Math" panose="02040503050406030204" pitchFamily="18" charset="0"/>
                        </a:rPr>
                        <m:t>6)</m:t>
                      </m:r>
                    </m:oMath>
                  </m:oMathPara>
                </a14:m>
                <a:endParaRPr lang="en-GB" sz="2400" dirty="0"/>
              </a:p>
            </p:txBody>
          </p:sp>
        </mc:Choice>
        <mc:Fallback xmlns="">
          <p:sp>
            <p:nvSpPr>
              <p:cNvPr id="4" name="Content Placeholder 2"/>
              <p:cNvSpPr txBox="1">
                <a:spLocks noRot="1" noChangeAspect="1" noMove="1" noResize="1" noEditPoints="1" noAdjustHandles="1" noChangeArrowheads="1" noChangeShapeType="1" noTextEdit="1"/>
              </p:cNvSpPr>
              <p:nvPr/>
            </p:nvSpPr>
            <p:spPr>
              <a:xfrm>
                <a:off x="6945745" y="1825625"/>
                <a:ext cx="4408056" cy="4351338"/>
              </a:xfrm>
              <a:prstGeom prst="rect">
                <a:avLst/>
              </a:prstGeom>
              <a:blipFill>
                <a:blip r:embed="rId3"/>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2638169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Mark-recapture model (Lincoln-Peterson)</a:t>
            </a:r>
          </a:p>
        </p:txBody>
      </p:sp>
      <mc:AlternateContent xmlns:mc="http://schemas.openxmlformats.org/markup-compatibility/2006" xmlns:a14="http://schemas.microsoft.com/office/drawing/2010/main">
        <mc:Choice Requires="a14">
          <p:sp>
            <p:nvSpPr>
              <p:cNvPr id="4" name="Content Placeholder 2"/>
              <p:cNvSpPr txBox="1">
                <a:spLocks/>
              </p:cNvSpPr>
              <p:nvPr/>
            </p:nvSpPr>
            <p:spPr>
              <a:xfrm>
                <a:off x="6945745" y="1825625"/>
                <a:ext cx="4408056"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GB" sz="2400" b="0" i="1" dirty="0">
                  <a:latin typeface="Cambria Math" panose="02040503050406030204" pitchFamily="18" charset="0"/>
                </a:endParaRPr>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GB" sz="2400" b="0" i="1" smtClean="0">
                          <a:latin typeface="Cambria Math" panose="02040503050406030204" pitchFamily="18" charset="0"/>
                        </a:rPr>
                        <m:t>𝑅</m:t>
                      </m:r>
                      <m:r>
                        <a:rPr lang="en-GB" sz="2400" b="0" i="1" smtClean="0">
                          <a:latin typeface="Cambria Math" panose="02040503050406030204" pitchFamily="18" charset="0"/>
                        </a:rPr>
                        <m:t> ~ </m:t>
                      </m:r>
                      <m:r>
                        <a:rPr lang="en-GB" sz="2400" b="0" i="1" smtClean="0">
                          <a:latin typeface="Cambria Math" panose="02040503050406030204" pitchFamily="18" charset="0"/>
                        </a:rPr>
                        <m:t>𝐵𝑖𝑛𝑜𝑚𝑖𝑎𝑙</m:t>
                      </m:r>
                      <m:d>
                        <m:dPr>
                          <m:ctrlPr>
                            <a:rPr lang="en-GB" sz="2400" b="0" i="1" smtClean="0">
                              <a:latin typeface="Cambria Math" panose="02040503050406030204" pitchFamily="18" charset="0"/>
                            </a:rPr>
                          </m:ctrlPr>
                        </m:dPr>
                        <m:e>
                          <m:r>
                            <a:rPr lang="en-GB" sz="2400" b="0" i="1" smtClean="0">
                              <a:latin typeface="Cambria Math" panose="02040503050406030204" pitchFamily="18" charset="0"/>
                            </a:rPr>
                            <m:t>𝐶</m:t>
                          </m:r>
                          <m:r>
                            <a:rPr lang="en-GB" sz="2400" b="0" i="1" smtClean="0">
                              <a:latin typeface="Cambria Math" panose="02040503050406030204" pitchFamily="18" charset="0"/>
                            </a:rPr>
                            <m:t>,</m:t>
                          </m:r>
                          <m:f>
                            <m:fPr>
                              <m:ctrlPr>
                                <a:rPr lang="en-GB" sz="2400" b="0" i="1" smtClean="0">
                                  <a:latin typeface="Cambria Math" panose="02040503050406030204" pitchFamily="18" charset="0"/>
                                </a:rPr>
                              </m:ctrlPr>
                            </m:fPr>
                            <m:num>
                              <m:r>
                                <a:rPr lang="en-GB" sz="2400" b="0" i="1" smtClean="0">
                                  <a:latin typeface="Cambria Math" panose="02040503050406030204" pitchFamily="18" charset="0"/>
                                </a:rPr>
                                <m:t>𝑀</m:t>
                              </m:r>
                            </m:num>
                            <m:den>
                              <m:r>
                                <a:rPr lang="en-GB" sz="2400" b="0" i="1" smtClean="0">
                                  <a:latin typeface="Cambria Math" panose="02040503050406030204" pitchFamily="18" charset="0"/>
                                </a:rPr>
                                <m:t>𝑁</m:t>
                              </m:r>
                            </m:den>
                          </m:f>
                        </m:e>
                      </m:d>
                    </m:oMath>
                  </m:oMathPara>
                </a14:m>
                <a:endParaRPr lang="en-GB" sz="2400" b="0" dirty="0"/>
              </a:p>
              <a:p>
                <a:pPr marL="0" indent="0">
                  <a:buFont typeface="Arial" panose="020B0604020202020204" pitchFamily="34" charset="0"/>
                  <a:buNone/>
                </a:pPr>
                <a:endParaRPr lang="en-GB" sz="2400" dirty="0"/>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GB" sz="2400" b="0" i="1" smtClean="0">
                          <a:latin typeface="Cambria Math" panose="02040503050406030204" pitchFamily="18" charset="0"/>
                        </a:rPr>
                        <m:t>𝑁</m:t>
                      </m:r>
                      <m:r>
                        <a:rPr lang="en-GB" sz="2400" b="0" i="1" smtClean="0">
                          <a:latin typeface="Cambria Math" panose="02040503050406030204" pitchFamily="18" charset="0"/>
                        </a:rPr>
                        <m:t> ~ </m:t>
                      </m:r>
                      <m:r>
                        <a:rPr lang="en-GB" sz="2400" b="0" i="1" smtClean="0">
                          <a:latin typeface="Cambria Math" panose="02040503050406030204" pitchFamily="18" charset="0"/>
                        </a:rPr>
                        <m:t>𝑈𝑛𝑖𝑓𝑜𝑟𝑚</m:t>
                      </m:r>
                      <m:r>
                        <a:rPr lang="en-GB" sz="2400" b="0" i="1" smtClean="0">
                          <a:latin typeface="Cambria Math" panose="02040503050406030204" pitchFamily="18" charset="0"/>
                        </a:rPr>
                        <m:t>(</m:t>
                      </m:r>
                      <m:r>
                        <a:rPr lang="en-GB" sz="2400" b="0" i="1" smtClean="0">
                          <a:latin typeface="Cambria Math" panose="02040503050406030204" pitchFamily="18" charset="0"/>
                        </a:rPr>
                        <m:t>𝐶</m:t>
                      </m:r>
                      <m:r>
                        <a:rPr lang="en-GB" sz="2400" b="0" i="1" smtClean="0">
                          <a:latin typeface="Cambria Math" panose="02040503050406030204" pitchFamily="18" charset="0"/>
                        </a:rPr>
                        <m:t>−</m:t>
                      </m:r>
                      <m:r>
                        <a:rPr lang="en-GB" sz="2400" b="0" i="1" smtClean="0">
                          <a:latin typeface="Cambria Math" panose="02040503050406030204" pitchFamily="18" charset="0"/>
                        </a:rPr>
                        <m:t>𝑅</m:t>
                      </m:r>
                      <m:r>
                        <a:rPr lang="en-GB" sz="2400" b="0" i="1" smtClean="0">
                          <a:latin typeface="Cambria Math" panose="02040503050406030204" pitchFamily="18" charset="0"/>
                        </a:rPr>
                        <m:t>+</m:t>
                      </m:r>
                      <m:r>
                        <a:rPr lang="en-GB" sz="2400" b="0" i="1" smtClean="0">
                          <a:latin typeface="Cambria Math" panose="02040503050406030204" pitchFamily="18" charset="0"/>
                        </a:rPr>
                        <m:t>𝑀</m:t>
                      </m:r>
                      <m:r>
                        <a:rPr lang="en-GB" sz="2400" b="0" i="1" smtClean="0">
                          <a:latin typeface="Cambria Math" panose="02040503050406030204" pitchFamily="18" charset="0"/>
                        </a:rPr>
                        <m:t>, 1</m:t>
                      </m:r>
                      <m:r>
                        <a:rPr lang="en-GB" sz="2400" b="0" i="1" smtClean="0">
                          <a:latin typeface="Cambria Math" panose="02040503050406030204" pitchFamily="18" charset="0"/>
                        </a:rPr>
                        <m:t>𝑒</m:t>
                      </m:r>
                      <m:r>
                        <a:rPr lang="en-GB" sz="2400" b="0" i="1" smtClean="0">
                          <a:latin typeface="Cambria Math" panose="02040503050406030204" pitchFamily="18" charset="0"/>
                        </a:rPr>
                        <m:t>6)</m:t>
                      </m:r>
                    </m:oMath>
                  </m:oMathPara>
                </a14:m>
                <a:endParaRPr lang="en-GB" sz="2400" dirty="0"/>
              </a:p>
            </p:txBody>
          </p:sp>
        </mc:Choice>
        <mc:Fallback xmlns="">
          <p:sp>
            <p:nvSpPr>
              <p:cNvPr id="4" name="Content Placeholder 2"/>
              <p:cNvSpPr txBox="1">
                <a:spLocks noRot="1" noChangeAspect="1" noMove="1" noResize="1" noEditPoints="1" noAdjustHandles="1" noChangeArrowheads="1" noChangeShapeType="1" noTextEdit="1"/>
              </p:cNvSpPr>
              <p:nvPr/>
            </p:nvSpPr>
            <p:spPr>
              <a:xfrm>
                <a:off x="6945745" y="1825625"/>
                <a:ext cx="4408056" cy="4351338"/>
              </a:xfrm>
              <a:prstGeom prst="rect">
                <a:avLst/>
              </a:prstGeom>
              <a:blipFill>
                <a:blip r:embed="rId3"/>
                <a:stretch>
                  <a:fillRect/>
                </a:stretch>
              </a:blipFill>
            </p:spPr>
            <p:txBody>
              <a:bodyPr/>
              <a:lstStyle/>
              <a:p>
                <a:r>
                  <a:rPr lang="en-GB">
                    <a:noFill/>
                  </a:rPr>
                  <a:t> </a:t>
                </a:r>
              </a:p>
            </p:txBody>
          </p:sp>
        </mc:Fallback>
      </mc:AlternateContent>
      <p:sp>
        <p:nvSpPr>
          <p:cNvPr id="6" name="Rectangle 5"/>
          <p:cNvSpPr/>
          <p:nvPr/>
        </p:nvSpPr>
        <p:spPr>
          <a:xfrm>
            <a:off x="374073" y="2020599"/>
            <a:ext cx="6345382" cy="4156364"/>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7" name="Picture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191" y="2315621"/>
            <a:ext cx="1103746" cy="1150915"/>
          </a:xfrm>
          <a:prstGeom prst="rect">
            <a:avLst/>
          </a:prstGeom>
        </p:spPr>
      </p:pic>
      <p:pic>
        <p:nvPicPr>
          <p:cNvPr id="8" name="Picture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812463" y="2716955"/>
            <a:ext cx="1103746" cy="1150915"/>
          </a:xfrm>
          <a:prstGeom prst="rect">
            <a:avLst/>
          </a:prstGeom>
        </p:spPr>
      </p:pic>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810887" y="2284285"/>
            <a:ext cx="1103746" cy="1150915"/>
          </a:xfrm>
          <a:prstGeom prst="rect">
            <a:avLst/>
          </a:prstGeom>
        </p:spPr>
      </p:pic>
      <p:pic>
        <p:nvPicPr>
          <p:cNvPr id="10" name="Picture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14642" y="4098781"/>
            <a:ext cx="1103746" cy="1150915"/>
          </a:xfrm>
          <a:prstGeom prst="rect">
            <a:avLst/>
          </a:prstGeom>
        </p:spPr>
      </p:pic>
      <p:pic>
        <p:nvPicPr>
          <p:cNvPr id="11" name="Picture 1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944072" y="4537523"/>
            <a:ext cx="1103746" cy="1150915"/>
          </a:xfrm>
          <a:prstGeom prst="rect">
            <a:avLst/>
          </a:prstGeom>
        </p:spPr>
      </p:pic>
      <p:pic>
        <p:nvPicPr>
          <p:cNvPr id="12" name="Picture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259014" y="3916559"/>
            <a:ext cx="1103746" cy="1150915"/>
          </a:xfrm>
          <a:prstGeom prst="rect">
            <a:avLst/>
          </a:prstGeom>
        </p:spPr>
      </p:pic>
      <p:sp>
        <p:nvSpPr>
          <p:cNvPr id="13" name="TextBox 12"/>
          <p:cNvSpPr txBox="1"/>
          <p:nvPr/>
        </p:nvSpPr>
        <p:spPr>
          <a:xfrm>
            <a:off x="374074" y="1462527"/>
            <a:ext cx="6345381" cy="584775"/>
          </a:xfrm>
          <a:prstGeom prst="rect">
            <a:avLst/>
          </a:prstGeom>
          <a:noFill/>
        </p:spPr>
        <p:txBody>
          <a:bodyPr wrap="square" rtlCol="0">
            <a:spAutoFit/>
          </a:bodyPr>
          <a:lstStyle/>
          <a:p>
            <a:pPr algn="ctr"/>
            <a:r>
              <a:rPr lang="en-GB" sz="3200" dirty="0"/>
              <a:t>survey = 1,  </a:t>
            </a:r>
            <a:r>
              <a:rPr lang="en-GB" sz="3200" dirty="0" err="1"/>
              <a:t>mogwai</a:t>
            </a:r>
            <a:r>
              <a:rPr lang="en-GB" sz="3200" dirty="0"/>
              <a:t> = 10 </a:t>
            </a:r>
          </a:p>
        </p:txBody>
      </p:sp>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83631" y="4766713"/>
            <a:ext cx="1103746" cy="1150915"/>
          </a:xfrm>
          <a:prstGeom prst="rect">
            <a:avLst/>
          </a:prstGeom>
        </p:spPr>
      </p:pic>
      <p:pic>
        <p:nvPicPr>
          <p:cNvPr id="15" name="Picture 1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94342" y="4735839"/>
            <a:ext cx="1103746" cy="1150915"/>
          </a:xfrm>
          <a:prstGeom prst="rect">
            <a:avLst/>
          </a:prstGeom>
        </p:spPr>
      </p:pic>
      <p:pic>
        <p:nvPicPr>
          <p:cNvPr id="16" name="Picture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347647" y="3357341"/>
            <a:ext cx="1103746" cy="1150915"/>
          </a:xfrm>
          <a:prstGeom prst="rect">
            <a:avLst/>
          </a:prstGeom>
        </p:spPr>
      </p:pic>
      <p:pic>
        <p:nvPicPr>
          <p:cNvPr id="17" name="Picture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16274" y="2891078"/>
            <a:ext cx="1103746" cy="1150915"/>
          </a:xfrm>
          <a:prstGeom prst="rect">
            <a:avLst/>
          </a:prstGeom>
        </p:spPr>
      </p:pic>
    </p:spTree>
    <p:extLst>
      <p:ext uri="{BB962C8B-B14F-4D97-AF65-F5344CB8AC3E}">
        <p14:creationId xmlns:p14="http://schemas.microsoft.com/office/powerpoint/2010/main" val="564483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Mark-recapture model (Lincoln-Peterson)</a:t>
            </a:r>
          </a:p>
        </p:txBody>
      </p:sp>
      <mc:AlternateContent xmlns:mc="http://schemas.openxmlformats.org/markup-compatibility/2006" xmlns:a14="http://schemas.microsoft.com/office/drawing/2010/main">
        <mc:Choice Requires="a14">
          <p:sp>
            <p:nvSpPr>
              <p:cNvPr id="4" name="Content Placeholder 2"/>
              <p:cNvSpPr txBox="1">
                <a:spLocks/>
              </p:cNvSpPr>
              <p:nvPr/>
            </p:nvSpPr>
            <p:spPr>
              <a:xfrm>
                <a:off x="6945745" y="1825625"/>
                <a:ext cx="4408056"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GB" sz="2400" b="0" i="1" dirty="0">
                  <a:latin typeface="Cambria Math" panose="02040503050406030204" pitchFamily="18" charset="0"/>
                </a:endParaRPr>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GB" sz="2400" b="0" i="1" smtClean="0">
                          <a:latin typeface="Cambria Math" panose="02040503050406030204" pitchFamily="18" charset="0"/>
                        </a:rPr>
                        <m:t>𝑅</m:t>
                      </m:r>
                      <m:r>
                        <a:rPr lang="en-GB" sz="2400" b="0" i="1" smtClean="0">
                          <a:latin typeface="Cambria Math" panose="02040503050406030204" pitchFamily="18" charset="0"/>
                        </a:rPr>
                        <m:t> ~ </m:t>
                      </m:r>
                      <m:r>
                        <a:rPr lang="en-GB" sz="2400" b="0" i="1" smtClean="0">
                          <a:latin typeface="Cambria Math" panose="02040503050406030204" pitchFamily="18" charset="0"/>
                        </a:rPr>
                        <m:t>𝐵𝑖𝑛𝑜𝑚𝑖𝑎𝑙</m:t>
                      </m:r>
                      <m:d>
                        <m:dPr>
                          <m:ctrlPr>
                            <a:rPr lang="en-GB" sz="2400" b="0" i="1" smtClean="0">
                              <a:latin typeface="Cambria Math" panose="02040503050406030204" pitchFamily="18" charset="0"/>
                            </a:rPr>
                          </m:ctrlPr>
                        </m:dPr>
                        <m:e>
                          <m:r>
                            <a:rPr lang="en-GB" sz="2400" b="0" i="1" smtClean="0">
                              <a:latin typeface="Cambria Math" panose="02040503050406030204" pitchFamily="18" charset="0"/>
                            </a:rPr>
                            <m:t>𝐶</m:t>
                          </m:r>
                          <m:r>
                            <a:rPr lang="en-GB" sz="2400" b="0" i="1" smtClean="0">
                              <a:latin typeface="Cambria Math" panose="02040503050406030204" pitchFamily="18" charset="0"/>
                            </a:rPr>
                            <m:t>,</m:t>
                          </m:r>
                          <m:f>
                            <m:fPr>
                              <m:ctrlPr>
                                <a:rPr lang="en-GB" sz="2400" b="0" i="1" smtClean="0">
                                  <a:latin typeface="Cambria Math" panose="02040503050406030204" pitchFamily="18" charset="0"/>
                                </a:rPr>
                              </m:ctrlPr>
                            </m:fPr>
                            <m:num>
                              <m:r>
                                <a:rPr lang="en-GB" sz="2400" b="0" i="1" smtClean="0">
                                  <a:latin typeface="Cambria Math" panose="02040503050406030204" pitchFamily="18" charset="0"/>
                                </a:rPr>
                                <m:t>𝑀</m:t>
                              </m:r>
                            </m:num>
                            <m:den>
                              <m:r>
                                <a:rPr lang="en-GB" sz="2400" b="0" i="1" smtClean="0">
                                  <a:latin typeface="Cambria Math" panose="02040503050406030204" pitchFamily="18" charset="0"/>
                                </a:rPr>
                                <m:t>𝑁</m:t>
                              </m:r>
                            </m:den>
                          </m:f>
                        </m:e>
                      </m:d>
                    </m:oMath>
                  </m:oMathPara>
                </a14:m>
                <a:endParaRPr lang="en-GB" sz="2400" b="0" dirty="0"/>
              </a:p>
              <a:p>
                <a:pPr marL="0" indent="0">
                  <a:buFont typeface="Arial" panose="020B0604020202020204" pitchFamily="34" charset="0"/>
                  <a:buNone/>
                </a:pPr>
                <a:endParaRPr lang="en-GB" sz="2400" dirty="0"/>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GB" sz="2400" b="0" i="1" smtClean="0">
                          <a:latin typeface="Cambria Math" panose="02040503050406030204" pitchFamily="18" charset="0"/>
                        </a:rPr>
                        <m:t>𝑁</m:t>
                      </m:r>
                      <m:r>
                        <a:rPr lang="en-GB" sz="2400" b="0" i="1" smtClean="0">
                          <a:latin typeface="Cambria Math" panose="02040503050406030204" pitchFamily="18" charset="0"/>
                        </a:rPr>
                        <m:t> ~ </m:t>
                      </m:r>
                      <m:r>
                        <a:rPr lang="en-GB" sz="2400" b="0" i="1" smtClean="0">
                          <a:latin typeface="Cambria Math" panose="02040503050406030204" pitchFamily="18" charset="0"/>
                        </a:rPr>
                        <m:t>𝑈𝑛𝑖𝑓𝑜𝑟𝑚</m:t>
                      </m:r>
                      <m:d>
                        <m:dPr>
                          <m:ctrlPr>
                            <a:rPr lang="en-GB" sz="2400" b="0" i="1" smtClean="0">
                              <a:latin typeface="Cambria Math" panose="02040503050406030204" pitchFamily="18" charset="0"/>
                            </a:rPr>
                          </m:ctrlPr>
                        </m:dPr>
                        <m:e>
                          <m:r>
                            <a:rPr lang="en-GB" sz="2400" b="0" i="1" smtClean="0">
                              <a:latin typeface="Cambria Math" panose="02040503050406030204" pitchFamily="18" charset="0"/>
                            </a:rPr>
                            <m:t>𝐶</m:t>
                          </m:r>
                          <m:r>
                            <a:rPr lang="en-GB" sz="2400" b="0" i="1" smtClean="0">
                              <a:latin typeface="Cambria Math" panose="02040503050406030204" pitchFamily="18" charset="0"/>
                            </a:rPr>
                            <m:t>−</m:t>
                          </m:r>
                          <m:r>
                            <a:rPr lang="en-GB" sz="2400" b="0" i="1" smtClean="0">
                              <a:latin typeface="Cambria Math" panose="02040503050406030204" pitchFamily="18" charset="0"/>
                            </a:rPr>
                            <m:t>𝑅</m:t>
                          </m:r>
                          <m:r>
                            <a:rPr lang="en-GB" sz="2400" b="0" i="1" smtClean="0">
                              <a:latin typeface="Cambria Math" panose="02040503050406030204" pitchFamily="18" charset="0"/>
                            </a:rPr>
                            <m:t>+</m:t>
                          </m:r>
                          <m:r>
                            <a:rPr lang="en-GB" sz="2400" b="0" i="1" smtClean="0">
                              <a:latin typeface="Cambria Math" panose="02040503050406030204" pitchFamily="18" charset="0"/>
                            </a:rPr>
                            <m:t>𝑀</m:t>
                          </m:r>
                          <m:r>
                            <a:rPr lang="en-GB" sz="2400" b="0" i="1" smtClean="0">
                              <a:latin typeface="Cambria Math" panose="02040503050406030204" pitchFamily="18" charset="0"/>
                            </a:rPr>
                            <m:t>, 1</m:t>
                          </m:r>
                          <m:r>
                            <a:rPr lang="en-GB" sz="2400" b="0" i="1" smtClean="0">
                              <a:latin typeface="Cambria Math" panose="02040503050406030204" pitchFamily="18" charset="0"/>
                            </a:rPr>
                            <m:t>𝑒</m:t>
                          </m:r>
                          <m:r>
                            <a:rPr lang="en-GB" sz="2400" b="0" i="1" smtClean="0">
                              <a:latin typeface="Cambria Math" panose="02040503050406030204" pitchFamily="18" charset="0"/>
                            </a:rPr>
                            <m:t>6</m:t>
                          </m:r>
                        </m:e>
                      </m:d>
                    </m:oMath>
                  </m:oMathPara>
                </a14:m>
                <a:endParaRPr lang="en-GB" sz="2400" b="0" dirty="0"/>
              </a:p>
              <a:p>
                <a:pPr marL="0" indent="0">
                  <a:buFont typeface="Arial" panose="020B0604020202020204" pitchFamily="34" charset="0"/>
                  <a:buNone/>
                </a:pPr>
                <a:endParaRPr lang="en-GB" sz="2400" dirty="0"/>
              </a:p>
              <a:p>
                <a:pPr marL="0" indent="0">
                  <a:buFont typeface="Arial" panose="020B0604020202020204" pitchFamily="34" charset="0"/>
                  <a:buNone/>
                </a:pPr>
                <a:endParaRPr lang="en-GB" sz="2400" dirty="0"/>
              </a:p>
              <a:p>
                <a:pPr marL="0" indent="0">
                  <a:buFont typeface="Arial" panose="020B0604020202020204" pitchFamily="34" charset="0"/>
                  <a:buNone/>
                </a:pPr>
                <a:r>
                  <a:rPr lang="en-GB" sz="2400" dirty="0"/>
                  <a:t>Marked (M) = 10</a:t>
                </a:r>
              </a:p>
              <a:p>
                <a:pPr marL="0" indent="0">
                  <a:buFont typeface="Arial" panose="020B0604020202020204" pitchFamily="34" charset="0"/>
                  <a:buNone/>
                </a:pPr>
                <a:endParaRPr lang="en-GB" sz="2400" dirty="0"/>
              </a:p>
            </p:txBody>
          </p:sp>
        </mc:Choice>
        <mc:Fallback xmlns="">
          <p:sp>
            <p:nvSpPr>
              <p:cNvPr id="4" name="Content Placeholder 2"/>
              <p:cNvSpPr txBox="1">
                <a:spLocks noRot="1" noChangeAspect="1" noMove="1" noResize="1" noEditPoints="1" noAdjustHandles="1" noChangeArrowheads="1" noChangeShapeType="1" noTextEdit="1"/>
              </p:cNvSpPr>
              <p:nvPr/>
            </p:nvSpPr>
            <p:spPr>
              <a:xfrm>
                <a:off x="6945745" y="1825625"/>
                <a:ext cx="4408056" cy="4351338"/>
              </a:xfrm>
              <a:prstGeom prst="rect">
                <a:avLst/>
              </a:prstGeom>
              <a:blipFill>
                <a:blip r:embed="rId2"/>
                <a:stretch>
                  <a:fillRect l="-2072"/>
                </a:stretch>
              </a:blipFill>
            </p:spPr>
            <p:txBody>
              <a:bodyPr/>
              <a:lstStyle/>
              <a:p>
                <a:r>
                  <a:rPr lang="en-GB">
                    <a:noFill/>
                  </a:rPr>
                  <a:t> </a:t>
                </a:r>
              </a:p>
            </p:txBody>
          </p:sp>
        </mc:Fallback>
      </mc:AlternateContent>
      <p:sp>
        <p:nvSpPr>
          <p:cNvPr id="6" name="Rectangle 5"/>
          <p:cNvSpPr/>
          <p:nvPr/>
        </p:nvSpPr>
        <p:spPr>
          <a:xfrm>
            <a:off x="374073" y="2020599"/>
            <a:ext cx="6345382" cy="4156364"/>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7" name="Picture 6"/>
          <p:cNvPicPr>
            <a:picLocks noChangeAspect="1"/>
          </p:cNvPicPr>
          <p:nvPr/>
        </p:nvPicPr>
        <p:blipFill>
          <a:blip r:embed="rId2" cstate="print">
            <a:duotone>
              <a:prstClr val="black"/>
              <a:schemeClr val="accent6">
                <a:tint val="45000"/>
                <a:satMod val="400000"/>
              </a:schemeClr>
            </a:duotone>
            <a:extLst>
              <a:ext uri="{28A0092B-C50C-407E-A947-70E740481C1C}">
                <a14:useLocalDpi xmlns:a14="http://schemas.microsoft.com/office/drawing/2010/main" val="0"/>
              </a:ext>
            </a:extLst>
          </a:blip>
          <a:stretch>
            <a:fillRect/>
          </a:stretch>
        </p:blipFill>
        <p:spPr>
          <a:xfrm>
            <a:off x="838191" y="2315621"/>
            <a:ext cx="1103746" cy="1150915"/>
          </a:xfrm>
          <a:prstGeom prst="rect">
            <a:avLst/>
          </a:prstGeom>
        </p:spPr>
      </p:pic>
      <p:pic>
        <p:nvPicPr>
          <p:cNvPr id="8" name="Picture 7"/>
          <p:cNvPicPr>
            <a:picLocks noChangeAspect="1"/>
          </p:cNvPicPr>
          <p:nvPr/>
        </p:nvPicPr>
        <p:blipFill>
          <a:blip r:embed="rId2" cstate="print">
            <a:duotone>
              <a:prstClr val="black"/>
              <a:schemeClr val="accent6">
                <a:tint val="45000"/>
                <a:satMod val="400000"/>
              </a:schemeClr>
            </a:duotone>
            <a:extLst>
              <a:ext uri="{28A0092B-C50C-407E-A947-70E740481C1C}">
                <a14:useLocalDpi xmlns:a14="http://schemas.microsoft.com/office/drawing/2010/main" val="0"/>
              </a:ext>
            </a:extLst>
          </a:blip>
          <a:stretch>
            <a:fillRect/>
          </a:stretch>
        </p:blipFill>
        <p:spPr>
          <a:xfrm>
            <a:off x="2812463" y="2716955"/>
            <a:ext cx="1103746" cy="1150915"/>
          </a:xfrm>
          <a:prstGeom prst="rect">
            <a:avLst/>
          </a:prstGeom>
        </p:spPr>
      </p:pic>
      <p:pic>
        <p:nvPicPr>
          <p:cNvPr id="9" name="Picture 8"/>
          <p:cNvPicPr>
            <a:picLocks noChangeAspect="1"/>
          </p:cNvPicPr>
          <p:nvPr/>
        </p:nvPicPr>
        <p:blipFill>
          <a:blip r:embed="rId2" cstate="print">
            <a:duotone>
              <a:prstClr val="black"/>
              <a:schemeClr val="accent6">
                <a:tint val="45000"/>
                <a:satMod val="400000"/>
              </a:schemeClr>
            </a:duotone>
            <a:extLst>
              <a:ext uri="{28A0092B-C50C-407E-A947-70E740481C1C}">
                <a14:useLocalDpi xmlns:a14="http://schemas.microsoft.com/office/drawing/2010/main" val="0"/>
              </a:ext>
            </a:extLst>
          </a:blip>
          <a:stretch>
            <a:fillRect/>
          </a:stretch>
        </p:blipFill>
        <p:spPr>
          <a:xfrm>
            <a:off x="4810887" y="2284285"/>
            <a:ext cx="1103746" cy="1150915"/>
          </a:xfrm>
          <a:prstGeom prst="rect">
            <a:avLst/>
          </a:prstGeom>
        </p:spPr>
      </p:pic>
      <p:pic>
        <p:nvPicPr>
          <p:cNvPr id="10" name="Picture 9"/>
          <p:cNvPicPr>
            <a:picLocks noChangeAspect="1"/>
          </p:cNvPicPr>
          <p:nvPr/>
        </p:nvPicPr>
        <p:blipFill>
          <a:blip r:embed="rId2" cstate="print">
            <a:duotone>
              <a:prstClr val="black"/>
              <a:schemeClr val="accent6">
                <a:tint val="45000"/>
                <a:satMod val="400000"/>
              </a:schemeClr>
            </a:duotone>
            <a:extLst>
              <a:ext uri="{28A0092B-C50C-407E-A947-70E740481C1C}">
                <a14:useLocalDpi xmlns:a14="http://schemas.microsoft.com/office/drawing/2010/main" val="0"/>
              </a:ext>
            </a:extLst>
          </a:blip>
          <a:stretch>
            <a:fillRect/>
          </a:stretch>
        </p:blipFill>
        <p:spPr>
          <a:xfrm>
            <a:off x="1514642" y="4095615"/>
            <a:ext cx="1103746" cy="1150915"/>
          </a:xfrm>
          <a:prstGeom prst="rect">
            <a:avLst/>
          </a:prstGeom>
        </p:spPr>
      </p:pic>
      <p:pic>
        <p:nvPicPr>
          <p:cNvPr id="11" name="Picture 10"/>
          <p:cNvPicPr>
            <a:picLocks noChangeAspect="1"/>
          </p:cNvPicPr>
          <p:nvPr/>
        </p:nvPicPr>
        <p:blipFill>
          <a:blip r:embed="rId2" cstate="print">
            <a:duotone>
              <a:prstClr val="black"/>
              <a:schemeClr val="accent6">
                <a:tint val="45000"/>
                <a:satMod val="400000"/>
              </a:schemeClr>
            </a:duotone>
            <a:extLst>
              <a:ext uri="{28A0092B-C50C-407E-A947-70E740481C1C}">
                <a14:useLocalDpi xmlns:a14="http://schemas.microsoft.com/office/drawing/2010/main" val="0"/>
              </a:ext>
            </a:extLst>
          </a:blip>
          <a:stretch>
            <a:fillRect/>
          </a:stretch>
        </p:blipFill>
        <p:spPr>
          <a:xfrm>
            <a:off x="2944072" y="4537523"/>
            <a:ext cx="1103746" cy="1150915"/>
          </a:xfrm>
          <a:prstGeom prst="rect">
            <a:avLst/>
          </a:prstGeom>
        </p:spPr>
      </p:pic>
      <p:pic>
        <p:nvPicPr>
          <p:cNvPr id="12" name="Picture 11"/>
          <p:cNvPicPr>
            <a:picLocks noChangeAspect="1"/>
          </p:cNvPicPr>
          <p:nvPr/>
        </p:nvPicPr>
        <p:blipFill>
          <a:blip r:embed="rId2" cstate="print">
            <a:duotone>
              <a:prstClr val="black"/>
              <a:schemeClr val="accent6">
                <a:tint val="45000"/>
                <a:satMod val="400000"/>
              </a:schemeClr>
            </a:duotone>
            <a:extLst>
              <a:ext uri="{28A0092B-C50C-407E-A947-70E740481C1C}">
                <a14:useLocalDpi xmlns:a14="http://schemas.microsoft.com/office/drawing/2010/main" val="0"/>
              </a:ext>
            </a:extLst>
          </a:blip>
          <a:stretch>
            <a:fillRect/>
          </a:stretch>
        </p:blipFill>
        <p:spPr>
          <a:xfrm>
            <a:off x="4259014" y="3916559"/>
            <a:ext cx="1103746" cy="1150915"/>
          </a:xfrm>
          <a:prstGeom prst="rect">
            <a:avLst/>
          </a:prstGeom>
        </p:spPr>
      </p:pic>
      <p:sp>
        <p:nvSpPr>
          <p:cNvPr id="13" name="TextBox 12"/>
          <p:cNvSpPr txBox="1"/>
          <p:nvPr/>
        </p:nvSpPr>
        <p:spPr>
          <a:xfrm>
            <a:off x="374074" y="1462527"/>
            <a:ext cx="6345381" cy="584775"/>
          </a:xfrm>
          <a:prstGeom prst="rect">
            <a:avLst/>
          </a:prstGeom>
          <a:noFill/>
        </p:spPr>
        <p:txBody>
          <a:bodyPr wrap="square" rtlCol="0">
            <a:spAutoFit/>
          </a:bodyPr>
          <a:lstStyle/>
          <a:p>
            <a:pPr algn="ctr"/>
            <a:r>
              <a:rPr lang="en-GB" sz="3200" dirty="0"/>
              <a:t>survey = 1,  </a:t>
            </a:r>
            <a:r>
              <a:rPr lang="en-GB" sz="3200" dirty="0" err="1"/>
              <a:t>mogwai</a:t>
            </a:r>
            <a:r>
              <a:rPr lang="en-GB" sz="3200" dirty="0"/>
              <a:t> = 10 </a:t>
            </a:r>
          </a:p>
        </p:txBody>
      </p:sp>
      <p:pic>
        <p:nvPicPr>
          <p:cNvPr id="14" name="Picture 13"/>
          <p:cNvPicPr>
            <a:picLocks noChangeAspect="1"/>
          </p:cNvPicPr>
          <p:nvPr/>
        </p:nvPicPr>
        <p:blipFill>
          <a:blip r:embed="rId2" cstate="print">
            <a:duotone>
              <a:prstClr val="black"/>
              <a:schemeClr val="accent6">
                <a:tint val="45000"/>
                <a:satMod val="400000"/>
              </a:schemeClr>
            </a:duotone>
            <a:extLst>
              <a:ext uri="{28A0092B-C50C-407E-A947-70E740481C1C}">
                <a14:useLocalDpi xmlns:a14="http://schemas.microsoft.com/office/drawing/2010/main" val="0"/>
              </a:ext>
            </a:extLst>
          </a:blip>
          <a:stretch>
            <a:fillRect/>
          </a:stretch>
        </p:blipFill>
        <p:spPr>
          <a:xfrm>
            <a:off x="483631" y="4763547"/>
            <a:ext cx="1103746" cy="1150915"/>
          </a:xfrm>
          <a:prstGeom prst="rect">
            <a:avLst/>
          </a:prstGeom>
        </p:spPr>
      </p:pic>
      <p:pic>
        <p:nvPicPr>
          <p:cNvPr id="15" name="Picture 14"/>
          <p:cNvPicPr>
            <a:picLocks noChangeAspect="1"/>
          </p:cNvPicPr>
          <p:nvPr/>
        </p:nvPicPr>
        <p:blipFill>
          <a:blip r:embed="rId2" cstate="print">
            <a:duotone>
              <a:prstClr val="black"/>
              <a:schemeClr val="accent6">
                <a:tint val="45000"/>
                <a:satMod val="400000"/>
              </a:schemeClr>
            </a:duotone>
            <a:extLst>
              <a:ext uri="{28A0092B-C50C-407E-A947-70E740481C1C}">
                <a14:useLocalDpi xmlns:a14="http://schemas.microsoft.com/office/drawing/2010/main" val="0"/>
              </a:ext>
            </a:extLst>
          </a:blip>
          <a:stretch>
            <a:fillRect/>
          </a:stretch>
        </p:blipFill>
        <p:spPr>
          <a:xfrm>
            <a:off x="5194342" y="4735839"/>
            <a:ext cx="1103746" cy="1150915"/>
          </a:xfrm>
          <a:prstGeom prst="rect">
            <a:avLst/>
          </a:prstGeom>
        </p:spPr>
      </p:pic>
      <p:pic>
        <p:nvPicPr>
          <p:cNvPr id="16" name="Picture 15"/>
          <p:cNvPicPr>
            <a:picLocks noChangeAspect="1"/>
          </p:cNvPicPr>
          <p:nvPr/>
        </p:nvPicPr>
        <p:blipFill>
          <a:blip r:embed="rId2" cstate="print">
            <a:duotone>
              <a:prstClr val="black"/>
              <a:schemeClr val="accent6">
                <a:tint val="45000"/>
                <a:satMod val="400000"/>
              </a:schemeClr>
            </a:duotone>
            <a:extLst>
              <a:ext uri="{28A0092B-C50C-407E-A947-70E740481C1C}">
                <a14:useLocalDpi xmlns:a14="http://schemas.microsoft.com/office/drawing/2010/main" val="0"/>
              </a:ext>
            </a:extLst>
          </a:blip>
          <a:stretch>
            <a:fillRect/>
          </a:stretch>
        </p:blipFill>
        <p:spPr>
          <a:xfrm>
            <a:off x="5347647" y="3357341"/>
            <a:ext cx="1103746" cy="1150915"/>
          </a:xfrm>
          <a:prstGeom prst="rect">
            <a:avLst/>
          </a:prstGeom>
        </p:spPr>
      </p:pic>
      <p:pic>
        <p:nvPicPr>
          <p:cNvPr id="17" name="Picture 16"/>
          <p:cNvPicPr>
            <a:picLocks noChangeAspect="1"/>
          </p:cNvPicPr>
          <p:nvPr/>
        </p:nvPicPr>
        <p:blipFill>
          <a:blip r:embed="rId2" cstate="print">
            <a:duotone>
              <a:prstClr val="black"/>
              <a:schemeClr val="accent6">
                <a:tint val="45000"/>
                <a:satMod val="400000"/>
              </a:schemeClr>
            </a:duotone>
            <a:extLst>
              <a:ext uri="{28A0092B-C50C-407E-A947-70E740481C1C}">
                <a14:useLocalDpi xmlns:a14="http://schemas.microsoft.com/office/drawing/2010/main" val="0"/>
              </a:ext>
            </a:extLst>
          </a:blip>
          <a:stretch>
            <a:fillRect/>
          </a:stretch>
        </p:blipFill>
        <p:spPr>
          <a:xfrm>
            <a:off x="1716274" y="2891078"/>
            <a:ext cx="1103746" cy="1150915"/>
          </a:xfrm>
          <a:prstGeom prst="rect">
            <a:avLst/>
          </a:prstGeom>
        </p:spPr>
      </p:pic>
    </p:spTree>
    <p:extLst>
      <p:ext uri="{BB962C8B-B14F-4D97-AF65-F5344CB8AC3E}">
        <p14:creationId xmlns:p14="http://schemas.microsoft.com/office/powerpoint/2010/main" val="2833893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Mark-recapture model (Lincoln-Peterson)</a:t>
            </a:r>
          </a:p>
        </p:txBody>
      </p:sp>
      <mc:AlternateContent xmlns:mc="http://schemas.openxmlformats.org/markup-compatibility/2006" xmlns:a14="http://schemas.microsoft.com/office/drawing/2010/main">
        <mc:Choice Requires="a14">
          <p:sp>
            <p:nvSpPr>
              <p:cNvPr id="4" name="Content Placeholder 2"/>
              <p:cNvSpPr txBox="1">
                <a:spLocks/>
              </p:cNvSpPr>
              <p:nvPr/>
            </p:nvSpPr>
            <p:spPr>
              <a:xfrm>
                <a:off x="6945745" y="1825625"/>
                <a:ext cx="4408056"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GB" sz="2400" b="0" i="1" dirty="0">
                  <a:latin typeface="Cambria Math" panose="02040503050406030204" pitchFamily="18" charset="0"/>
                </a:endParaRPr>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GB" sz="2400" b="0" i="1" smtClean="0">
                          <a:latin typeface="Cambria Math" panose="02040503050406030204" pitchFamily="18" charset="0"/>
                        </a:rPr>
                        <m:t>𝑅</m:t>
                      </m:r>
                      <m:r>
                        <a:rPr lang="en-GB" sz="2400" b="0" i="1" smtClean="0">
                          <a:latin typeface="Cambria Math" panose="02040503050406030204" pitchFamily="18" charset="0"/>
                        </a:rPr>
                        <m:t> ~ </m:t>
                      </m:r>
                      <m:r>
                        <a:rPr lang="en-GB" sz="2400" b="0" i="1" smtClean="0">
                          <a:latin typeface="Cambria Math" panose="02040503050406030204" pitchFamily="18" charset="0"/>
                        </a:rPr>
                        <m:t>𝐵𝑖𝑛𝑜𝑚𝑖𝑎𝑙</m:t>
                      </m:r>
                      <m:d>
                        <m:dPr>
                          <m:ctrlPr>
                            <a:rPr lang="en-GB" sz="2400" b="0" i="1" smtClean="0">
                              <a:latin typeface="Cambria Math" panose="02040503050406030204" pitchFamily="18" charset="0"/>
                            </a:rPr>
                          </m:ctrlPr>
                        </m:dPr>
                        <m:e>
                          <m:r>
                            <a:rPr lang="en-GB" sz="2400" b="0" i="1" smtClean="0">
                              <a:latin typeface="Cambria Math" panose="02040503050406030204" pitchFamily="18" charset="0"/>
                            </a:rPr>
                            <m:t>𝐶</m:t>
                          </m:r>
                          <m:r>
                            <a:rPr lang="en-GB" sz="2400" b="0" i="1" smtClean="0">
                              <a:latin typeface="Cambria Math" panose="02040503050406030204" pitchFamily="18" charset="0"/>
                            </a:rPr>
                            <m:t>,</m:t>
                          </m:r>
                          <m:f>
                            <m:fPr>
                              <m:ctrlPr>
                                <a:rPr lang="en-GB" sz="2400" b="0" i="1" smtClean="0">
                                  <a:latin typeface="Cambria Math" panose="02040503050406030204" pitchFamily="18" charset="0"/>
                                </a:rPr>
                              </m:ctrlPr>
                            </m:fPr>
                            <m:num>
                              <m:r>
                                <a:rPr lang="en-GB" sz="2400" b="0" i="1" smtClean="0">
                                  <a:latin typeface="Cambria Math" panose="02040503050406030204" pitchFamily="18" charset="0"/>
                                </a:rPr>
                                <m:t>𝑀</m:t>
                              </m:r>
                            </m:num>
                            <m:den>
                              <m:r>
                                <a:rPr lang="en-GB" sz="2400" b="0" i="1" smtClean="0">
                                  <a:latin typeface="Cambria Math" panose="02040503050406030204" pitchFamily="18" charset="0"/>
                                </a:rPr>
                                <m:t>𝑁</m:t>
                              </m:r>
                            </m:den>
                          </m:f>
                        </m:e>
                      </m:d>
                    </m:oMath>
                  </m:oMathPara>
                </a14:m>
                <a:endParaRPr lang="en-GB" sz="2400" b="0" dirty="0"/>
              </a:p>
              <a:p>
                <a:pPr marL="0" indent="0">
                  <a:buFont typeface="Arial" panose="020B0604020202020204" pitchFamily="34" charset="0"/>
                  <a:buNone/>
                </a:pPr>
                <a:endParaRPr lang="en-GB" sz="2400" dirty="0"/>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GB" sz="2400" b="0" i="1" smtClean="0">
                          <a:latin typeface="Cambria Math" panose="02040503050406030204" pitchFamily="18" charset="0"/>
                        </a:rPr>
                        <m:t>𝑁</m:t>
                      </m:r>
                      <m:r>
                        <a:rPr lang="en-GB" sz="2400" b="0" i="1" smtClean="0">
                          <a:latin typeface="Cambria Math" panose="02040503050406030204" pitchFamily="18" charset="0"/>
                        </a:rPr>
                        <m:t> ~ </m:t>
                      </m:r>
                      <m:r>
                        <a:rPr lang="en-GB" sz="2400" b="0" i="1" smtClean="0">
                          <a:latin typeface="Cambria Math" panose="02040503050406030204" pitchFamily="18" charset="0"/>
                        </a:rPr>
                        <m:t>𝑈𝑛𝑖𝑓𝑜𝑟𝑚</m:t>
                      </m:r>
                      <m:d>
                        <m:dPr>
                          <m:ctrlPr>
                            <a:rPr lang="en-GB" sz="2400" b="0" i="1" smtClean="0">
                              <a:latin typeface="Cambria Math" panose="02040503050406030204" pitchFamily="18" charset="0"/>
                            </a:rPr>
                          </m:ctrlPr>
                        </m:dPr>
                        <m:e>
                          <m:r>
                            <a:rPr lang="en-GB" sz="2400" b="0" i="1" smtClean="0">
                              <a:latin typeface="Cambria Math" panose="02040503050406030204" pitchFamily="18" charset="0"/>
                            </a:rPr>
                            <m:t>𝐶</m:t>
                          </m:r>
                          <m:r>
                            <a:rPr lang="en-GB" sz="2400" b="0" i="1" smtClean="0">
                              <a:latin typeface="Cambria Math" panose="02040503050406030204" pitchFamily="18" charset="0"/>
                            </a:rPr>
                            <m:t>−</m:t>
                          </m:r>
                          <m:r>
                            <a:rPr lang="en-GB" sz="2400" b="0" i="1" smtClean="0">
                              <a:latin typeface="Cambria Math" panose="02040503050406030204" pitchFamily="18" charset="0"/>
                            </a:rPr>
                            <m:t>𝑅</m:t>
                          </m:r>
                          <m:r>
                            <a:rPr lang="en-GB" sz="2400" b="0" i="1" smtClean="0">
                              <a:latin typeface="Cambria Math" panose="02040503050406030204" pitchFamily="18" charset="0"/>
                            </a:rPr>
                            <m:t>+</m:t>
                          </m:r>
                          <m:r>
                            <a:rPr lang="en-GB" sz="2400" b="0" i="1" smtClean="0">
                              <a:latin typeface="Cambria Math" panose="02040503050406030204" pitchFamily="18" charset="0"/>
                            </a:rPr>
                            <m:t>𝑀</m:t>
                          </m:r>
                          <m:r>
                            <a:rPr lang="en-GB" sz="2400" b="0" i="1" smtClean="0">
                              <a:latin typeface="Cambria Math" panose="02040503050406030204" pitchFamily="18" charset="0"/>
                            </a:rPr>
                            <m:t>, 1</m:t>
                          </m:r>
                          <m:r>
                            <a:rPr lang="en-GB" sz="2400" b="0" i="1" smtClean="0">
                              <a:latin typeface="Cambria Math" panose="02040503050406030204" pitchFamily="18" charset="0"/>
                            </a:rPr>
                            <m:t>𝑒</m:t>
                          </m:r>
                          <m:r>
                            <a:rPr lang="en-GB" sz="2400" b="0" i="1" smtClean="0">
                              <a:latin typeface="Cambria Math" panose="02040503050406030204" pitchFamily="18" charset="0"/>
                            </a:rPr>
                            <m:t>6</m:t>
                          </m:r>
                        </m:e>
                      </m:d>
                    </m:oMath>
                  </m:oMathPara>
                </a14:m>
                <a:endParaRPr lang="en-GB" sz="2400" b="0" dirty="0"/>
              </a:p>
              <a:p>
                <a:pPr marL="0" indent="0">
                  <a:buFont typeface="Arial" panose="020B0604020202020204" pitchFamily="34" charset="0"/>
                  <a:buNone/>
                </a:pPr>
                <a:endParaRPr lang="en-GB" sz="2400" dirty="0"/>
              </a:p>
              <a:p>
                <a:pPr marL="0" indent="0">
                  <a:buFont typeface="Arial" panose="020B0604020202020204" pitchFamily="34" charset="0"/>
                  <a:buNone/>
                </a:pPr>
                <a:endParaRPr lang="en-GB" sz="2400" dirty="0"/>
              </a:p>
              <a:p>
                <a:pPr marL="0" indent="0">
                  <a:buFont typeface="Arial" panose="020B0604020202020204" pitchFamily="34" charset="0"/>
                  <a:buNone/>
                </a:pPr>
                <a:r>
                  <a:rPr lang="en-GB" sz="2400" dirty="0"/>
                  <a:t>Marked (M) = 10</a:t>
                </a:r>
              </a:p>
              <a:p>
                <a:pPr marL="0" indent="0">
                  <a:buFont typeface="Arial" panose="020B0604020202020204" pitchFamily="34" charset="0"/>
                  <a:buNone/>
                </a:pPr>
                <a:r>
                  <a:rPr lang="en-GB" sz="2400" dirty="0"/>
                  <a:t>Captured (C) = 8</a:t>
                </a:r>
              </a:p>
              <a:p>
                <a:pPr marL="0" indent="0">
                  <a:buFont typeface="Arial" panose="020B0604020202020204" pitchFamily="34" charset="0"/>
                  <a:buNone/>
                </a:pPr>
                <a:r>
                  <a:rPr lang="en-GB" sz="2400" dirty="0"/>
                  <a:t>Recaptured (R) = 1</a:t>
                </a:r>
              </a:p>
              <a:p>
                <a:pPr marL="0" indent="0">
                  <a:buFont typeface="Arial" panose="020B0604020202020204" pitchFamily="34" charset="0"/>
                  <a:buNone/>
                </a:pPr>
                <a:endParaRPr lang="en-GB" sz="2400" dirty="0"/>
              </a:p>
            </p:txBody>
          </p:sp>
        </mc:Choice>
        <mc:Fallback xmlns="">
          <p:sp>
            <p:nvSpPr>
              <p:cNvPr id="4" name="Content Placeholder 2"/>
              <p:cNvSpPr txBox="1">
                <a:spLocks noRot="1" noChangeAspect="1" noMove="1" noResize="1" noEditPoints="1" noAdjustHandles="1" noChangeArrowheads="1" noChangeShapeType="1" noTextEdit="1"/>
              </p:cNvSpPr>
              <p:nvPr/>
            </p:nvSpPr>
            <p:spPr>
              <a:xfrm>
                <a:off x="6945745" y="1825625"/>
                <a:ext cx="4408056" cy="4351338"/>
              </a:xfrm>
              <a:prstGeom prst="rect">
                <a:avLst/>
              </a:prstGeom>
              <a:blipFill>
                <a:blip r:embed="rId2"/>
                <a:stretch>
                  <a:fillRect l="-2072" b="-280"/>
                </a:stretch>
              </a:blipFill>
            </p:spPr>
            <p:txBody>
              <a:bodyPr/>
              <a:lstStyle/>
              <a:p>
                <a:r>
                  <a:rPr lang="en-GB">
                    <a:noFill/>
                  </a:rPr>
                  <a:t> </a:t>
                </a:r>
              </a:p>
            </p:txBody>
          </p:sp>
        </mc:Fallback>
      </mc:AlternateContent>
      <p:sp>
        <p:nvSpPr>
          <p:cNvPr id="6" name="Rectangle 5"/>
          <p:cNvSpPr/>
          <p:nvPr/>
        </p:nvSpPr>
        <p:spPr>
          <a:xfrm>
            <a:off x="374073" y="2020599"/>
            <a:ext cx="6345382" cy="4156364"/>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16269" y="2362643"/>
            <a:ext cx="1103746" cy="1150915"/>
          </a:xfrm>
          <a:prstGeom prst="rect">
            <a:avLst/>
          </a:prstGeom>
        </p:spPr>
      </p:pic>
      <p:pic>
        <p:nvPicPr>
          <p:cNvPr id="8" name="Picture 7"/>
          <p:cNvPicPr>
            <a:picLocks noChangeAspect="1"/>
          </p:cNvPicPr>
          <p:nvPr/>
        </p:nvPicPr>
        <p:blipFill>
          <a:blip r:embed="rId3" cstate="print">
            <a:duotone>
              <a:prstClr val="black"/>
              <a:schemeClr val="accent6">
                <a:tint val="45000"/>
                <a:satMod val="400000"/>
              </a:schemeClr>
            </a:duotone>
            <a:extLst>
              <a:ext uri="{28A0092B-C50C-407E-A947-70E740481C1C}">
                <a14:useLocalDpi xmlns:a14="http://schemas.microsoft.com/office/drawing/2010/main" val="0"/>
              </a:ext>
            </a:extLst>
          </a:blip>
          <a:stretch>
            <a:fillRect/>
          </a:stretch>
        </p:blipFill>
        <p:spPr>
          <a:xfrm>
            <a:off x="3284138" y="2646195"/>
            <a:ext cx="1103746" cy="1150915"/>
          </a:xfrm>
          <a:prstGeom prst="rect">
            <a:avLst/>
          </a:prstGeom>
        </p:spPr>
      </p:pic>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98888" y="2306974"/>
            <a:ext cx="1103746" cy="1150915"/>
          </a:xfrm>
          <a:prstGeom prst="rect">
            <a:avLst/>
          </a:prstGeom>
        </p:spPr>
      </p:pic>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850261" y="4241959"/>
            <a:ext cx="1103746" cy="1150915"/>
          </a:xfrm>
          <a:prstGeom prst="rect">
            <a:avLst/>
          </a:prstGeom>
        </p:spPr>
      </p:pic>
      <p:pic>
        <p:nvPicPr>
          <p:cNvPr id="12" name="Picture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71142" y="3779724"/>
            <a:ext cx="1103746" cy="1150915"/>
          </a:xfrm>
          <a:prstGeom prst="rect">
            <a:avLst/>
          </a:prstGeom>
        </p:spPr>
      </p:pic>
      <p:sp>
        <p:nvSpPr>
          <p:cNvPr id="13" name="TextBox 12"/>
          <p:cNvSpPr txBox="1"/>
          <p:nvPr/>
        </p:nvSpPr>
        <p:spPr>
          <a:xfrm>
            <a:off x="374074" y="1462527"/>
            <a:ext cx="6345381" cy="584775"/>
          </a:xfrm>
          <a:prstGeom prst="rect">
            <a:avLst/>
          </a:prstGeom>
          <a:noFill/>
        </p:spPr>
        <p:txBody>
          <a:bodyPr wrap="square" rtlCol="0">
            <a:spAutoFit/>
          </a:bodyPr>
          <a:lstStyle/>
          <a:p>
            <a:pPr algn="ctr"/>
            <a:r>
              <a:rPr lang="en-GB" sz="3200" dirty="0"/>
              <a:t>survey = 2,  </a:t>
            </a:r>
            <a:r>
              <a:rPr lang="en-GB" sz="3200" dirty="0" err="1"/>
              <a:t>mogwai</a:t>
            </a:r>
            <a:r>
              <a:rPr lang="en-GB" sz="3200" dirty="0"/>
              <a:t> = 8 </a:t>
            </a:r>
          </a:p>
        </p:txBody>
      </p:sp>
      <p:pic>
        <p:nvPicPr>
          <p:cNvPr id="14" name="Picture 1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81497" y="4735839"/>
            <a:ext cx="1103746" cy="1150915"/>
          </a:xfrm>
          <a:prstGeom prst="rect">
            <a:avLst/>
          </a:prstGeom>
        </p:spPr>
      </p:pic>
      <p:pic>
        <p:nvPicPr>
          <p:cNvPr id="16" name="Picture 1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68692" y="4611508"/>
            <a:ext cx="1103746" cy="1150915"/>
          </a:xfrm>
          <a:prstGeom prst="rect">
            <a:avLst/>
          </a:prstGeom>
        </p:spPr>
      </p:pic>
      <p:pic>
        <p:nvPicPr>
          <p:cNvPr id="17" name="Picture 1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3858" y="3228310"/>
            <a:ext cx="1103746" cy="1150915"/>
          </a:xfrm>
          <a:prstGeom prst="rect">
            <a:avLst/>
          </a:prstGeom>
        </p:spPr>
      </p:pic>
    </p:spTree>
    <p:extLst>
      <p:ext uri="{BB962C8B-B14F-4D97-AF65-F5344CB8AC3E}">
        <p14:creationId xmlns:p14="http://schemas.microsoft.com/office/powerpoint/2010/main" val="3530395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Mark-recapture model (Lincoln-Peterson)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825625"/>
                <a:ext cx="5451764" cy="4351338"/>
              </a:xfrm>
            </p:spPr>
            <p:txBody>
              <a:bodyPr>
                <a:normAutofit/>
              </a:bodyPr>
              <a:lstStyle/>
              <a:p>
                <a:pPr marL="0" indent="0">
                  <a:buNone/>
                </a:pPr>
                <a:r>
                  <a:rPr lang="en-GB" dirty="0"/>
                  <a:t>What is the big assumption in this model?</a:t>
                </a:r>
              </a:p>
              <a:p>
                <a:pPr marL="0" indent="0">
                  <a:buNone/>
                </a:pPr>
                <a:endParaRPr lang="en-GB" dirty="0"/>
              </a:p>
              <a:p>
                <a:pPr marL="0" indent="0">
                  <a:buNone/>
                </a:pPr>
                <a:r>
                  <a:rPr lang="en-GB" dirty="0"/>
                  <a:t>The detection probability in round 1 is equal to the probability of round 2 captures being recaptures.</a:t>
                </a:r>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f>
                        <m:fPr>
                          <m:ctrlPr>
                            <a:rPr lang="en-GB" b="0" i="1" smtClean="0">
                              <a:latin typeface="Cambria Math" panose="02040503050406030204" pitchFamily="18" charset="0"/>
                            </a:rPr>
                          </m:ctrlPr>
                        </m:fPr>
                        <m:num>
                          <m:r>
                            <a:rPr lang="en-GB" b="0" i="1" smtClean="0">
                              <a:latin typeface="Cambria Math" panose="02040503050406030204" pitchFamily="18" charset="0"/>
                            </a:rPr>
                            <m:t>𝑀</m:t>
                          </m:r>
                        </m:num>
                        <m:den>
                          <m:r>
                            <a:rPr lang="en-GB" b="0" i="1" smtClean="0">
                              <a:latin typeface="Cambria Math" panose="02040503050406030204" pitchFamily="18" charset="0"/>
                            </a:rPr>
                            <m:t>𝑁</m:t>
                          </m:r>
                        </m:den>
                      </m:f>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𝑅</m:t>
                          </m:r>
                        </m:num>
                        <m:den>
                          <m:r>
                            <a:rPr lang="en-GB" b="0" i="1" smtClean="0">
                              <a:latin typeface="Cambria Math" panose="02040503050406030204" pitchFamily="18" charset="0"/>
                            </a:rPr>
                            <m:t>𝐶</m:t>
                          </m:r>
                        </m:den>
                      </m:f>
                    </m:oMath>
                  </m:oMathPara>
                </a14:m>
                <a:endParaRPr lang="en-GB"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825625"/>
                <a:ext cx="5451764" cy="4351338"/>
              </a:xfrm>
              <a:blipFill>
                <a:blip r:embed="rId2"/>
                <a:stretch>
                  <a:fillRect l="-2349" t="-2241" r="-246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 name="Content Placeholder 2"/>
              <p:cNvSpPr txBox="1">
                <a:spLocks/>
              </p:cNvSpPr>
              <p:nvPr/>
            </p:nvSpPr>
            <p:spPr>
              <a:xfrm>
                <a:off x="6945745" y="1825625"/>
                <a:ext cx="4408056"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GB" sz="2400" b="0" i="1" dirty="0">
                  <a:latin typeface="Cambria Math" panose="02040503050406030204" pitchFamily="18" charset="0"/>
                </a:endParaRPr>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GB" sz="2400" b="0" i="1" smtClean="0">
                          <a:latin typeface="Cambria Math" panose="02040503050406030204" pitchFamily="18" charset="0"/>
                        </a:rPr>
                        <m:t>𝑅</m:t>
                      </m:r>
                      <m:r>
                        <a:rPr lang="en-GB" sz="2400" b="0" i="1" smtClean="0">
                          <a:latin typeface="Cambria Math" panose="02040503050406030204" pitchFamily="18" charset="0"/>
                        </a:rPr>
                        <m:t> ~ </m:t>
                      </m:r>
                      <m:r>
                        <a:rPr lang="en-GB" sz="2400" b="0" i="1" smtClean="0">
                          <a:latin typeface="Cambria Math" panose="02040503050406030204" pitchFamily="18" charset="0"/>
                        </a:rPr>
                        <m:t>𝐵𝑖𝑛𝑜𝑚𝑖𝑎𝑙</m:t>
                      </m:r>
                      <m:d>
                        <m:dPr>
                          <m:ctrlPr>
                            <a:rPr lang="en-GB" sz="2400" b="0" i="1" smtClean="0">
                              <a:latin typeface="Cambria Math" panose="02040503050406030204" pitchFamily="18" charset="0"/>
                            </a:rPr>
                          </m:ctrlPr>
                        </m:dPr>
                        <m:e>
                          <m:r>
                            <a:rPr lang="en-GB" sz="2400" b="0" i="1" smtClean="0">
                              <a:latin typeface="Cambria Math" panose="02040503050406030204" pitchFamily="18" charset="0"/>
                            </a:rPr>
                            <m:t>𝐶</m:t>
                          </m:r>
                          <m:r>
                            <a:rPr lang="en-GB" sz="2400" b="0" i="1" smtClean="0">
                              <a:latin typeface="Cambria Math" panose="02040503050406030204" pitchFamily="18" charset="0"/>
                            </a:rPr>
                            <m:t>,</m:t>
                          </m:r>
                          <m:f>
                            <m:fPr>
                              <m:ctrlPr>
                                <a:rPr lang="en-GB" sz="2400" b="0" i="1" smtClean="0">
                                  <a:latin typeface="Cambria Math" panose="02040503050406030204" pitchFamily="18" charset="0"/>
                                </a:rPr>
                              </m:ctrlPr>
                            </m:fPr>
                            <m:num>
                              <m:r>
                                <a:rPr lang="en-GB" sz="2400" b="0" i="1" smtClean="0">
                                  <a:latin typeface="Cambria Math" panose="02040503050406030204" pitchFamily="18" charset="0"/>
                                </a:rPr>
                                <m:t>𝑀</m:t>
                              </m:r>
                            </m:num>
                            <m:den>
                              <m:r>
                                <a:rPr lang="en-GB" sz="2400" b="0" i="1" smtClean="0">
                                  <a:latin typeface="Cambria Math" panose="02040503050406030204" pitchFamily="18" charset="0"/>
                                </a:rPr>
                                <m:t>𝑁</m:t>
                              </m:r>
                            </m:den>
                          </m:f>
                        </m:e>
                      </m:d>
                    </m:oMath>
                  </m:oMathPara>
                </a14:m>
                <a:endParaRPr lang="en-GB" sz="2400" b="0" dirty="0"/>
              </a:p>
              <a:p>
                <a:pPr marL="0" indent="0">
                  <a:buFont typeface="Arial" panose="020B0604020202020204" pitchFamily="34" charset="0"/>
                  <a:buNone/>
                </a:pPr>
                <a:endParaRPr lang="en-GB" sz="2400" dirty="0"/>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GB" sz="2400" b="0" i="1" smtClean="0">
                          <a:latin typeface="Cambria Math" panose="02040503050406030204" pitchFamily="18" charset="0"/>
                        </a:rPr>
                        <m:t>𝑁</m:t>
                      </m:r>
                      <m:r>
                        <a:rPr lang="en-GB" sz="2400" b="0" i="1" smtClean="0">
                          <a:latin typeface="Cambria Math" panose="02040503050406030204" pitchFamily="18" charset="0"/>
                        </a:rPr>
                        <m:t> ~ </m:t>
                      </m:r>
                      <m:r>
                        <a:rPr lang="en-GB" sz="2400" b="0" i="1" smtClean="0">
                          <a:latin typeface="Cambria Math" panose="02040503050406030204" pitchFamily="18" charset="0"/>
                        </a:rPr>
                        <m:t>𝑈𝑛𝑖𝑓𝑜𝑟𝑚</m:t>
                      </m:r>
                      <m:r>
                        <a:rPr lang="en-GB" sz="2400" b="0" i="1" smtClean="0">
                          <a:latin typeface="Cambria Math" panose="02040503050406030204" pitchFamily="18" charset="0"/>
                        </a:rPr>
                        <m:t>(</m:t>
                      </m:r>
                      <m:r>
                        <a:rPr lang="en-GB" sz="2400" b="0" i="1" smtClean="0">
                          <a:latin typeface="Cambria Math" panose="02040503050406030204" pitchFamily="18" charset="0"/>
                        </a:rPr>
                        <m:t>𝐶</m:t>
                      </m:r>
                      <m:r>
                        <a:rPr lang="en-GB" sz="2400" b="0" i="1" smtClean="0">
                          <a:latin typeface="Cambria Math" panose="02040503050406030204" pitchFamily="18" charset="0"/>
                        </a:rPr>
                        <m:t>−</m:t>
                      </m:r>
                      <m:r>
                        <a:rPr lang="en-GB" sz="2400" b="0" i="1" smtClean="0">
                          <a:latin typeface="Cambria Math" panose="02040503050406030204" pitchFamily="18" charset="0"/>
                        </a:rPr>
                        <m:t>𝑅</m:t>
                      </m:r>
                      <m:r>
                        <a:rPr lang="en-GB" sz="2400" b="0" i="1" smtClean="0">
                          <a:latin typeface="Cambria Math" panose="02040503050406030204" pitchFamily="18" charset="0"/>
                        </a:rPr>
                        <m:t>+</m:t>
                      </m:r>
                      <m:r>
                        <a:rPr lang="en-GB" sz="2400" b="0" i="1" smtClean="0">
                          <a:latin typeface="Cambria Math" panose="02040503050406030204" pitchFamily="18" charset="0"/>
                        </a:rPr>
                        <m:t>𝑀</m:t>
                      </m:r>
                      <m:r>
                        <a:rPr lang="en-GB" sz="2400" b="0" i="1" smtClean="0">
                          <a:latin typeface="Cambria Math" panose="02040503050406030204" pitchFamily="18" charset="0"/>
                        </a:rPr>
                        <m:t>, 1</m:t>
                      </m:r>
                      <m:r>
                        <a:rPr lang="en-GB" sz="2400" b="0" i="1" smtClean="0">
                          <a:latin typeface="Cambria Math" panose="02040503050406030204" pitchFamily="18" charset="0"/>
                        </a:rPr>
                        <m:t>𝑒</m:t>
                      </m:r>
                      <m:r>
                        <a:rPr lang="en-GB" sz="2400" b="0" i="1" smtClean="0">
                          <a:latin typeface="Cambria Math" panose="02040503050406030204" pitchFamily="18" charset="0"/>
                        </a:rPr>
                        <m:t>6)</m:t>
                      </m:r>
                    </m:oMath>
                  </m:oMathPara>
                </a14:m>
                <a:endParaRPr lang="en-GB" sz="2400" dirty="0"/>
              </a:p>
            </p:txBody>
          </p:sp>
        </mc:Choice>
        <mc:Fallback xmlns="">
          <p:sp>
            <p:nvSpPr>
              <p:cNvPr id="4" name="Content Placeholder 2"/>
              <p:cNvSpPr txBox="1">
                <a:spLocks noRot="1" noChangeAspect="1" noMove="1" noResize="1" noEditPoints="1" noAdjustHandles="1" noChangeArrowheads="1" noChangeShapeType="1" noTextEdit="1"/>
              </p:cNvSpPr>
              <p:nvPr/>
            </p:nvSpPr>
            <p:spPr>
              <a:xfrm>
                <a:off x="6945745" y="1825625"/>
                <a:ext cx="4408056" cy="4351338"/>
              </a:xfrm>
              <a:prstGeom prst="rect">
                <a:avLst/>
              </a:prstGeom>
              <a:blipFill>
                <a:blip r:embed="rId3"/>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3624507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3237057"/>
          </a:xfrm>
        </p:spPr>
        <p:txBody>
          <a:bodyPr/>
          <a:lstStyle/>
          <a:p>
            <a:r>
              <a:rPr lang="en-GB" dirty="0"/>
              <a:t>Sometimes we can’t “mark” individuals</a:t>
            </a:r>
          </a:p>
        </p:txBody>
      </p:sp>
      <p:sp>
        <p:nvSpPr>
          <p:cNvPr id="3" name="Content Placeholder 2"/>
          <p:cNvSpPr>
            <a:spLocks noGrp="1"/>
          </p:cNvSpPr>
          <p:nvPr>
            <p:ph idx="1"/>
          </p:nvPr>
        </p:nvSpPr>
        <p:spPr>
          <a:xfrm>
            <a:off x="838200" y="2512291"/>
            <a:ext cx="10515600" cy="3683144"/>
          </a:xfrm>
        </p:spPr>
        <p:txBody>
          <a:bodyPr/>
          <a:lstStyle/>
          <a:p>
            <a:pPr marL="0" indent="0">
              <a:buNone/>
            </a:pPr>
            <a:r>
              <a:rPr lang="en-GB" dirty="0"/>
              <a:t>A “mark” could simply be recording a person’s name and birthdate, but sometimes this is not possible.</a:t>
            </a:r>
          </a:p>
          <a:p>
            <a:pPr marL="0" indent="0">
              <a:buNone/>
            </a:pPr>
            <a:endParaRPr lang="en-GB" dirty="0"/>
          </a:p>
        </p:txBody>
      </p:sp>
    </p:spTree>
    <p:extLst>
      <p:ext uri="{BB962C8B-B14F-4D97-AF65-F5344CB8AC3E}">
        <p14:creationId xmlns:p14="http://schemas.microsoft.com/office/powerpoint/2010/main" val="5375053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N-mixture models of population size</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838200" y="1825625"/>
                <a:ext cx="5608782" cy="4351338"/>
              </a:xfrm>
            </p:spPr>
            <p:txBody>
              <a:bodyPr>
                <a:normAutofit fontScale="92500"/>
              </a:bodyPr>
              <a:lstStyle/>
              <a:p>
                <a:r>
                  <a:rPr lang="en-GB" dirty="0"/>
                  <a:t>Repeated </a:t>
                </a:r>
                <a14:m>
                  <m:oMath xmlns:m="http://schemas.openxmlformats.org/officeDocument/2006/math">
                    <m:r>
                      <a:rPr lang="en-GB" b="0" i="1" smtClean="0">
                        <a:latin typeface="Cambria Math" panose="02040503050406030204" pitchFamily="18" charset="0"/>
                      </a:rPr>
                      <m:t>𝑗</m:t>
                    </m:r>
                  </m:oMath>
                </a14:m>
                <a:r>
                  <a:rPr lang="en-GB" dirty="0"/>
                  <a:t> counts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𝑖</m:t>
                        </m:r>
                        <m:r>
                          <a:rPr lang="en-GB" b="0" i="1" smtClean="0">
                            <a:latin typeface="Cambria Math" panose="02040503050406030204" pitchFamily="18" charset="0"/>
                          </a:rPr>
                          <m:t>,</m:t>
                        </m:r>
                        <m:r>
                          <a:rPr lang="en-GB" b="0" i="1" smtClean="0">
                            <a:latin typeface="Cambria Math" panose="02040503050406030204" pitchFamily="18" charset="0"/>
                          </a:rPr>
                          <m:t>𝑗</m:t>
                        </m:r>
                      </m:sub>
                    </m:sSub>
                  </m:oMath>
                </a14:m>
                <a:r>
                  <a:rPr lang="en-GB" dirty="0"/>
                  <a:t> of individuals at each location </a:t>
                </a:r>
                <a14:m>
                  <m:oMath xmlns:m="http://schemas.openxmlformats.org/officeDocument/2006/math">
                    <m:r>
                      <a:rPr lang="en-GB" b="0" i="1" smtClean="0">
                        <a:latin typeface="Cambria Math" panose="02040503050406030204" pitchFamily="18" charset="0"/>
                      </a:rPr>
                      <m:t>𝑖</m:t>
                    </m:r>
                  </m:oMath>
                </a14:m>
                <a:r>
                  <a:rPr lang="en-GB" b="0" dirty="0"/>
                  <a:t>.</a:t>
                </a:r>
              </a:p>
              <a:p>
                <a:r>
                  <a:rPr lang="en-GB" dirty="0"/>
                  <a:t>The repeated counts allow us to estimate detection probability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𝜌</m:t>
                        </m:r>
                      </m:e>
                      <m:sub>
                        <m:r>
                          <a:rPr lang="en-GB" b="0" i="1" smtClean="0">
                            <a:latin typeface="Cambria Math" panose="02040503050406030204" pitchFamily="18" charset="0"/>
                          </a:rPr>
                          <m:t>𝑖</m:t>
                        </m:r>
                        <m:r>
                          <a:rPr lang="en-GB" b="0" i="1" smtClean="0">
                            <a:latin typeface="Cambria Math" panose="02040503050406030204" pitchFamily="18" charset="0"/>
                          </a:rPr>
                          <m:t>,</m:t>
                        </m:r>
                        <m:r>
                          <a:rPr lang="en-GB" b="0" i="1" smtClean="0">
                            <a:latin typeface="Cambria Math" panose="02040503050406030204" pitchFamily="18" charset="0"/>
                          </a:rPr>
                          <m:t>𝑗</m:t>
                        </m:r>
                      </m:sub>
                    </m:sSub>
                  </m:oMath>
                </a14:m>
                <a:endParaRPr lang="en-GB" b="0" dirty="0"/>
              </a:p>
              <a:p>
                <a:endParaRPr lang="en-GB" dirty="0"/>
              </a:p>
              <a:p>
                <a:r>
                  <a:rPr lang="en-GB" dirty="0"/>
                  <a:t>Population size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𝑁</m:t>
                        </m:r>
                      </m:e>
                      <m:sub>
                        <m:r>
                          <a:rPr lang="en-GB" b="0" i="1" smtClean="0">
                            <a:latin typeface="Cambria Math" panose="02040503050406030204" pitchFamily="18" charset="0"/>
                          </a:rPr>
                          <m:t>𝑖</m:t>
                        </m:r>
                      </m:sub>
                    </m:sSub>
                  </m:oMath>
                </a14:m>
                <a:r>
                  <a:rPr lang="en-GB" dirty="0"/>
                  <a:t> determined by characteristics of each location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𝑘</m:t>
                        </m:r>
                        <m:r>
                          <a:rPr lang="en-GB" b="0" i="1" smtClean="0">
                            <a:latin typeface="Cambria Math" panose="02040503050406030204" pitchFamily="18" charset="0"/>
                          </a:rPr>
                          <m:t>,</m:t>
                        </m:r>
                        <m:r>
                          <a:rPr lang="en-GB" b="0" i="1" smtClean="0">
                            <a:latin typeface="Cambria Math" panose="02040503050406030204" pitchFamily="18" charset="0"/>
                          </a:rPr>
                          <m:t>𝑖</m:t>
                        </m:r>
                      </m:sub>
                    </m:sSub>
                  </m:oMath>
                </a14:m>
                <a:r>
                  <a:rPr lang="en-GB" dirty="0"/>
                  <a:t>.</a:t>
                </a:r>
              </a:p>
              <a:p>
                <a:r>
                  <a:rPr lang="en-GB" dirty="0"/>
                  <a:t>Assumes a closed population across </a:t>
                </a:r>
                <a14:m>
                  <m:oMath xmlns:m="http://schemas.openxmlformats.org/officeDocument/2006/math">
                    <m:r>
                      <a:rPr lang="en-GB" b="0" i="1" smtClean="0">
                        <a:latin typeface="Cambria Math" panose="02040503050406030204" pitchFamily="18" charset="0"/>
                      </a:rPr>
                      <m:t>𝑗</m:t>
                    </m:r>
                  </m:oMath>
                </a14:m>
                <a:r>
                  <a:rPr lang="en-GB" dirty="0"/>
                  <a:t> surveys</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838200" y="1825625"/>
                <a:ext cx="5608782" cy="4351338"/>
              </a:xfrm>
              <a:blipFill>
                <a:blip r:embed="rId2"/>
                <a:stretch>
                  <a:fillRect l="-1739" t="-2101" r="-109" b="-98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 name="Content Placeholder 2"/>
              <p:cNvSpPr txBox="1">
                <a:spLocks/>
              </p:cNvSpPr>
              <p:nvPr/>
            </p:nvSpPr>
            <p:spPr>
              <a:xfrm>
                <a:off x="6446982" y="1825625"/>
                <a:ext cx="4906818"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sSub>
                        <m:sSubPr>
                          <m:ctrlPr>
                            <a:rPr lang="en-GB" i="1" smtClean="0">
                              <a:latin typeface="Cambria Math" panose="02040503050406030204" pitchFamily="18" charset="0"/>
                            </a:rPr>
                          </m:ctrlPr>
                        </m:sSubPr>
                        <m:e>
                          <m:r>
                            <a:rPr lang="en-GB" i="1">
                              <a:latin typeface="Cambria Math" panose="02040503050406030204" pitchFamily="18" charset="0"/>
                            </a:rPr>
                            <m:t>𝑦</m:t>
                          </m:r>
                        </m:e>
                        <m:sub>
                          <m:r>
                            <a:rPr lang="en-GB" i="1">
                              <a:latin typeface="Cambria Math" panose="02040503050406030204" pitchFamily="18" charset="0"/>
                            </a:rPr>
                            <m:t>𝑖</m:t>
                          </m:r>
                          <m:r>
                            <a:rPr lang="en-GB" i="1">
                              <a:latin typeface="Cambria Math" panose="02040503050406030204" pitchFamily="18" charset="0"/>
                            </a:rPr>
                            <m:t>,</m:t>
                          </m:r>
                          <m:r>
                            <a:rPr lang="en-GB" i="1">
                              <a:latin typeface="Cambria Math" panose="02040503050406030204" pitchFamily="18" charset="0"/>
                            </a:rPr>
                            <m:t>𝑗</m:t>
                          </m:r>
                        </m:sub>
                      </m:sSub>
                      <m:r>
                        <a:rPr lang="en-GB" i="1">
                          <a:latin typeface="Cambria Math" panose="02040503050406030204" pitchFamily="18" charset="0"/>
                        </a:rPr>
                        <m:t> ~ </m:t>
                      </m:r>
                      <m:r>
                        <a:rPr lang="en-GB" i="1">
                          <a:latin typeface="Cambria Math" panose="02040503050406030204" pitchFamily="18" charset="0"/>
                        </a:rPr>
                        <m:t>𝐵𝑖𝑛𝑜𝑚𝑖𝑎𝑙</m:t>
                      </m:r>
                      <m:d>
                        <m:dPr>
                          <m:ctrlPr>
                            <a:rPr lang="en-GB" i="1">
                              <a:latin typeface="Cambria Math" panose="02040503050406030204" pitchFamily="18" charset="0"/>
                            </a:rPr>
                          </m:ctrlPr>
                        </m:dPr>
                        <m:e>
                          <m:sSub>
                            <m:sSubPr>
                              <m:ctrlPr>
                                <a:rPr lang="en-GB" i="1">
                                  <a:latin typeface="Cambria Math" panose="02040503050406030204" pitchFamily="18" charset="0"/>
                                </a:rPr>
                              </m:ctrlPr>
                            </m:sSubPr>
                            <m:e>
                              <m:r>
                                <a:rPr lang="en-GB" i="1">
                                  <a:latin typeface="Cambria Math" panose="02040503050406030204" pitchFamily="18" charset="0"/>
                                </a:rPr>
                                <m:t>𝑁</m:t>
                              </m:r>
                            </m:e>
                            <m:sub>
                              <m:r>
                                <a:rPr lang="en-GB" i="1">
                                  <a:latin typeface="Cambria Math" panose="02040503050406030204" pitchFamily="18" charset="0"/>
                                </a:rPr>
                                <m:t>𝑖</m:t>
                              </m:r>
                            </m:sub>
                          </m:sSub>
                          <m:r>
                            <a:rPr lang="en-GB" i="1">
                              <a:latin typeface="Cambria Math" panose="02040503050406030204" pitchFamily="18" charset="0"/>
                            </a:rPr>
                            <m:t>, </m:t>
                          </m:r>
                          <m:sSub>
                            <m:sSubPr>
                              <m:ctrlPr>
                                <a:rPr lang="en-GB" i="1">
                                  <a:latin typeface="Cambria Math" panose="02040503050406030204" pitchFamily="18" charset="0"/>
                                </a:rPr>
                              </m:ctrlPr>
                            </m:sSubPr>
                            <m:e>
                              <m:r>
                                <a:rPr lang="en-GB" i="1">
                                  <a:latin typeface="Cambria Math" panose="02040503050406030204" pitchFamily="18" charset="0"/>
                                </a:rPr>
                                <m:t>𝜌</m:t>
                              </m:r>
                            </m:e>
                            <m:sub>
                              <m:r>
                                <a:rPr lang="en-GB" i="1">
                                  <a:latin typeface="Cambria Math" panose="02040503050406030204" pitchFamily="18" charset="0"/>
                                </a:rPr>
                                <m:t>𝑖</m:t>
                              </m:r>
                              <m:r>
                                <a:rPr lang="en-GB" i="1">
                                  <a:latin typeface="Cambria Math" panose="02040503050406030204" pitchFamily="18" charset="0"/>
                                </a:rPr>
                                <m:t>,</m:t>
                              </m:r>
                              <m:r>
                                <a:rPr lang="en-GB" i="1">
                                  <a:latin typeface="Cambria Math" panose="02040503050406030204" pitchFamily="18" charset="0"/>
                                </a:rPr>
                                <m:t>𝑗</m:t>
                              </m:r>
                            </m:sub>
                          </m:sSub>
                        </m:e>
                      </m:d>
                    </m:oMath>
                  </m:oMathPara>
                </a14:m>
                <a:endParaRPr lang="en-GB" dirty="0"/>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r>
                        <a:rPr lang="en-GB" i="1">
                          <a:latin typeface="Cambria Math" panose="02040503050406030204" pitchFamily="18" charset="0"/>
                        </a:rPr>
                        <m:t>𝑙𝑜𝑔𝑖𝑡</m:t>
                      </m:r>
                      <m:d>
                        <m:dPr>
                          <m:ctrlPr>
                            <a:rPr lang="en-GB" i="1">
                              <a:latin typeface="Cambria Math" panose="02040503050406030204" pitchFamily="18" charset="0"/>
                            </a:rPr>
                          </m:ctrlPr>
                        </m:dPr>
                        <m:e>
                          <m:sSub>
                            <m:sSubPr>
                              <m:ctrlPr>
                                <a:rPr lang="en-GB" i="1">
                                  <a:latin typeface="Cambria Math" panose="02040503050406030204" pitchFamily="18" charset="0"/>
                                </a:rPr>
                              </m:ctrlPr>
                            </m:sSubPr>
                            <m:e>
                              <m:r>
                                <a:rPr lang="en-GB" i="1">
                                  <a:latin typeface="Cambria Math" panose="02040503050406030204" pitchFamily="18" charset="0"/>
                                </a:rPr>
                                <m:t>𝜌</m:t>
                              </m:r>
                            </m:e>
                            <m:sub>
                              <m:r>
                                <a:rPr lang="en-GB" i="1">
                                  <a:latin typeface="Cambria Math" panose="02040503050406030204" pitchFamily="18" charset="0"/>
                                </a:rPr>
                                <m:t>𝑖</m:t>
                              </m:r>
                              <m:r>
                                <a:rPr lang="en-GB" i="1">
                                  <a:latin typeface="Cambria Math" panose="02040503050406030204" pitchFamily="18" charset="0"/>
                                </a:rPr>
                                <m:t>,</m:t>
                              </m:r>
                              <m:r>
                                <a:rPr lang="en-GB" i="1">
                                  <a:latin typeface="Cambria Math" panose="02040503050406030204" pitchFamily="18" charset="0"/>
                                </a:rPr>
                                <m:t>𝑗</m:t>
                              </m:r>
                            </m:sub>
                          </m:sSub>
                        </m:e>
                      </m:d>
                      <m:r>
                        <a:rPr lang="en-GB" i="1">
                          <a:latin typeface="Cambria Math" panose="02040503050406030204" pitchFamily="18" charset="0"/>
                        </a:rPr>
                        <m:t>=</m:t>
                      </m:r>
                      <m:r>
                        <a:rPr lang="en-GB" i="1">
                          <a:latin typeface="Cambria Math" panose="02040503050406030204" pitchFamily="18" charset="0"/>
                        </a:rPr>
                        <m:t>𝛼</m:t>
                      </m:r>
                      <m:r>
                        <a:rPr lang="en-GB" i="1">
                          <a:latin typeface="Cambria Math" panose="02040503050406030204" pitchFamily="18" charset="0"/>
                        </a:rPr>
                        <m:t>+</m:t>
                      </m:r>
                      <m:r>
                        <a:rPr lang="en-GB" b="0" i="1" smtClean="0">
                          <a:latin typeface="Cambria Math" panose="02040503050406030204" pitchFamily="18" charset="0"/>
                        </a:rPr>
                        <m:t>𝛽</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𝑖</m:t>
                          </m:r>
                          <m:r>
                            <a:rPr lang="en-GB" b="0" i="1" smtClean="0">
                              <a:latin typeface="Cambria Math" panose="02040503050406030204" pitchFamily="18" charset="0"/>
                            </a:rPr>
                            <m:t>,</m:t>
                          </m:r>
                          <m:r>
                            <a:rPr lang="en-GB" b="0" i="1" smtClean="0">
                              <a:latin typeface="Cambria Math" panose="02040503050406030204" pitchFamily="18" charset="0"/>
                            </a:rPr>
                            <m:t>𝑗</m:t>
                          </m:r>
                        </m:sub>
                      </m:sSub>
                    </m:oMath>
                  </m:oMathPara>
                </a14:m>
                <a:endParaRPr lang="en-GB" dirty="0"/>
              </a:p>
              <a:p>
                <a:pPr marL="0" indent="0">
                  <a:buNone/>
                </a:pPr>
                <a:endParaRPr lang="en-GB" b="0" i="1" dirty="0">
                  <a:latin typeface="Cambria Math" panose="02040503050406030204" pitchFamily="18" charset="0"/>
                </a:endParaRPr>
              </a:p>
              <a:p>
                <a:pPr marL="0" indent="0">
                  <a:buNone/>
                </a:pPr>
                <a:endParaRPr lang="en-GB"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𝑁</m:t>
                          </m:r>
                        </m:e>
                        <m:sub>
                          <m:r>
                            <a:rPr lang="en-GB" b="0" i="1" smtClean="0">
                              <a:latin typeface="Cambria Math" panose="02040503050406030204" pitchFamily="18" charset="0"/>
                            </a:rPr>
                            <m:t>𝑖</m:t>
                          </m:r>
                        </m:sub>
                      </m:sSub>
                      <m:r>
                        <a:rPr lang="en-GB" b="0" i="1" smtClean="0">
                          <a:latin typeface="Cambria Math" panose="02040503050406030204" pitchFamily="18" charset="0"/>
                        </a:rPr>
                        <m:t> ~ </m:t>
                      </m:r>
                      <m:r>
                        <a:rPr lang="en-GB" b="0" i="1" smtClean="0">
                          <a:latin typeface="Cambria Math" panose="02040503050406030204" pitchFamily="18" charset="0"/>
                        </a:rPr>
                        <m:t>𝑃𝑜𝑖𝑠𝑠𝑜𝑛</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𝜆</m:t>
                              </m:r>
                            </m:e>
                            <m:sub>
                              <m:r>
                                <a:rPr lang="en-GB" b="0" i="1" smtClean="0">
                                  <a:latin typeface="Cambria Math" panose="02040503050406030204" pitchFamily="18" charset="0"/>
                                </a:rPr>
                                <m:t>𝑖</m:t>
                              </m:r>
                            </m:sub>
                          </m:sSub>
                        </m:e>
                      </m:d>
                    </m:oMath>
                  </m:oMathPara>
                </a14:m>
                <a:endParaRPr lang="en-GB" b="0" i="1" dirty="0">
                  <a:latin typeface="Cambria Math" panose="02040503050406030204" pitchFamily="18" charset="0"/>
                </a:endParaRPr>
              </a:p>
              <a:p>
                <a:pPr marL="0" indent="0">
                  <a:buNone/>
                </a:pPr>
                <a:endParaRPr lang="en-GB"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func>
                        <m:funcPr>
                          <m:ctrlPr>
                            <a:rPr lang="en-GB" b="0" i="1" smtClean="0">
                              <a:latin typeface="Cambria Math" panose="02040503050406030204" pitchFamily="18" charset="0"/>
                            </a:rPr>
                          </m:ctrlPr>
                        </m:funcPr>
                        <m:fName>
                          <m:r>
                            <m:rPr>
                              <m:sty m:val="p"/>
                            </m:rPr>
                            <a:rPr lang="en-GB" b="0" i="0" smtClean="0">
                              <a:latin typeface="Cambria Math" panose="02040503050406030204" pitchFamily="18" charset="0"/>
                            </a:rPr>
                            <m:t>log</m:t>
                          </m:r>
                        </m:fName>
                        <m:e>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𝜆</m:t>
                                  </m:r>
                                </m:e>
                                <m:sub>
                                  <m:r>
                                    <a:rPr lang="en-GB" b="0" i="1" smtClean="0">
                                      <a:latin typeface="Cambria Math" panose="02040503050406030204" pitchFamily="18" charset="0"/>
                                    </a:rPr>
                                    <m:t>𝑖</m:t>
                                  </m:r>
                                </m:sub>
                              </m:sSub>
                            </m:e>
                          </m:d>
                        </m:e>
                      </m:func>
                      <m:r>
                        <a:rPr lang="en-GB" i="1">
                          <a:latin typeface="Cambria Math" panose="02040503050406030204" pitchFamily="18" charset="0"/>
                        </a:rPr>
                        <m:t>=</m:t>
                      </m:r>
                      <m:r>
                        <a:rPr lang="en-GB" i="1">
                          <a:latin typeface="Cambria Math" panose="02040503050406030204" pitchFamily="18" charset="0"/>
                        </a:rPr>
                        <m:t>𝛼</m:t>
                      </m:r>
                      <m:r>
                        <a:rPr lang="en-GB" i="1">
                          <a:latin typeface="Cambria Math" panose="02040503050406030204" pitchFamily="18" charset="0"/>
                        </a:rPr>
                        <m:t>+</m:t>
                      </m:r>
                      <m:r>
                        <a:rPr lang="en-GB" b="0" i="1" smtClean="0">
                          <a:latin typeface="Cambria Math" panose="02040503050406030204" pitchFamily="18" charset="0"/>
                        </a:rPr>
                        <m:t>𝛽</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𝑖</m:t>
                          </m:r>
                        </m:sub>
                      </m:sSub>
                    </m:oMath>
                  </m:oMathPara>
                </a14:m>
                <a:endParaRPr lang="en-GB" b="0" i="1" dirty="0">
                  <a:latin typeface="Cambria Math" panose="02040503050406030204" pitchFamily="18" charset="0"/>
                </a:endParaRPr>
              </a:p>
              <a:p>
                <a:pPr marL="0" indent="0">
                  <a:buNone/>
                </a:pPr>
                <a:endParaRPr lang="en-GB" i="1" dirty="0">
                  <a:latin typeface="Cambria Math" panose="02040503050406030204" pitchFamily="18" charset="0"/>
                </a:endParaRPr>
              </a:p>
            </p:txBody>
          </p:sp>
        </mc:Choice>
        <mc:Fallback xmlns="">
          <p:sp>
            <p:nvSpPr>
              <p:cNvPr id="4" name="Content Placeholder 2"/>
              <p:cNvSpPr txBox="1">
                <a:spLocks noRot="1" noChangeAspect="1" noMove="1" noResize="1" noEditPoints="1" noAdjustHandles="1" noChangeArrowheads="1" noChangeShapeType="1" noTextEdit="1"/>
              </p:cNvSpPr>
              <p:nvPr/>
            </p:nvSpPr>
            <p:spPr>
              <a:xfrm>
                <a:off x="6446982" y="1825625"/>
                <a:ext cx="4906818" cy="4351338"/>
              </a:xfrm>
              <a:prstGeom prst="rect">
                <a:avLst/>
              </a:prstGeom>
              <a:blipFill>
                <a:blip r:embed="rId3"/>
                <a:stretch>
                  <a:fillRect/>
                </a:stretch>
              </a:blipFill>
            </p:spPr>
            <p:txBody>
              <a:bodyPr/>
              <a:lstStyle/>
              <a:p>
                <a:r>
                  <a:rPr lang="en-GB">
                    <a:noFill/>
                  </a:rPr>
                  <a:t> </a:t>
                </a:r>
              </a:p>
            </p:txBody>
          </p:sp>
        </mc:Fallback>
      </mc:AlternateContent>
      <p:sp>
        <p:nvSpPr>
          <p:cNvPr id="5" name="TextBox 4"/>
          <p:cNvSpPr txBox="1"/>
          <p:nvPr/>
        </p:nvSpPr>
        <p:spPr>
          <a:xfrm>
            <a:off x="6659418" y="6261824"/>
            <a:ext cx="5532582" cy="584775"/>
          </a:xfrm>
          <a:prstGeom prst="rect">
            <a:avLst/>
          </a:prstGeom>
          <a:noFill/>
        </p:spPr>
        <p:txBody>
          <a:bodyPr wrap="square" rtlCol="0">
            <a:spAutoFit/>
          </a:bodyPr>
          <a:lstStyle/>
          <a:p>
            <a:pPr algn="r"/>
            <a:r>
              <a:rPr lang="en-GB" sz="1600" dirty="0" err="1">
                <a:solidFill>
                  <a:schemeClr val="bg1">
                    <a:lumMod val="65000"/>
                  </a:schemeClr>
                </a:solidFill>
              </a:rPr>
              <a:t>Royle</a:t>
            </a:r>
            <a:r>
              <a:rPr lang="en-GB" sz="1600" dirty="0">
                <a:solidFill>
                  <a:schemeClr val="bg1">
                    <a:lumMod val="65000"/>
                  </a:schemeClr>
                </a:solidFill>
              </a:rPr>
              <a:t> A. 2004. N-mixture models for estimating population size from spatially replicated counts. </a:t>
            </a:r>
            <a:r>
              <a:rPr lang="en-GB" sz="1600" i="1" dirty="0">
                <a:solidFill>
                  <a:schemeClr val="bg1">
                    <a:lumMod val="65000"/>
                  </a:schemeClr>
                </a:solidFill>
              </a:rPr>
              <a:t>Biometrics </a:t>
            </a:r>
            <a:r>
              <a:rPr lang="en-GB" sz="1600" dirty="0">
                <a:solidFill>
                  <a:schemeClr val="bg1">
                    <a:lumMod val="65000"/>
                  </a:schemeClr>
                </a:solidFill>
              </a:rPr>
              <a:t>60(1):108-115. </a:t>
            </a:r>
          </a:p>
        </p:txBody>
      </p:sp>
    </p:spTree>
    <p:extLst>
      <p:ext uri="{BB962C8B-B14F-4D97-AF65-F5344CB8AC3E}">
        <p14:creationId xmlns:p14="http://schemas.microsoft.com/office/powerpoint/2010/main" val="1626610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N-mixture models of population size</a:t>
            </a:r>
          </a:p>
        </p:txBody>
      </p:sp>
      <p:sp>
        <p:nvSpPr>
          <p:cNvPr id="6" name="Rectangle 5"/>
          <p:cNvSpPr/>
          <p:nvPr/>
        </p:nvSpPr>
        <p:spPr>
          <a:xfrm>
            <a:off x="438721" y="2096655"/>
            <a:ext cx="6345382" cy="4156364"/>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02839" y="2391677"/>
            <a:ext cx="1103746" cy="1150915"/>
          </a:xfrm>
          <a:prstGeom prst="rect">
            <a:avLst/>
          </a:prstGeom>
        </p:spPr>
      </p:pic>
      <p:pic>
        <p:nvPicPr>
          <p:cNvPr id="9" name="Pictur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877111" y="2793011"/>
            <a:ext cx="1103746" cy="1150915"/>
          </a:xfrm>
          <a:prstGeom prst="rect">
            <a:avLst/>
          </a:prstGeom>
        </p:spPr>
      </p:pic>
      <p:pic>
        <p:nvPicPr>
          <p:cNvPr id="10" name="Pictur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875535" y="2360341"/>
            <a:ext cx="1103746" cy="1150915"/>
          </a:xfrm>
          <a:prstGeom prst="rect">
            <a:avLst/>
          </a:prstGeom>
        </p:spPr>
      </p:pic>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79290" y="4174837"/>
            <a:ext cx="1103746" cy="1150915"/>
          </a:xfrm>
          <a:prstGeom prst="rect">
            <a:avLst/>
          </a:prstGeom>
        </p:spPr>
      </p:pic>
      <p:pic>
        <p:nvPicPr>
          <p:cNvPr id="12" name="Picture 1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008720" y="4613579"/>
            <a:ext cx="1103746" cy="1150915"/>
          </a:xfrm>
          <a:prstGeom prst="rect">
            <a:avLst/>
          </a:prstGeom>
        </p:spPr>
      </p:pic>
      <p:pic>
        <p:nvPicPr>
          <p:cNvPr id="13" name="Picture 1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323662" y="3992615"/>
            <a:ext cx="1103746" cy="1150915"/>
          </a:xfrm>
          <a:prstGeom prst="rect">
            <a:avLst/>
          </a:prstGeom>
        </p:spPr>
      </p:pic>
      <p:sp>
        <p:nvSpPr>
          <p:cNvPr id="18" name="TextBox 17"/>
          <p:cNvSpPr txBox="1"/>
          <p:nvPr/>
        </p:nvSpPr>
        <p:spPr>
          <a:xfrm>
            <a:off x="438720" y="1538583"/>
            <a:ext cx="6345383" cy="1077218"/>
          </a:xfrm>
          <a:prstGeom prst="rect">
            <a:avLst/>
          </a:prstGeom>
          <a:noFill/>
        </p:spPr>
        <p:txBody>
          <a:bodyPr wrap="square" rtlCol="0">
            <a:spAutoFit/>
          </a:bodyPr>
          <a:lstStyle/>
          <a:p>
            <a:pPr algn="ctr"/>
            <a:r>
              <a:rPr lang="en-GB" sz="3200" dirty="0"/>
              <a:t>location (</a:t>
            </a:r>
            <a:r>
              <a:rPr lang="en-GB" sz="3200" dirty="0" err="1"/>
              <a:t>i</a:t>
            </a:r>
            <a:r>
              <a:rPr lang="en-GB" sz="3200" dirty="0"/>
              <a:t>) = 1, survey (j) = 1 </a:t>
            </a:r>
            <a:br>
              <a:rPr lang="en-GB" sz="3200" dirty="0"/>
            </a:br>
            <a:r>
              <a:rPr lang="en-GB" sz="3200" dirty="0" err="1"/>
              <a:t>mogwai</a:t>
            </a:r>
            <a:r>
              <a:rPr lang="en-GB" sz="3200" dirty="0"/>
              <a:t> = 6 </a:t>
            </a:r>
          </a:p>
        </p:txBody>
      </p:sp>
      <mc:AlternateContent xmlns:mc="http://schemas.openxmlformats.org/markup-compatibility/2006" xmlns:a14="http://schemas.microsoft.com/office/drawing/2010/main">
        <mc:Choice Requires="a14">
          <p:sp>
            <p:nvSpPr>
              <p:cNvPr id="19" name="Content Placeholder 2"/>
              <p:cNvSpPr txBox="1">
                <a:spLocks/>
              </p:cNvSpPr>
              <p:nvPr/>
            </p:nvSpPr>
            <p:spPr>
              <a:xfrm>
                <a:off x="7068034" y="1825625"/>
                <a:ext cx="4285766"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1,1</m:t>
                        </m:r>
                      </m:sub>
                    </m:sSub>
                    <m:r>
                      <a:rPr lang="en-GB" b="0" i="1" smtClean="0">
                        <a:latin typeface="Cambria Math" panose="02040503050406030204" pitchFamily="18" charset="0"/>
                      </a:rPr>
                      <m:t>=6</m:t>
                    </m:r>
                  </m:oMath>
                </a14:m>
                <a:r>
                  <a:rPr lang="en-GB" i="1" dirty="0">
                    <a:latin typeface="Cambria Math" panose="02040503050406030204" pitchFamily="18" charset="0"/>
                  </a:rPr>
                  <a:t> </a:t>
                </a:r>
              </a:p>
              <a:p>
                <a:pPr marL="0" indent="0">
                  <a:buNone/>
                </a:pPr>
                <a:endParaRPr lang="en-GB" i="1" dirty="0">
                  <a:latin typeface="Cambria Math" panose="02040503050406030204" pitchFamily="18" charset="0"/>
                </a:endParaRPr>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7068034" y="1825625"/>
                <a:ext cx="4285766" cy="4351338"/>
              </a:xfrm>
              <a:prstGeom prst="rect">
                <a:avLst/>
              </a:prstGeom>
              <a:blipFill>
                <a:blip r:embed="rId3"/>
                <a:stretch>
                  <a:fillRect/>
                </a:stretch>
              </a:blipFill>
            </p:spPr>
            <p:txBody>
              <a:bodyPr/>
              <a:lstStyle/>
              <a:p>
                <a:r>
                  <a:rPr lang="en-GB">
                    <a:noFill/>
                  </a:rPr>
                  <a:t> </a:t>
                </a:r>
              </a:p>
            </p:txBody>
          </p:sp>
        </mc:Fallback>
      </mc:AlternateContent>
      <p:sp>
        <p:nvSpPr>
          <p:cNvPr id="20" name="TextBox 19"/>
          <p:cNvSpPr txBox="1"/>
          <p:nvPr/>
        </p:nvSpPr>
        <p:spPr>
          <a:xfrm>
            <a:off x="6659418" y="6261824"/>
            <a:ext cx="5532582" cy="584775"/>
          </a:xfrm>
          <a:prstGeom prst="rect">
            <a:avLst/>
          </a:prstGeom>
          <a:noFill/>
        </p:spPr>
        <p:txBody>
          <a:bodyPr wrap="square" rtlCol="0">
            <a:spAutoFit/>
          </a:bodyPr>
          <a:lstStyle/>
          <a:p>
            <a:pPr algn="r"/>
            <a:r>
              <a:rPr lang="en-GB" sz="1600" dirty="0" err="1">
                <a:solidFill>
                  <a:schemeClr val="bg1">
                    <a:lumMod val="65000"/>
                  </a:schemeClr>
                </a:solidFill>
              </a:rPr>
              <a:t>Royle</a:t>
            </a:r>
            <a:r>
              <a:rPr lang="en-GB" sz="1600" dirty="0">
                <a:solidFill>
                  <a:schemeClr val="bg1">
                    <a:lumMod val="65000"/>
                  </a:schemeClr>
                </a:solidFill>
              </a:rPr>
              <a:t> A. 2004. N-mixture models for estimating population size from spatially replicated counts. </a:t>
            </a:r>
            <a:r>
              <a:rPr lang="en-GB" sz="1600" i="1" dirty="0">
                <a:solidFill>
                  <a:schemeClr val="bg1">
                    <a:lumMod val="65000"/>
                  </a:schemeClr>
                </a:solidFill>
              </a:rPr>
              <a:t>Biometrics </a:t>
            </a:r>
            <a:r>
              <a:rPr lang="en-GB" sz="1600" dirty="0">
                <a:solidFill>
                  <a:schemeClr val="bg1">
                    <a:lumMod val="65000"/>
                  </a:schemeClr>
                </a:solidFill>
              </a:rPr>
              <a:t>60(1):108-115. </a:t>
            </a:r>
          </a:p>
        </p:txBody>
      </p:sp>
    </p:spTree>
    <p:extLst>
      <p:ext uri="{BB962C8B-B14F-4D97-AF65-F5344CB8AC3E}">
        <p14:creationId xmlns:p14="http://schemas.microsoft.com/office/powerpoint/2010/main" val="2379900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N-mixture models of population size</a:t>
            </a:r>
          </a:p>
        </p:txBody>
      </p:sp>
      <p:sp>
        <p:nvSpPr>
          <p:cNvPr id="6" name="Rectangle 5"/>
          <p:cNvSpPr/>
          <p:nvPr/>
        </p:nvSpPr>
        <p:spPr>
          <a:xfrm>
            <a:off x="438721" y="2096655"/>
            <a:ext cx="6345382" cy="4156364"/>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61228" y="2169429"/>
            <a:ext cx="1103746" cy="1150915"/>
          </a:xfrm>
          <a:prstGeom prst="rect">
            <a:avLst/>
          </a:prstGeom>
        </p:spPr>
      </p:pic>
      <p:pic>
        <p:nvPicPr>
          <p:cNvPr id="9" name="Pictur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415094" y="3127409"/>
            <a:ext cx="1103746" cy="1150915"/>
          </a:xfrm>
          <a:prstGeom prst="rect">
            <a:avLst/>
          </a:prstGeom>
        </p:spPr>
      </p:pic>
      <p:pic>
        <p:nvPicPr>
          <p:cNvPr id="10" name="Pictur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58827" y="3034032"/>
            <a:ext cx="1103746" cy="1150915"/>
          </a:xfrm>
          <a:prstGeom prst="rect">
            <a:avLst/>
          </a:prstGeom>
        </p:spPr>
      </p:pic>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200" y="4314895"/>
            <a:ext cx="1103746" cy="1150915"/>
          </a:xfrm>
          <a:prstGeom prst="rect">
            <a:avLst/>
          </a:prstGeom>
        </p:spPr>
      </p:pic>
      <p:pic>
        <p:nvPicPr>
          <p:cNvPr id="12" name="Picture 1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86247" y="4678233"/>
            <a:ext cx="1103746" cy="1150915"/>
          </a:xfrm>
          <a:prstGeom prst="rect">
            <a:avLst/>
          </a:prstGeom>
        </p:spPr>
      </p:pic>
      <p:pic>
        <p:nvPicPr>
          <p:cNvPr id="13" name="Picture 1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323662" y="3992615"/>
            <a:ext cx="1103746" cy="1150915"/>
          </a:xfrm>
          <a:prstGeom prst="rect">
            <a:avLst/>
          </a:prstGeom>
        </p:spPr>
      </p:pic>
      <p:sp>
        <p:nvSpPr>
          <p:cNvPr id="18" name="TextBox 17"/>
          <p:cNvSpPr txBox="1"/>
          <p:nvPr/>
        </p:nvSpPr>
        <p:spPr>
          <a:xfrm>
            <a:off x="438720" y="1538583"/>
            <a:ext cx="6345383" cy="1077218"/>
          </a:xfrm>
          <a:prstGeom prst="rect">
            <a:avLst/>
          </a:prstGeom>
          <a:noFill/>
        </p:spPr>
        <p:txBody>
          <a:bodyPr wrap="square" rtlCol="0">
            <a:spAutoFit/>
          </a:bodyPr>
          <a:lstStyle/>
          <a:p>
            <a:pPr algn="ctr"/>
            <a:r>
              <a:rPr lang="en-GB" sz="3200" dirty="0"/>
              <a:t>location (</a:t>
            </a:r>
            <a:r>
              <a:rPr lang="en-GB" sz="3200" dirty="0" err="1"/>
              <a:t>i</a:t>
            </a:r>
            <a:r>
              <a:rPr lang="en-GB" sz="3200" dirty="0"/>
              <a:t>) = 1, survey (j) = 2 </a:t>
            </a:r>
            <a:br>
              <a:rPr lang="en-GB" sz="3200" dirty="0"/>
            </a:br>
            <a:r>
              <a:rPr lang="en-GB" sz="3200" dirty="0" err="1"/>
              <a:t>mogwai</a:t>
            </a:r>
            <a:r>
              <a:rPr lang="en-GB" sz="3200" dirty="0"/>
              <a:t> = 9 </a:t>
            </a:r>
          </a:p>
        </p:txBody>
      </p:sp>
      <mc:AlternateContent xmlns:mc="http://schemas.openxmlformats.org/markup-compatibility/2006" xmlns:a14="http://schemas.microsoft.com/office/drawing/2010/main">
        <mc:Choice Requires="a14">
          <p:sp>
            <p:nvSpPr>
              <p:cNvPr id="19" name="Content Placeholder 2"/>
              <p:cNvSpPr txBox="1">
                <a:spLocks/>
              </p:cNvSpPr>
              <p:nvPr/>
            </p:nvSpPr>
            <p:spPr>
              <a:xfrm>
                <a:off x="7068034" y="1825625"/>
                <a:ext cx="4285766"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1, 1</m:t>
                        </m:r>
                      </m:sub>
                    </m:sSub>
                    <m:r>
                      <a:rPr lang="en-GB" b="0" i="1" smtClean="0">
                        <a:latin typeface="Cambria Math" panose="02040503050406030204" pitchFamily="18" charset="0"/>
                      </a:rPr>
                      <m:t>=6</m:t>
                    </m:r>
                  </m:oMath>
                </a14:m>
                <a:r>
                  <a:rPr lang="en-GB" i="1" dirty="0">
                    <a:latin typeface="Cambria Math" panose="02040503050406030204" pitchFamily="18" charset="0"/>
                  </a:rPr>
                  <a:t> </a:t>
                </a:r>
              </a:p>
              <a:p>
                <a:pPr marL="0" indent="0">
                  <a:buNone/>
                </a:pP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1,2</m:t>
                        </m:r>
                      </m:sub>
                    </m:sSub>
                    <m:r>
                      <a:rPr lang="en-GB" b="0" i="1" smtClean="0">
                        <a:latin typeface="Cambria Math" panose="02040503050406030204" pitchFamily="18" charset="0"/>
                      </a:rPr>
                      <m:t>=9</m:t>
                    </m:r>
                  </m:oMath>
                </a14:m>
                <a:r>
                  <a:rPr lang="en-GB" i="1" dirty="0">
                    <a:latin typeface="Cambria Math" panose="02040503050406030204" pitchFamily="18" charset="0"/>
                  </a:rPr>
                  <a:t>  </a:t>
                </a:r>
              </a:p>
              <a:p>
                <a:pPr marL="0" indent="0">
                  <a:buNone/>
                </a:pPr>
                <a:endParaRPr lang="en-GB" i="1" dirty="0">
                  <a:latin typeface="Cambria Math" panose="02040503050406030204" pitchFamily="18" charset="0"/>
                </a:endParaRPr>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7068034" y="1825625"/>
                <a:ext cx="4285766" cy="4351338"/>
              </a:xfrm>
              <a:prstGeom prst="rect">
                <a:avLst/>
              </a:prstGeom>
              <a:blipFill>
                <a:blip r:embed="rId3"/>
                <a:stretch>
                  <a:fillRect/>
                </a:stretch>
              </a:blipFill>
            </p:spPr>
            <p:txBody>
              <a:bodyPr/>
              <a:lstStyle/>
              <a:p>
                <a:r>
                  <a:rPr lang="en-GB">
                    <a:noFill/>
                  </a:rPr>
                  <a:t> </a:t>
                </a:r>
              </a:p>
            </p:txBody>
          </p:sp>
        </mc:Fallback>
      </mc:AlternateContent>
      <p:pic>
        <p:nvPicPr>
          <p:cNvPr id="14" name="Picture 1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21492" y="2727501"/>
            <a:ext cx="1103746" cy="1150915"/>
          </a:xfrm>
          <a:prstGeom prst="rect">
            <a:avLst/>
          </a:prstGeom>
        </p:spPr>
      </p:pic>
      <p:pic>
        <p:nvPicPr>
          <p:cNvPr id="15" name="Picture 1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019836" y="4568072"/>
            <a:ext cx="1103746" cy="1150915"/>
          </a:xfrm>
          <a:prstGeom prst="rect">
            <a:avLst/>
          </a:prstGeom>
        </p:spPr>
      </p:pic>
      <p:pic>
        <p:nvPicPr>
          <p:cNvPr id="16" name="Picture 1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93171" y="2727500"/>
            <a:ext cx="1103746" cy="1150915"/>
          </a:xfrm>
          <a:prstGeom prst="rect">
            <a:avLst/>
          </a:prstGeom>
        </p:spPr>
      </p:pic>
      <p:sp>
        <p:nvSpPr>
          <p:cNvPr id="17" name="TextBox 16"/>
          <p:cNvSpPr txBox="1"/>
          <p:nvPr/>
        </p:nvSpPr>
        <p:spPr>
          <a:xfrm>
            <a:off x="6659418" y="6261824"/>
            <a:ext cx="5532582" cy="584775"/>
          </a:xfrm>
          <a:prstGeom prst="rect">
            <a:avLst/>
          </a:prstGeom>
          <a:noFill/>
        </p:spPr>
        <p:txBody>
          <a:bodyPr wrap="square" rtlCol="0">
            <a:spAutoFit/>
          </a:bodyPr>
          <a:lstStyle/>
          <a:p>
            <a:pPr algn="r"/>
            <a:r>
              <a:rPr lang="en-GB" sz="1600" dirty="0" err="1">
                <a:solidFill>
                  <a:schemeClr val="bg1">
                    <a:lumMod val="65000"/>
                  </a:schemeClr>
                </a:solidFill>
              </a:rPr>
              <a:t>Royle</a:t>
            </a:r>
            <a:r>
              <a:rPr lang="en-GB" sz="1600" dirty="0">
                <a:solidFill>
                  <a:schemeClr val="bg1">
                    <a:lumMod val="65000"/>
                  </a:schemeClr>
                </a:solidFill>
              </a:rPr>
              <a:t> A. 2004. N-mixture models for estimating population size from spatially replicated counts. </a:t>
            </a:r>
            <a:r>
              <a:rPr lang="en-GB" sz="1600" i="1" dirty="0">
                <a:solidFill>
                  <a:schemeClr val="bg1">
                    <a:lumMod val="65000"/>
                  </a:schemeClr>
                </a:solidFill>
              </a:rPr>
              <a:t>Biometrics </a:t>
            </a:r>
            <a:r>
              <a:rPr lang="en-GB" sz="1600" dirty="0">
                <a:solidFill>
                  <a:schemeClr val="bg1">
                    <a:lumMod val="65000"/>
                  </a:schemeClr>
                </a:solidFill>
              </a:rPr>
              <a:t>60(1):108-115. </a:t>
            </a:r>
          </a:p>
        </p:txBody>
      </p:sp>
    </p:spTree>
    <p:extLst>
      <p:ext uri="{BB962C8B-B14F-4D97-AF65-F5344CB8AC3E}">
        <p14:creationId xmlns:p14="http://schemas.microsoft.com/office/powerpoint/2010/main" val="3448487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N-mixture models of population size</a:t>
            </a:r>
          </a:p>
        </p:txBody>
      </p:sp>
      <p:sp>
        <p:nvSpPr>
          <p:cNvPr id="6" name="Rectangle 5"/>
          <p:cNvSpPr/>
          <p:nvPr/>
        </p:nvSpPr>
        <p:spPr>
          <a:xfrm>
            <a:off x="438721" y="2096655"/>
            <a:ext cx="6345382" cy="4156364"/>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41306" y="2900909"/>
            <a:ext cx="1103746" cy="1150915"/>
          </a:xfrm>
          <a:prstGeom prst="rect">
            <a:avLst/>
          </a:prstGeom>
        </p:spPr>
      </p:pic>
      <p:pic>
        <p:nvPicPr>
          <p:cNvPr id="9" name="Pictur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816763" y="3173873"/>
            <a:ext cx="1103746" cy="1150915"/>
          </a:xfrm>
          <a:prstGeom prst="rect">
            <a:avLst/>
          </a:prstGeom>
        </p:spPr>
      </p:pic>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65712" y="4174837"/>
            <a:ext cx="1103746" cy="1150915"/>
          </a:xfrm>
          <a:prstGeom prst="rect">
            <a:avLst/>
          </a:prstGeom>
        </p:spPr>
      </p:pic>
      <p:sp>
        <p:nvSpPr>
          <p:cNvPr id="18" name="TextBox 17"/>
          <p:cNvSpPr txBox="1"/>
          <p:nvPr/>
        </p:nvSpPr>
        <p:spPr>
          <a:xfrm>
            <a:off x="438720" y="1538583"/>
            <a:ext cx="6345383" cy="1077218"/>
          </a:xfrm>
          <a:prstGeom prst="rect">
            <a:avLst/>
          </a:prstGeom>
          <a:noFill/>
        </p:spPr>
        <p:txBody>
          <a:bodyPr wrap="square" rtlCol="0">
            <a:spAutoFit/>
          </a:bodyPr>
          <a:lstStyle/>
          <a:p>
            <a:pPr algn="ctr"/>
            <a:r>
              <a:rPr lang="en-GB" sz="3200" dirty="0"/>
              <a:t>location (</a:t>
            </a:r>
            <a:r>
              <a:rPr lang="en-GB" sz="3200" dirty="0" err="1"/>
              <a:t>i</a:t>
            </a:r>
            <a:r>
              <a:rPr lang="en-GB" sz="3200" dirty="0"/>
              <a:t>) = 1, survey (j) = 3 </a:t>
            </a:r>
            <a:br>
              <a:rPr lang="en-GB" sz="3200" dirty="0"/>
            </a:br>
            <a:r>
              <a:rPr lang="en-GB" sz="3200" dirty="0" err="1"/>
              <a:t>mogwai</a:t>
            </a:r>
            <a:r>
              <a:rPr lang="en-GB" sz="3200" dirty="0"/>
              <a:t> = 4 </a:t>
            </a:r>
          </a:p>
        </p:txBody>
      </p:sp>
      <mc:AlternateContent xmlns:mc="http://schemas.openxmlformats.org/markup-compatibility/2006" xmlns:a14="http://schemas.microsoft.com/office/drawing/2010/main">
        <mc:Choice Requires="a14">
          <p:sp>
            <p:nvSpPr>
              <p:cNvPr id="19" name="Content Placeholder 2"/>
              <p:cNvSpPr txBox="1">
                <a:spLocks/>
              </p:cNvSpPr>
              <p:nvPr/>
            </p:nvSpPr>
            <p:spPr>
              <a:xfrm>
                <a:off x="7068034" y="1825625"/>
                <a:ext cx="4285766"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1, 1</m:t>
                        </m:r>
                      </m:sub>
                    </m:sSub>
                    <m:r>
                      <a:rPr lang="en-GB" b="0" i="1" smtClean="0">
                        <a:latin typeface="Cambria Math" panose="02040503050406030204" pitchFamily="18" charset="0"/>
                      </a:rPr>
                      <m:t>=6</m:t>
                    </m:r>
                  </m:oMath>
                </a14:m>
                <a:r>
                  <a:rPr lang="en-GB" i="1" dirty="0">
                    <a:latin typeface="Cambria Math" panose="02040503050406030204" pitchFamily="18" charset="0"/>
                  </a:rPr>
                  <a:t> </a:t>
                </a:r>
              </a:p>
              <a:p>
                <a:pPr marL="0" indent="0">
                  <a:buNone/>
                </a:pP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1,2</m:t>
                        </m:r>
                      </m:sub>
                    </m:sSub>
                    <m:r>
                      <a:rPr lang="en-GB" b="0" i="1" smtClean="0">
                        <a:latin typeface="Cambria Math" panose="02040503050406030204" pitchFamily="18" charset="0"/>
                      </a:rPr>
                      <m:t>=9</m:t>
                    </m:r>
                  </m:oMath>
                </a14:m>
                <a:r>
                  <a:rPr lang="en-GB" i="1" dirty="0">
                    <a:latin typeface="Cambria Math" panose="02040503050406030204" pitchFamily="18" charset="0"/>
                  </a:rPr>
                  <a:t>  </a:t>
                </a:r>
              </a:p>
              <a:p>
                <a:pPr marL="0" indent="0">
                  <a:buNone/>
                </a:pP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𝑦</m:t>
                        </m:r>
                      </m:e>
                      <m:sub>
                        <m:r>
                          <a:rPr lang="en-GB" i="1">
                            <a:latin typeface="Cambria Math" panose="02040503050406030204" pitchFamily="18" charset="0"/>
                          </a:rPr>
                          <m:t>1,</m:t>
                        </m:r>
                        <m:r>
                          <a:rPr lang="en-GB" b="0" i="1" smtClean="0">
                            <a:latin typeface="Cambria Math" panose="02040503050406030204" pitchFamily="18" charset="0"/>
                          </a:rPr>
                          <m:t>3</m:t>
                        </m:r>
                      </m:sub>
                    </m:sSub>
                    <m:r>
                      <a:rPr lang="en-GB" i="1">
                        <a:latin typeface="Cambria Math" panose="02040503050406030204" pitchFamily="18" charset="0"/>
                      </a:rPr>
                      <m:t>=</m:t>
                    </m:r>
                    <m:r>
                      <a:rPr lang="en-GB" b="0" i="1" smtClean="0">
                        <a:latin typeface="Cambria Math" panose="02040503050406030204" pitchFamily="18" charset="0"/>
                      </a:rPr>
                      <m:t>4</m:t>
                    </m:r>
                  </m:oMath>
                </a14:m>
                <a:r>
                  <a:rPr lang="en-GB" i="1" dirty="0">
                    <a:latin typeface="Cambria Math" panose="02040503050406030204" pitchFamily="18" charset="0"/>
                  </a:rPr>
                  <a:t>  </a:t>
                </a:r>
              </a:p>
              <a:p>
                <a:pPr marL="0" indent="0">
                  <a:buNone/>
                </a:pPr>
                <a:endParaRPr lang="en-GB" i="1" dirty="0">
                  <a:latin typeface="Cambria Math" panose="02040503050406030204" pitchFamily="18" charset="0"/>
                </a:endParaRPr>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7068034" y="1825625"/>
                <a:ext cx="4285766" cy="4351338"/>
              </a:xfrm>
              <a:prstGeom prst="rect">
                <a:avLst/>
              </a:prstGeom>
              <a:blipFill>
                <a:blip r:embed="rId3"/>
                <a:stretch>
                  <a:fillRect/>
                </a:stretch>
              </a:blipFill>
            </p:spPr>
            <p:txBody>
              <a:bodyPr/>
              <a:lstStyle/>
              <a:p>
                <a:r>
                  <a:rPr lang="en-GB">
                    <a:noFill/>
                  </a:rPr>
                  <a:t> </a:t>
                </a:r>
              </a:p>
            </p:txBody>
          </p:sp>
        </mc:Fallback>
      </mc:AlternateContent>
      <p:pic>
        <p:nvPicPr>
          <p:cNvPr id="14" name="Picture 1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844576" y="4561909"/>
            <a:ext cx="1103746" cy="1150915"/>
          </a:xfrm>
          <a:prstGeom prst="rect">
            <a:avLst/>
          </a:prstGeom>
        </p:spPr>
      </p:pic>
      <p:sp>
        <p:nvSpPr>
          <p:cNvPr id="17" name="TextBox 16"/>
          <p:cNvSpPr txBox="1"/>
          <p:nvPr/>
        </p:nvSpPr>
        <p:spPr>
          <a:xfrm>
            <a:off x="6659418" y="6261824"/>
            <a:ext cx="5532582" cy="584775"/>
          </a:xfrm>
          <a:prstGeom prst="rect">
            <a:avLst/>
          </a:prstGeom>
          <a:noFill/>
        </p:spPr>
        <p:txBody>
          <a:bodyPr wrap="square" rtlCol="0">
            <a:spAutoFit/>
          </a:bodyPr>
          <a:lstStyle/>
          <a:p>
            <a:pPr algn="r"/>
            <a:r>
              <a:rPr lang="en-GB" sz="1600" dirty="0" err="1">
                <a:solidFill>
                  <a:schemeClr val="bg1">
                    <a:lumMod val="65000"/>
                  </a:schemeClr>
                </a:solidFill>
              </a:rPr>
              <a:t>Royle</a:t>
            </a:r>
            <a:r>
              <a:rPr lang="en-GB" sz="1600" dirty="0">
                <a:solidFill>
                  <a:schemeClr val="bg1">
                    <a:lumMod val="65000"/>
                  </a:schemeClr>
                </a:solidFill>
              </a:rPr>
              <a:t> A. 2004. N-mixture models for estimating population size from spatially replicated counts. </a:t>
            </a:r>
            <a:r>
              <a:rPr lang="en-GB" sz="1600" i="1" dirty="0">
                <a:solidFill>
                  <a:schemeClr val="bg1">
                    <a:lumMod val="65000"/>
                  </a:schemeClr>
                </a:solidFill>
              </a:rPr>
              <a:t>Biometrics </a:t>
            </a:r>
            <a:r>
              <a:rPr lang="en-GB" sz="1600" dirty="0">
                <a:solidFill>
                  <a:schemeClr val="bg1">
                    <a:lumMod val="65000"/>
                  </a:schemeClr>
                </a:solidFill>
              </a:rPr>
              <a:t>60(1):108-115. </a:t>
            </a:r>
          </a:p>
        </p:txBody>
      </p:sp>
    </p:spTree>
    <p:extLst>
      <p:ext uri="{BB962C8B-B14F-4D97-AF65-F5344CB8AC3E}">
        <p14:creationId xmlns:p14="http://schemas.microsoft.com/office/powerpoint/2010/main" val="1732053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N-mixture models of population size</a:t>
            </a:r>
          </a:p>
        </p:txBody>
      </p:sp>
      <p:sp>
        <p:nvSpPr>
          <p:cNvPr id="3" name="Content Placeholder 2"/>
          <p:cNvSpPr>
            <a:spLocks noGrp="1"/>
          </p:cNvSpPr>
          <p:nvPr>
            <p:ph idx="1"/>
          </p:nvPr>
        </p:nvSpPr>
        <p:spPr>
          <a:xfrm>
            <a:off x="838200" y="1825625"/>
            <a:ext cx="5608782" cy="4351338"/>
          </a:xfrm>
        </p:spPr>
        <p:txBody>
          <a:bodyPr>
            <a:normAutofit/>
          </a:bodyPr>
          <a:lstStyle/>
          <a:p>
            <a:pPr marL="0" indent="0" algn="r">
              <a:buNone/>
            </a:pPr>
            <a:r>
              <a:rPr lang="en-GB" dirty="0"/>
              <a:t>Observation model:</a:t>
            </a:r>
          </a:p>
          <a:p>
            <a:pPr marL="0" indent="0" algn="r">
              <a:buNone/>
            </a:pPr>
            <a:endParaRPr lang="en-GB" dirty="0"/>
          </a:p>
          <a:p>
            <a:pPr marL="0" indent="0" algn="r">
              <a:buNone/>
            </a:pPr>
            <a:endParaRPr lang="en-GB" dirty="0"/>
          </a:p>
          <a:p>
            <a:pPr marL="0" indent="0" algn="r">
              <a:buNone/>
            </a:pPr>
            <a:endParaRPr lang="en-GB" dirty="0"/>
          </a:p>
          <a:p>
            <a:pPr marL="0" indent="0" algn="r">
              <a:buNone/>
            </a:pPr>
            <a:r>
              <a:rPr lang="en-GB" dirty="0"/>
              <a:t>Process model:</a:t>
            </a:r>
          </a:p>
        </p:txBody>
      </p:sp>
      <mc:AlternateContent xmlns:mc="http://schemas.openxmlformats.org/markup-compatibility/2006" xmlns:a14="http://schemas.microsoft.com/office/drawing/2010/main">
        <mc:Choice Requires="a14">
          <p:sp>
            <p:nvSpPr>
              <p:cNvPr id="4" name="Content Placeholder 2"/>
              <p:cNvSpPr txBox="1">
                <a:spLocks/>
              </p:cNvSpPr>
              <p:nvPr/>
            </p:nvSpPr>
            <p:spPr>
              <a:xfrm>
                <a:off x="6446982" y="1825625"/>
                <a:ext cx="4906818" cy="4351338"/>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𝑦</m:t>
                          </m:r>
                        </m:e>
                        <m:sub>
                          <m:r>
                            <a:rPr lang="en-GB" i="1">
                              <a:latin typeface="Cambria Math" panose="02040503050406030204" pitchFamily="18" charset="0"/>
                            </a:rPr>
                            <m:t>𝑖</m:t>
                          </m:r>
                          <m:r>
                            <a:rPr lang="en-GB" i="1">
                              <a:latin typeface="Cambria Math" panose="02040503050406030204" pitchFamily="18" charset="0"/>
                            </a:rPr>
                            <m:t>,</m:t>
                          </m:r>
                          <m:r>
                            <a:rPr lang="en-GB" i="1">
                              <a:latin typeface="Cambria Math" panose="02040503050406030204" pitchFamily="18" charset="0"/>
                            </a:rPr>
                            <m:t>𝑗</m:t>
                          </m:r>
                        </m:sub>
                      </m:sSub>
                      <m:r>
                        <a:rPr lang="en-GB" i="1">
                          <a:latin typeface="Cambria Math" panose="02040503050406030204" pitchFamily="18" charset="0"/>
                        </a:rPr>
                        <m:t> ~ </m:t>
                      </m:r>
                      <m:r>
                        <a:rPr lang="en-GB" i="1">
                          <a:latin typeface="Cambria Math" panose="02040503050406030204" pitchFamily="18" charset="0"/>
                        </a:rPr>
                        <m:t>𝐵𝑖𝑛𝑜𝑚𝑖𝑎𝑙</m:t>
                      </m:r>
                      <m:d>
                        <m:dPr>
                          <m:ctrlPr>
                            <a:rPr lang="en-GB" i="1">
                              <a:latin typeface="Cambria Math" panose="02040503050406030204" pitchFamily="18" charset="0"/>
                            </a:rPr>
                          </m:ctrlPr>
                        </m:dPr>
                        <m:e>
                          <m:sSub>
                            <m:sSubPr>
                              <m:ctrlPr>
                                <a:rPr lang="en-GB" i="1">
                                  <a:latin typeface="Cambria Math" panose="02040503050406030204" pitchFamily="18" charset="0"/>
                                </a:rPr>
                              </m:ctrlPr>
                            </m:sSubPr>
                            <m:e>
                              <m:r>
                                <a:rPr lang="en-GB" i="1">
                                  <a:latin typeface="Cambria Math" panose="02040503050406030204" pitchFamily="18" charset="0"/>
                                </a:rPr>
                                <m:t>𝑁</m:t>
                              </m:r>
                            </m:e>
                            <m:sub>
                              <m:r>
                                <a:rPr lang="en-GB" i="1">
                                  <a:latin typeface="Cambria Math" panose="02040503050406030204" pitchFamily="18" charset="0"/>
                                </a:rPr>
                                <m:t>𝑖</m:t>
                              </m:r>
                            </m:sub>
                          </m:sSub>
                          <m:r>
                            <a:rPr lang="en-GB" i="1">
                              <a:latin typeface="Cambria Math" panose="02040503050406030204" pitchFamily="18" charset="0"/>
                            </a:rPr>
                            <m:t>, </m:t>
                          </m:r>
                          <m:sSub>
                            <m:sSubPr>
                              <m:ctrlPr>
                                <a:rPr lang="en-GB" i="1">
                                  <a:latin typeface="Cambria Math" panose="02040503050406030204" pitchFamily="18" charset="0"/>
                                </a:rPr>
                              </m:ctrlPr>
                            </m:sSubPr>
                            <m:e>
                              <m:r>
                                <a:rPr lang="en-GB" i="1">
                                  <a:latin typeface="Cambria Math" panose="02040503050406030204" pitchFamily="18" charset="0"/>
                                </a:rPr>
                                <m:t>𝜌</m:t>
                              </m:r>
                            </m:e>
                            <m:sub>
                              <m:r>
                                <a:rPr lang="en-GB" i="1">
                                  <a:latin typeface="Cambria Math" panose="02040503050406030204" pitchFamily="18" charset="0"/>
                                </a:rPr>
                                <m:t>𝑖</m:t>
                              </m:r>
                              <m:r>
                                <a:rPr lang="en-GB" i="1">
                                  <a:latin typeface="Cambria Math" panose="02040503050406030204" pitchFamily="18" charset="0"/>
                                </a:rPr>
                                <m:t>,</m:t>
                              </m:r>
                              <m:r>
                                <a:rPr lang="en-GB" i="1">
                                  <a:latin typeface="Cambria Math" panose="02040503050406030204" pitchFamily="18" charset="0"/>
                                </a:rPr>
                                <m:t>𝑗</m:t>
                              </m:r>
                            </m:sub>
                          </m:sSub>
                        </m:e>
                      </m:d>
                    </m:oMath>
                  </m:oMathPara>
                </a14:m>
                <a:endParaRPr lang="en-GB" dirty="0"/>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r>
                        <a:rPr lang="en-GB" i="1">
                          <a:latin typeface="Cambria Math" panose="02040503050406030204" pitchFamily="18" charset="0"/>
                        </a:rPr>
                        <m:t>𝑙𝑜𝑔𝑖𝑡</m:t>
                      </m:r>
                      <m:d>
                        <m:dPr>
                          <m:ctrlPr>
                            <a:rPr lang="en-GB" i="1">
                              <a:latin typeface="Cambria Math" panose="02040503050406030204" pitchFamily="18" charset="0"/>
                            </a:rPr>
                          </m:ctrlPr>
                        </m:dPr>
                        <m:e>
                          <m:sSub>
                            <m:sSubPr>
                              <m:ctrlPr>
                                <a:rPr lang="en-GB" i="1">
                                  <a:latin typeface="Cambria Math" panose="02040503050406030204" pitchFamily="18" charset="0"/>
                                </a:rPr>
                              </m:ctrlPr>
                            </m:sSubPr>
                            <m:e>
                              <m:r>
                                <a:rPr lang="en-GB" i="1">
                                  <a:latin typeface="Cambria Math" panose="02040503050406030204" pitchFamily="18" charset="0"/>
                                </a:rPr>
                                <m:t>𝜌</m:t>
                              </m:r>
                            </m:e>
                            <m:sub>
                              <m:r>
                                <a:rPr lang="en-GB" i="1">
                                  <a:latin typeface="Cambria Math" panose="02040503050406030204" pitchFamily="18" charset="0"/>
                                </a:rPr>
                                <m:t>𝑖</m:t>
                              </m:r>
                              <m:r>
                                <a:rPr lang="en-GB" i="1">
                                  <a:latin typeface="Cambria Math" panose="02040503050406030204" pitchFamily="18" charset="0"/>
                                </a:rPr>
                                <m:t>,</m:t>
                              </m:r>
                              <m:r>
                                <a:rPr lang="en-GB" i="1">
                                  <a:latin typeface="Cambria Math" panose="02040503050406030204" pitchFamily="18" charset="0"/>
                                </a:rPr>
                                <m:t>𝑗</m:t>
                              </m:r>
                            </m:sub>
                          </m:sSub>
                        </m:e>
                      </m:d>
                      <m:r>
                        <a:rPr lang="en-GB" i="1">
                          <a:latin typeface="Cambria Math" panose="02040503050406030204" pitchFamily="18" charset="0"/>
                        </a:rPr>
                        <m:t>=</m:t>
                      </m:r>
                      <m:r>
                        <a:rPr lang="en-GB" i="1">
                          <a:latin typeface="Cambria Math" panose="02040503050406030204" pitchFamily="18" charset="0"/>
                        </a:rPr>
                        <m:t>𝛼</m:t>
                      </m:r>
                      <m:r>
                        <a:rPr lang="en-GB" i="1">
                          <a:latin typeface="Cambria Math" panose="02040503050406030204" pitchFamily="18" charset="0"/>
                        </a:rPr>
                        <m:t>+</m:t>
                      </m:r>
                      <m:r>
                        <a:rPr lang="en-GB" i="1">
                          <a:latin typeface="Cambria Math" panose="02040503050406030204" pitchFamily="18" charset="0"/>
                        </a:rPr>
                        <m:t>𝛽</m:t>
                      </m:r>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𝑖</m:t>
                          </m:r>
                          <m:r>
                            <a:rPr lang="en-GB" i="1">
                              <a:latin typeface="Cambria Math" panose="02040503050406030204" pitchFamily="18" charset="0"/>
                            </a:rPr>
                            <m:t>,</m:t>
                          </m:r>
                          <m:r>
                            <a:rPr lang="en-GB" i="1">
                              <a:latin typeface="Cambria Math" panose="02040503050406030204" pitchFamily="18" charset="0"/>
                            </a:rPr>
                            <m:t>𝑗</m:t>
                          </m:r>
                        </m:sub>
                      </m:sSub>
                    </m:oMath>
                  </m:oMathPara>
                </a14:m>
                <a:endParaRPr lang="en-GB" dirty="0"/>
              </a:p>
              <a:p>
                <a:pPr marL="0" indent="0">
                  <a:buNone/>
                </a:pPr>
                <a:endParaRPr lang="en-GB" b="0" i="1" dirty="0">
                  <a:latin typeface="Cambria Math" panose="02040503050406030204" pitchFamily="18" charset="0"/>
                </a:endParaRPr>
              </a:p>
              <a:p>
                <a:pPr marL="0" indent="0">
                  <a:buNone/>
                </a:pPr>
                <a:endParaRPr lang="en-GB"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𝑁</m:t>
                          </m:r>
                        </m:e>
                        <m:sub>
                          <m:r>
                            <a:rPr lang="en-GB" b="0" i="1" smtClean="0">
                              <a:latin typeface="Cambria Math" panose="02040503050406030204" pitchFamily="18" charset="0"/>
                            </a:rPr>
                            <m:t>𝑖</m:t>
                          </m:r>
                        </m:sub>
                      </m:sSub>
                      <m:r>
                        <a:rPr lang="en-GB" b="0" i="1" smtClean="0">
                          <a:latin typeface="Cambria Math" panose="02040503050406030204" pitchFamily="18" charset="0"/>
                        </a:rPr>
                        <m:t> ~ </m:t>
                      </m:r>
                      <m:r>
                        <a:rPr lang="en-GB" b="0" i="1" smtClean="0">
                          <a:latin typeface="Cambria Math" panose="02040503050406030204" pitchFamily="18" charset="0"/>
                        </a:rPr>
                        <m:t>𝑃𝑜𝑖𝑠𝑠𝑜𝑛</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𝜆</m:t>
                              </m:r>
                            </m:e>
                            <m:sub>
                              <m:r>
                                <a:rPr lang="en-GB" b="0" i="1" smtClean="0">
                                  <a:latin typeface="Cambria Math" panose="02040503050406030204" pitchFamily="18" charset="0"/>
                                </a:rPr>
                                <m:t>𝑖</m:t>
                              </m:r>
                            </m:sub>
                          </m:sSub>
                        </m:e>
                      </m:d>
                    </m:oMath>
                  </m:oMathPara>
                </a14:m>
                <a:endParaRPr lang="en-GB" b="0" i="1" dirty="0">
                  <a:latin typeface="Cambria Math" panose="02040503050406030204" pitchFamily="18" charset="0"/>
                </a:endParaRPr>
              </a:p>
              <a:p>
                <a:pPr marL="0" indent="0">
                  <a:buNone/>
                </a:pPr>
                <a:endParaRPr lang="en-GB"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func>
                        <m:funcPr>
                          <m:ctrlPr>
                            <a:rPr lang="en-GB" b="0" i="1" smtClean="0">
                              <a:latin typeface="Cambria Math" panose="02040503050406030204" pitchFamily="18" charset="0"/>
                            </a:rPr>
                          </m:ctrlPr>
                        </m:funcPr>
                        <m:fName>
                          <m:r>
                            <m:rPr>
                              <m:sty m:val="p"/>
                            </m:rPr>
                            <a:rPr lang="en-GB" b="0" i="0" smtClean="0">
                              <a:latin typeface="Cambria Math" panose="02040503050406030204" pitchFamily="18" charset="0"/>
                            </a:rPr>
                            <m:t>log</m:t>
                          </m:r>
                        </m:fName>
                        <m:e>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𝜆</m:t>
                                  </m:r>
                                </m:e>
                                <m:sub>
                                  <m:r>
                                    <a:rPr lang="en-GB" b="0" i="1" smtClean="0">
                                      <a:latin typeface="Cambria Math" panose="02040503050406030204" pitchFamily="18" charset="0"/>
                                    </a:rPr>
                                    <m:t>𝑖</m:t>
                                  </m:r>
                                </m:sub>
                              </m:sSub>
                            </m:e>
                          </m:d>
                        </m:e>
                      </m:func>
                      <m:r>
                        <a:rPr lang="en-GB" i="1">
                          <a:latin typeface="Cambria Math" panose="02040503050406030204" pitchFamily="18" charset="0"/>
                        </a:rPr>
                        <m:t>=</m:t>
                      </m:r>
                      <m:r>
                        <a:rPr lang="en-GB" i="1">
                          <a:latin typeface="Cambria Math" panose="02040503050406030204" pitchFamily="18" charset="0"/>
                        </a:rPr>
                        <m:t>𝛼</m:t>
                      </m:r>
                      <m:r>
                        <a:rPr lang="en-GB" i="1">
                          <a:latin typeface="Cambria Math" panose="02040503050406030204" pitchFamily="18" charset="0"/>
                        </a:rPr>
                        <m:t>+</m:t>
                      </m:r>
                      <m:nary>
                        <m:naryPr>
                          <m:chr m:val="∑"/>
                          <m:ctrlPr>
                            <a:rPr lang="en-GB" i="1">
                              <a:latin typeface="Cambria Math" panose="02040503050406030204" pitchFamily="18" charset="0"/>
                            </a:rPr>
                          </m:ctrlPr>
                        </m:naryPr>
                        <m:sub>
                          <m:r>
                            <m:rPr>
                              <m:brk m:alnAt="23"/>
                            </m:rPr>
                            <a:rPr lang="en-GB" i="1">
                              <a:latin typeface="Cambria Math" panose="02040503050406030204" pitchFamily="18" charset="0"/>
                            </a:rPr>
                            <m:t>𝑘</m:t>
                          </m:r>
                          <m:r>
                            <a:rPr lang="en-GB" i="1">
                              <a:latin typeface="Cambria Math" panose="02040503050406030204" pitchFamily="18" charset="0"/>
                            </a:rPr>
                            <m:t>=1</m:t>
                          </m:r>
                        </m:sub>
                        <m:sup>
                          <m:r>
                            <a:rPr lang="en-GB" i="1">
                              <a:latin typeface="Cambria Math" panose="02040503050406030204" pitchFamily="18" charset="0"/>
                            </a:rPr>
                            <m:t>𝐾</m:t>
                          </m:r>
                        </m:sup>
                        <m:e>
                          <m:sSub>
                            <m:sSubPr>
                              <m:ctrlPr>
                                <a:rPr lang="en-GB" i="1">
                                  <a:latin typeface="Cambria Math" panose="02040503050406030204" pitchFamily="18" charset="0"/>
                                </a:rPr>
                              </m:ctrlPr>
                            </m:sSubPr>
                            <m:e>
                              <m:r>
                                <a:rPr lang="en-GB" i="1">
                                  <a:latin typeface="Cambria Math" panose="02040503050406030204" pitchFamily="18" charset="0"/>
                                </a:rPr>
                                <m:t>𝛽</m:t>
                              </m:r>
                            </m:e>
                            <m:sub>
                              <m:r>
                                <a:rPr lang="en-GB" i="1">
                                  <a:latin typeface="Cambria Math" panose="02040503050406030204" pitchFamily="18" charset="0"/>
                                </a:rPr>
                                <m:t>𝑘</m:t>
                              </m:r>
                            </m:sub>
                          </m:sSub>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𝑘</m:t>
                              </m:r>
                              <m:r>
                                <a:rPr lang="en-GB" i="1">
                                  <a:latin typeface="Cambria Math" panose="02040503050406030204" pitchFamily="18" charset="0"/>
                                </a:rPr>
                                <m:t>,</m:t>
                              </m:r>
                              <m:r>
                                <a:rPr lang="en-GB" i="1">
                                  <a:latin typeface="Cambria Math" panose="02040503050406030204" pitchFamily="18" charset="0"/>
                                </a:rPr>
                                <m:t>𝑖</m:t>
                              </m:r>
                            </m:sub>
                          </m:sSub>
                        </m:e>
                      </m:nary>
                    </m:oMath>
                  </m:oMathPara>
                </a14:m>
                <a:endParaRPr lang="en-GB" b="0" i="1" dirty="0">
                  <a:latin typeface="Cambria Math" panose="02040503050406030204" pitchFamily="18" charset="0"/>
                </a:endParaRPr>
              </a:p>
              <a:p>
                <a:pPr marL="0" indent="0">
                  <a:buNone/>
                </a:pPr>
                <a:endParaRPr lang="en-GB" i="1" dirty="0">
                  <a:latin typeface="Cambria Math" panose="02040503050406030204" pitchFamily="18" charset="0"/>
                </a:endParaRPr>
              </a:p>
            </p:txBody>
          </p:sp>
        </mc:Choice>
        <mc:Fallback xmlns="">
          <p:sp>
            <p:nvSpPr>
              <p:cNvPr id="4" name="Content Placeholder 2"/>
              <p:cNvSpPr txBox="1">
                <a:spLocks noRot="1" noChangeAspect="1" noMove="1" noResize="1" noEditPoints="1" noAdjustHandles="1" noChangeArrowheads="1" noChangeShapeType="1" noTextEdit="1"/>
              </p:cNvSpPr>
              <p:nvPr/>
            </p:nvSpPr>
            <p:spPr>
              <a:xfrm>
                <a:off x="6446982" y="1825625"/>
                <a:ext cx="4906818" cy="4351338"/>
              </a:xfrm>
              <a:prstGeom prst="rect">
                <a:avLst/>
              </a:prstGeom>
              <a:blipFill>
                <a:blip r:embed="rId2"/>
                <a:stretch>
                  <a:fillRect/>
                </a:stretch>
              </a:blipFill>
            </p:spPr>
            <p:txBody>
              <a:bodyPr/>
              <a:lstStyle/>
              <a:p>
                <a:r>
                  <a:rPr lang="en-GB">
                    <a:noFill/>
                  </a:rPr>
                  <a:t> </a:t>
                </a:r>
              </a:p>
            </p:txBody>
          </p:sp>
        </mc:Fallback>
      </mc:AlternateContent>
      <p:sp>
        <p:nvSpPr>
          <p:cNvPr id="5" name="TextBox 4"/>
          <p:cNvSpPr txBox="1"/>
          <p:nvPr/>
        </p:nvSpPr>
        <p:spPr>
          <a:xfrm>
            <a:off x="6659418" y="6261824"/>
            <a:ext cx="5532582" cy="584775"/>
          </a:xfrm>
          <a:prstGeom prst="rect">
            <a:avLst/>
          </a:prstGeom>
          <a:noFill/>
        </p:spPr>
        <p:txBody>
          <a:bodyPr wrap="square" rtlCol="0">
            <a:spAutoFit/>
          </a:bodyPr>
          <a:lstStyle/>
          <a:p>
            <a:pPr algn="r"/>
            <a:r>
              <a:rPr lang="en-GB" sz="1600" dirty="0" err="1">
                <a:solidFill>
                  <a:schemeClr val="bg1">
                    <a:lumMod val="65000"/>
                  </a:schemeClr>
                </a:solidFill>
              </a:rPr>
              <a:t>Royle</a:t>
            </a:r>
            <a:r>
              <a:rPr lang="en-GB" sz="1600" dirty="0">
                <a:solidFill>
                  <a:schemeClr val="bg1">
                    <a:lumMod val="65000"/>
                  </a:schemeClr>
                </a:solidFill>
              </a:rPr>
              <a:t> A. 2004. N-mixture models for estimating population size from spatially replicated counts. </a:t>
            </a:r>
            <a:r>
              <a:rPr lang="en-GB" sz="1600" i="1" dirty="0">
                <a:solidFill>
                  <a:schemeClr val="bg1">
                    <a:lumMod val="65000"/>
                  </a:schemeClr>
                </a:solidFill>
              </a:rPr>
              <a:t>Biometrics </a:t>
            </a:r>
            <a:r>
              <a:rPr lang="en-GB" sz="1600" dirty="0">
                <a:solidFill>
                  <a:schemeClr val="bg1">
                    <a:lumMod val="65000"/>
                  </a:schemeClr>
                </a:solidFill>
              </a:rPr>
              <a:t>60(1):108-115. </a:t>
            </a:r>
          </a:p>
        </p:txBody>
      </p:sp>
    </p:spTree>
    <p:extLst>
      <p:ext uri="{BB962C8B-B14F-4D97-AF65-F5344CB8AC3E}">
        <p14:creationId xmlns:p14="http://schemas.microsoft.com/office/powerpoint/2010/main" val="19275124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State-space models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7767782" y="1825625"/>
                <a:ext cx="3586018" cy="4351338"/>
              </a:xfrm>
            </p:spPr>
            <p:txBody>
              <a:bodyPr/>
              <a:lstStyle/>
              <a:p>
                <a:pPr marL="0" indent="0">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𝑃</m:t>
                          </m:r>
                          <m:r>
                            <a:rPr lang="en-GB" b="0" i="1" smtClean="0">
                              <a:latin typeface="Cambria Math" panose="02040503050406030204" pitchFamily="18" charset="0"/>
                            </a:rPr>
                            <m:t>(</m:t>
                          </m:r>
                          <m:r>
                            <a:rPr lang="en-GB" b="0" i="1" smtClean="0">
                              <a:latin typeface="Cambria Math" panose="02040503050406030204" pitchFamily="18" charset="0"/>
                            </a:rPr>
                            <m:t>𝑧</m:t>
                          </m:r>
                        </m:e>
                        <m:sub>
                          <m:r>
                            <a:rPr lang="en-GB" b="0" i="1" smtClean="0">
                              <a:latin typeface="Cambria Math" panose="02040503050406030204" pitchFamily="18" charset="0"/>
                            </a:rPr>
                            <m:t>𝑡</m:t>
                          </m:r>
                        </m:sub>
                      </m:sSub>
                      <m:r>
                        <a:rPr lang="en-GB" b="0" i="1" smtClean="0">
                          <a:latin typeface="Cambria Math" panose="02040503050406030204" pitchFamily="18" charset="0"/>
                        </a:rPr>
                        <m:t> </m:t>
                      </m:r>
                      <m:d>
                        <m:dPr>
                          <m:begChr m:val="|"/>
                          <m:ctrlPr>
                            <a:rPr lang="en-GB" b="0" i="1" smtClean="0">
                              <a:latin typeface="Cambria Math" panose="02040503050406030204" pitchFamily="18" charset="0"/>
                            </a:rPr>
                          </m:ctrlPr>
                        </m:dPr>
                        <m:e>
                          <m:r>
                            <a:rPr lang="en-GB" b="0" i="1" smtClean="0">
                              <a:latin typeface="Cambria Math" panose="02040503050406030204" pitchFamily="18" charset="0"/>
                            </a:rPr>
                            <m:t> </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𝜃</m:t>
                              </m:r>
                              <m:r>
                                <a:rPr lang="en-GB" b="0" i="1" smtClean="0">
                                  <a:latin typeface="Cambria Math" panose="02040503050406030204" pitchFamily="18" charset="0"/>
                                </a:rPr>
                                <m:t>𝑧</m:t>
                              </m:r>
                            </m:e>
                            <m:sub>
                              <m:r>
                                <a:rPr lang="en-GB" b="0" i="1" smtClean="0">
                                  <a:latin typeface="Cambria Math" panose="02040503050406030204" pitchFamily="18" charset="0"/>
                                </a:rPr>
                                <m:t>𝑡</m:t>
                              </m:r>
                              <m:r>
                                <a:rPr lang="en-GB" b="0" i="1" smtClean="0">
                                  <a:latin typeface="Cambria Math" panose="02040503050406030204" pitchFamily="18" charset="0"/>
                                </a:rPr>
                                <m:t>−1</m:t>
                              </m:r>
                            </m:sub>
                          </m:sSub>
                          <m:r>
                            <a:rPr lang="en-GB" b="0" i="1" smtClean="0">
                              <a:latin typeface="Cambria Math" panose="02040503050406030204" pitchFamily="18" charset="0"/>
                            </a:rPr>
                            <m:t>, </m:t>
                          </m:r>
                          <m:r>
                            <a:rPr lang="en-GB" b="0" i="1" smtClean="0">
                              <a:latin typeface="Cambria Math" panose="02040503050406030204" pitchFamily="18" charset="0"/>
                            </a:rPr>
                            <m:t>𝜖</m:t>
                          </m:r>
                        </m:e>
                      </m:d>
                    </m:oMath>
                  </m:oMathPara>
                </a14:m>
                <a:endParaRPr lang="en-GB" b="0" dirty="0"/>
              </a:p>
              <a:p>
                <a:pPr marL="0" indent="0">
                  <a:buNone/>
                </a:pPr>
                <a:endParaRPr lang="en-GB" b="0" dirty="0"/>
              </a:p>
              <a:p>
                <a:pPr marL="0" indent="0">
                  <a:buNone/>
                </a:pPr>
                <a:endParaRPr lang="en-GB" b="0" i="1" dirty="0">
                  <a:latin typeface="Cambria Math" panose="02040503050406030204" pitchFamily="18" charset="0"/>
                </a:endParaRPr>
              </a:p>
              <a:p>
                <a:pPr marL="0" indent="0">
                  <a:buNone/>
                </a:pPr>
                <a:endParaRPr lang="en-GB"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𝑃</m:t>
                      </m:r>
                      <m:d>
                        <m:dPr>
                          <m:endChr m:val="|"/>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𝑡</m:t>
                              </m:r>
                            </m:sub>
                          </m:sSub>
                          <m:r>
                            <a:rPr lang="en-GB" b="0" i="1" smtClean="0">
                              <a:latin typeface="Cambria Math" panose="02040503050406030204" pitchFamily="18" charset="0"/>
                            </a:rPr>
                            <m:t> </m:t>
                          </m:r>
                        </m:e>
                      </m:d>
                      <m:r>
                        <a:rPr lang="en-GB" b="0" i="1" smtClean="0">
                          <a:latin typeface="Cambria Math" panose="02040503050406030204" pitchFamily="18" charset="0"/>
                        </a:rPr>
                        <m:t> </m:t>
                      </m:r>
                      <m:r>
                        <a:rPr lang="en-GB" b="0" i="1" smtClean="0">
                          <a:latin typeface="Cambria Math" panose="02040503050406030204" pitchFamily="18" charset="0"/>
                        </a:rPr>
                        <m:t>𝛽</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𝑧</m:t>
                          </m:r>
                        </m:e>
                        <m:sub>
                          <m:r>
                            <a:rPr lang="en-GB" b="0" i="1" smtClean="0">
                              <a:latin typeface="Cambria Math" panose="02040503050406030204" pitchFamily="18" charset="0"/>
                            </a:rPr>
                            <m:t>𝑡</m:t>
                          </m:r>
                        </m:sub>
                      </m:sSub>
                      <m:r>
                        <a:rPr lang="en-GB" b="0" i="1" smtClean="0">
                          <a:latin typeface="Cambria Math" panose="02040503050406030204" pitchFamily="18" charset="0"/>
                        </a:rPr>
                        <m:t>, </m:t>
                      </m:r>
                      <m:r>
                        <a:rPr lang="en-GB" b="0" i="1" smtClean="0">
                          <a:latin typeface="Cambria Math" panose="02040503050406030204" pitchFamily="18" charset="0"/>
                        </a:rPr>
                        <m:t>𝜎</m:t>
                      </m:r>
                      <m:r>
                        <a:rPr lang="en-GB" b="0" i="1" smtClean="0">
                          <a:latin typeface="Cambria Math" panose="02040503050406030204" pitchFamily="18" charset="0"/>
                        </a:rPr>
                        <m:t>)</m:t>
                      </m:r>
                    </m:oMath>
                  </m:oMathPara>
                </a14:m>
                <a:endParaRPr lang="en-GB"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7767782" y="1825625"/>
                <a:ext cx="3586018" cy="4351338"/>
              </a:xfr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 name="Content Placeholder 2"/>
              <p:cNvSpPr txBox="1">
                <a:spLocks/>
              </p:cNvSpPr>
              <p:nvPr/>
            </p:nvSpPr>
            <p:spPr>
              <a:xfrm>
                <a:off x="988290" y="1825625"/>
                <a:ext cx="6991927"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Unobserved process in which the state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𝑧</m:t>
                        </m:r>
                      </m:e>
                      <m:sub>
                        <m:r>
                          <a:rPr lang="en-GB" b="0" i="1" smtClean="0">
                            <a:latin typeface="Cambria Math" panose="02040503050406030204" pitchFamily="18" charset="0"/>
                          </a:rPr>
                          <m:t>𝑡</m:t>
                        </m:r>
                      </m:sub>
                    </m:sSub>
                  </m:oMath>
                </a14:m>
                <a:r>
                  <a:rPr lang="en-GB" dirty="0"/>
                  <a:t> of the system at time </a:t>
                </a:r>
                <a14:m>
                  <m:oMath xmlns:m="http://schemas.openxmlformats.org/officeDocument/2006/math">
                    <m:r>
                      <a:rPr lang="en-GB" b="0" i="1" smtClean="0">
                        <a:latin typeface="Cambria Math" panose="02040503050406030204" pitchFamily="18" charset="0"/>
                      </a:rPr>
                      <m:t>𝑡</m:t>
                    </m:r>
                  </m:oMath>
                </a14:m>
                <a:r>
                  <a:rPr lang="en-GB" dirty="0"/>
                  <a:t> depends on the state in the previous time step with stochastic variation </a:t>
                </a:r>
                <a14:m>
                  <m:oMath xmlns:m="http://schemas.openxmlformats.org/officeDocument/2006/math">
                    <m:r>
                      <a:rPr lang="en-GB" b="0" i="1" smtClean="0">
                        <a:latin typeface="Cambria Math" panose="02040503050406030204" pitchFamily="18" charset="0"/>
                      </a:rPr>
                      <m:t>𝜖</m:t>
                    </m:r>
                  </m:oMath>
                </a14:m>
                <a:endParaRPr lang="en-GB" dirty="0"/>
              </a:p>
              <a:p>
                <a:r>
                  <a:rPr lang="en-GB" dirty="0"/>
                  <a:t>Observed data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𝑡</m:t>
                        </m:r>
                      </m:sub>
                    </m:sSub>
                  </m:oMath>
                </a14:m>
                <a:r>
                  <a:rPr lang="en-GB" dirty="0"/>
                  <a:t> that are dependent on the process state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𝑧</m:t>
                        </m:r>
                      </m:e>
                      <m:sub>
                        <m:r>
                          <a:rPr lang="en-GB" b="0" i="1" smtClean="0">
                            <a:latin typeface="Cambria Math" panose="02040503050406030204" pitchFamily="18" charset="0"/>
                          </a:rPr>
                          <m:t>𝑡</m:t>
                        </m:r>
                      </m:sub>
                    </m:sSub>
                  </m:oMath>
                </a14:m>
                <a:r>
                  <a:rPr lang="en-GB" dirty="0"/>
                  <a:t> with observation error </a:t>
                </a:r>
                <a14:m>
                  <m:oMath xmlns:m="http://schemas.openxmlformats.org/officeDocument/2006/math">
                    <m:r>
                      <a:rPr lang="en-GB" b="0" i="1" smtClean="0">
                        <a:latin typeface="Cambria Math" panose="02040503050406030204" pitchFamily="18" charset="0"/>
                      </a:rPr>
                      <m:t>𝜎</m:t>
                    </m:r>
                  </m:oMath>
                </a14:m>
                <a:endParaRPr lang="en-GB" dirty="0"/>
              </a:p>
              <a:p>
                <a:r>
                  <a:rPr lang="en-GB" dirty="0"/>
                  <a:t>Make inferences about a process that you cannot observe directly</a:t>
                </a:r>
              </a:p>
              <a:p>
                <a:r>
                  <a:rPr lang="en-GB" dirty="0"/>
                  <a:t>Estimate process error separately from observation error</a:t>
                </a:r>
              </a:p>
            </p:txBody>
          </p:sp>
        </mc:Choice>
        <mc:Fallback xmlns="">
          <p:sp>
            <p:nvSpPr>
              <p:cNvPr id="4" name="Content Placeholder 2"/>
              <p:cNvSpPr txBox="1">
                <a:spLocks noRot="1" noChangeAspect="1" noMove="1" noResize="1" noEditPoints="1" noAdjustHandles="1" noChangeArrowheads="1" noChangeShapeType="1" noTextEdit="1"/>
              </p:cNvSpPr>
              <p:nvPr/>
            </p:nvSpPr>
            <p:spPr>
              <a:xfrm>
                <a:off x="988290" y="1825625"/>
                <a:ext cx="6991927" cy="4351338"/>
              </a:xfrm>
              <a:prstGeom prst="rect">
                <a:avLst/>
              </a:prstGeom>
              <a:blipFill>
                <a:blip r:embed="rId3"/>
                <a:stretch>
                  <a:fillRect l="-1569" t="-2241" r="-523" b="-3081"/>
                </a:stretch>
              </a:blipFill>
            </p:spPr>
            <p:txBody>
              <a:bodyPr/>
              <a:lstStyle/>
              <a:p>
                <a:r>
                  <a:rPr lang="en-GB">
                    <a:noFill/>
                  </a:rPr>
                  <a:t> </a:t>
                </a:r>
              </a:p>
            </p:txBody>
          </p:sp>
        </mc:Fallback>
      </mc:AlternateContent>
    </p:spTree>
    <p:extLst>
      <p:ext uri="{BB962C8B-B14F-4D97-AF65-F5344CB8AC3E}">
        <p14:creationId xmlns:p14="http://schemas.microsoft.com/office/powerpoint/2010/main" val="25530183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State-space models</a:t>
            </a:r>
            <a:br>
              <a:rPr lang="en-GB" dirty="0"/>
            </a:br>
            <a:r>
              <a:rPr lang="en-GB" sz="3200" dirty="0"/>
              <a:t>Hidden Markov model is a specific case of this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7767782" y="1825625"/>
                <a:ext cx="3586018" cy="4351338"/>
              </a:xfrm>
            </p:spPr>
            <p:txBody>
              <a:bodyPr/>
              <a:lstStyle/>
              <a:p>
                <a:pPr marL="0" indent="0">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𝑃</m:t>
                          </m:r>
                          <m:r>
                            <a:rPr lang="en-GB" b="0" i="1" smtClean="0">
                              <a:latin typeface="Cambria Math" panose="02040503050406030204" pitchFamily="18" charset="0"/>
                            </a:rPr>
                            <m:t>(</m:t>
                          </m:r>
                          <m:r>
                            <a:rPr lang="en-GB" b="0" i="1" smtClean="0">
                              <a:latin typeface="Cambria Math" panose="02040503050406030204" pitchFamily="18" charset="0"/>
                            </a:rPr>
                            <m:t>𝑧</m:t>
                          </m:r>
                        </m:e>
                        <m:sub>
                          <m:r>
                            <a:rPr lang="en-GB" b="0" i="1" smtClean="0">
                              <a:latin typeface="Cambria Math" panose="02040503050406030204" pitchFamily="18" charset="0"/>
                            </a:rPr>
                            <m:t>𝑡</m:t>
                          </m:r>
                        </m:sub>
                      </m:sSub>
                      <m:r>
                        <a:rPr lang="en-GB" b="0" i="1" smtClean="0">
                          <a:latin typeface="Cambria Math" panose="02040503050406030204" pitchFamily="18" charset="0"/>
                        </a:rPr>
                        <m:t> </m:t>
                      </m:r>
                      <m:d>
                        <m:dPr>
                          <m:begChr m:val="|"/>
                          <m:ctrlPr>
                            <a:rPr lang="en-GB" b="0" i="1" smtClean="0">
                              <a:latin typeface="Cambria Math" panose="02040503050406030204" pitchFamily="18" charset="0"/>
                            </a:rPr>
                          </m:ctrlPr>
                        </m:dPr>
                        <m:e>
                          <m:r>
                            <a:rPr lang="en-GB" b="0" i="1" smtClean="0">
                              <a:latin typeface="Cambria Math" panose="02040503050406030204" pitchFamily="18" charset="0"/>
                            </a:rPr>
                            <m:t> </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𝜃</m:t>
                              </m:r>
                              <m:r>
                                <a:rPr lang="en-GB" b="0" i="1" smtClean="0">
                                  <a:latin typeface="Cambria Math" panose="02040503050406030204" pitchFamily="18" charset="0"/>
                                </a:rPr>
                                <m:t>𝑧</m:t>
                              </m:r>
                            </m:e>
                            <m:sub>
                              <m:r>
                                <a:rPr lang="en-GB" b="0" i="1" smtClean="0">
                                  <a:latin typeface="Cambria Math" panose="02040503050406030204" pitchFamily="18" charset="0"/>
                                </a:rPr>
                                <m:t>𝑡</m:t>
                              </m:r>
                              <m:r>
                                <a:rPr lang="en-GB" b="0" i="1" smtClean="0">
                                  <a:latin typeface="Cambria Math" panose="02040503050406030204" pitchFamily="18" charset="0"/>
                                </a:rPr>
                                <m:t>−1</m:t>
                              </m:r>
                            </m:sub>
                          </m:sSub>
                          <m:r>
                            <a:rPr lang="en-GB" b="0" i="1" smtClean="0">
                              <a:latin typeface="Cambria Math" panose="02040503050406030204" pitchFamily="18" charset="0"/>
                            </a:rPr>
                            <m:t>, </m:t>
                          </m:r>
                          <m:r>
                            <a:rPr lang="en-GB" b="0" i="1" smtClean="0">
                              <a:latin typeface="Cambria Math" panose="02040503050406030204" pitchFamily="18" charset="0"/>
                            </a:rPr>
                            <m:t>𝜖</m:t>
                          </m:r>
                        </m:e>
                      </m:d>
                    </m:oMath>
                  </m:oMathPara>
                </a14:m>
                <a:endParaRPr lang="en-GB" b="0" dirty="0"/>
              </a:p>
              <a:p>
                <a:pPr marL="0" indent="0">
                  <a:buNone/>
                </a:pPr>
                <a:endParaRPr lang="en-GB" b="0" dirty="0"/>
              </a:p>
              <a:p>
                <a:pPr marL="0" indent="0">
                  <a:buNone/>
                </a:pPr>
                <a:endParaRPr lang="en-GB" b="0" i="1" dirty="0">
                  <a:latin typeface="Cambria Math" panose="02040503050406030204" pitchFamily="18" charset="0"/>
                </a:endParaRPr>
              </a:p>
              <a:p>
                <a:pPr marL="0" indent="0">
                  <a:buNone/>
                </a:pPr>
                <a:endParaRPr lang="en-GB"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𝑃</m:t>
                      </m:r>
                      <m:d>
                        <m:dPr>
                          <m:endChr m:val="|"/>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𝑡</m:t>
                              </m:r>
                            </m:sub>
                          </m:sSub>
                          <m:r>
                            <a:rPr lang="en-GB" b="0" i="1" smtClean="0">
                              <a:latin typeface="Cambria Math" panose="02040503050406030204" pitchFamily="18" charset="0"/>
                            </a:rPr>
                            <m:t> </m:t>
                          </m:r>
                        </m:e>
                      </m:d>
                      <m:r>
                        <a:rPr lang="en-GB" b="0" i="1" smtClean="0">
                          <a:latin typeface="Cambria Math" panose="02040503050406030204" pitchFamily="18" charset="0"/>
                        </a:rPr>
                        <m:t> </m:t>
                      </m:r>
                      <m:r>
                        <a:rPr lang="en-GB" b="0" i="1" smtClean="0">
                          <a:latin typeface="Cambria Math" panose="02040503050406030204" pitchFamily="18" charset="0"/>
                        </a:rPr>
                        <m:t>𝛽</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𝑧</m:t>
                          </m:r>
                        </m:e>
                        <m:sub>
                          <m:r>
                            <a:rPr lang="en-GB" b="0" i="1" smtClean="0">
                              <a:latin typeface="Cambria Math" panose="02040503050406030204" pitchFamily="18" charset="0"/>
                            </a:rPr>
                            <m:t>𝑡</m:t>
                          </m:r>
                        </m:sub>
                      </m:sSub>
                      <m:r>
                        <a:rPr lang="en-GB" b="0" i="1" smtClean="0">
                          <a:latin typeface="Cambria Math" panose="02040503050406030204" pitchFamily="18" charset="0"/>
                        </a:rPr>
                        <m:t>, </m:t>
                      </m:r>
                      <m:r>
                        <a:rPr lang="en-GB" b="0" i="1" smtClean="0">
                          <a:latin typeface="Cambria Math" panose="02040503050406030204" pitchFamily="18" charset="0"/>
                        </a:rPr>
                        <m:t>𝜎</m:t>
                      </m:r>
                      <m:r>
                        <a:rPr lang="en-GB" b="0" i="1" smtClean="0">
                          <a:latin typeface="Cambria Math" panose="02040503050406030204" pitchFamily="18" charset="0"/>
                        </a:rPr>
                        <m:t>)</m:t>
                      </m:r>
                    </m:oMath>
                  </m:oMathPara>
                </a14:m>
                <a:endParaRPr lang="en-GB"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7767782" y="1825625"/>
                <a:ext cx="3586018" cy="4351338"/>
              </a:xfrm>
              <a:blipFill>
                <a:blip r:embed="rId2"/>
                <a:stretch>
                  <a:fillRect/>
                </a:stretch>
              </a:blipFill>
            </p:spPr>
            <p:txBody>
              <a:bodyPr/>
              <a:lstStyle/>
              <a:p>
                <a:r>
                  <a:rPr lang="en-GB">
                    <a:noFill/>
                  </a:rPr>
                  <a:t> </a:t>
                </a:r>
              </a:p>
            </p:txBody>
          </p:sp>
        </mc:Fallback>
      </mc:AlternateContent>
      <p:sp>
        <p:nvSpPr>
          <p:cNvPr id="4" name="Content Placeholder 2"/>
          <p:cNvSpPr txBox="1">
            <a:spLocks/>
          </p:cNvSpPr>
          <p:nvPr/>
        </p:nvSpPr>
        <p:spPr>
          <a:xfrm>
            <a:off x="988290" y="1825625"/>
            <a:ext cx="6991927"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GB" dirty="0"/>
              <a:t>Process model:</a:t>
            </a:r>
          </a:p>
          <a:p>
            <a:pPr marL="0" indent="0" algn="r">
              <a:buNone/>
            </a:pPr>
            <a:endParaRPr lang="en-GB" dirty="0"/>
          </a:p>
          <a:p>
            <a:pPr marL="0" indent="0" algn="r">
              <a:buNone/>
            </a:pPr>
            <a:endParaRPr lang="en-GB" dirty="0"/>
          </a:p>
          <a:p>
            <a:pPr marL="0" indent="0" algn="r">
              <a:buNone/>
            </a:pPr>
            <a:endParaRPr lang="en-GB" dirty="0"/>
          </a:p>
          <a:p>
            <a:pPr marL="0" indent="0" algn="r">
              <a:buNone/>
            </a:pPr>
            <a:r>
              <a:rPr lang="en-GB" dirty="0"/>
              <a:t>Observation model:</a:t>
            </a:r>
          </a:p>
        </p:txBody>
      </p:sp>
    </p:spTree>
    <p:extLst>
      <p:ext uri="{BB962C8B-B14F-4D97-AF65-F5344CB8AC3E}">
        <p14:creationId xmlns:p14="http://schemas.microsoft.com/office/powerpoint/2010/main" val="194888736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Dail</a:t>
            </a:r>
            <a:r>
              <a:rPr lang="en-GB" dirty="0"/>
              <a:t>-Madsen open population models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825625"/>
                <a:ext cx="5461000" cy="4351338"/>
              </a:xfrm>
            </p:spPr>
            <p:txBody>
              <a:bodyPr/>
              <a:lstStyle/>
              <a:p>
                <a:r>
                  <a:rPr lang="en-GB" dirty="0"/>
                  <a:t>Apparent survival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𝑆</m:t>
                        </m:r>
                      </m:e>
                      <m:sub>
                        <m:r>
                          <a:rPr lang="en-GB" b="0" i="1" smtClean="0">
                            <a:latin typeface="Cambria Math" panose="02040503050406030204" pitchFamily="18" charset="0"/>
                          </a:rPr>
                          <m:t>𝑖</m:t>
                        </m:r>
                        <m:r>
                          <a:rPr lang="en-GB" b="0" i="1" smtClean="0">
                            <a:latin typeface="Cambria Math" panose="02040503050406030204" pitchFamily="18" charset="0"/>
                          </a:rPr>
                          <m:t>,</m:t>
                        </m:r>
                        <m:r>
                          <a:rPr lang="en-GB" b="0" i="1" smtClean="0">
                            <a:latin typeface="Cambria Math" panose="02040503050406030204" pitchFamily="18" charset="0"/>
                          </a:rPr>
                          <m:t>𝑡</m:t>
                        </m:r>
                      </m:sub>
                    </m:sSub>
                  </m:oMath>
                </a14:m>
                <a:r>
                  <a:rPr lang="en-GB" dirty="0"/>
                  <a:t> is the number of individuals surviving and not emigrating</a:t>
                </a:r>
              </a:p>
              <a:p>
                <a:r>
                  <a:rPr lang="en-GB" dirty="0"/>
                  <a:t>Recruitment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𝐺</m:t>
                        </m:r>
                      </m:e>
                      <m:sub>
                        <m:r>
                          <a:rPr lang="en-GB" b="0" i="1" smtClean="0">
                            <a:latin typeface="Cambria Math" panose="02040503050406030204" pitchFamily="18" charset="0"/>
                          </a:rPr>
                          <m:t>𝑖</m:t>
                        </m:r>
                        <m:r>
                          <a:rPr lang="en-GB" b="0" i="1" smtClean="0">
                            <a:latin typeface="Cambria Math" panose="02040503050406030204" pitchFamily="18" charset="0"/>
                          </a:rPr>
                          <m:t>,</m:t>
                        </m:r>
                        <m:r>
                          <a:rPr lang="en-GB" b="0" i="1" smtClean="0">
                            <a:latin typeface="Cambria Math" panose="02040503050406030204" pitchFamily="18" charset="0"/>
                          </a:rPr>
                          <m:t>𝑡</m:t>
                        </m:r>
                      </m:sub>
                    </m:sSub>
                  </m:oMath>
                </a14:m>
                <a:r>
                  <a:rPr lang="en-GB" dirty="0"/>
                  <a:t> is the number of new individuals entering the population</a:t>
                </a:r>
              </a:p>
              <a:p>
                <a:endParaRPr lang="en-GB" dirty="0"/>
              </a:p>
              <a:p>
                <a:r>
                  <a:rPr lang="en-GB" dirty="0"/>
                  <a:t>N-mixture observation model</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825625"/>
                <a:ext cx="5461000" cy="4351338"/>
              </a:xfrm>
              <a:blipFill>
                <a:blip r:embed="rId2"/>
                <a:stretch>
                  <a:fillRect l="-2011" t="-210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 name="Content Placeholder 2"/>
              <p:cNvSpPr txBox="1">
                <a:spLocks/>
              </p:cNvSpPr>
              <p:nvPr/>
            </p:nvSpPr>
            <p:spPr>
              <a:xfrm>
                <a:off x="6446982" y="1825625"/>
                <a:ext cx="4906818" cy="4351338"/>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𝑆</m:t>
                          </m:r>
                        </m:e>
                        <m:sub>
                          <m:r>
                            <a:rPr lang="en-GB" b="0" i="1" smtClean="0">
                              <a:latin typeface="Cambria Math" panose="02040503050406030204" pitchFamily="18" charset="0"/>
                            </a:rPr>
                            <m:t>𝑖</m:t>
                          </m:r>
                          <m:r>
                            <a:rPr lang="en-GB" b="0" i="1" smtClean="0">
                              <a:latin typeface="Cambria Math" panose="02040503050406030204" pitchFamily="18" charset="0"/>
                            </a:rPr>
                            <m:t>,</m:t>
                          </m:r>
                          <m:r>
                            <a:rPr lang="en-GB" b="0" i="1" smtClean="0">
                              <a:latin typeface="Cambria Math" panose="02040503050406030204" pitchFamily="18" charset="0"/>
                            </a:rPr>
                            <m:t>𝑡</m:t>
                          </m:r>
                        </m:sub>
                      </m:sSub>
                      <m:r>
                        <a:rPr lang="en-GB" b="0" i="1" smtClean="0">
                          <a:latin typeface="Cambria Math" panose="02040503050406030204" pitchFamily="18" charset="0"/>
                        </a:rPr>
                        <m:t> ~ </m:t>
                      </m:r>
                      <m:r>
                        <a:rPr lang="en-GB" b="0" i="1" smtClean="0">
                          <a:latin typeface="Cambria Math" panose="02040503050406030204" pitchFamily="18" charset="0"/>
                        </a:rPr>
                        <m:t>𝐵𝑖𝑛𝑜𝑚𝑖𝑎𝑙</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𝑁</m:t>
                              </m:r>
                            </m:e>
                            <m:sub>
                              <m:r>
                                <a:rPr lang="en-GB" b="0" i="1" smtClean="0">
                                  <a:latin typeface="Cambria Math" panose="02040503050406030204" pitchFamily="18" charset="0"/>
                                </a:rPr>
                                <m:t>𝑖</m:t>
                              </m:r>
                              <m:r>
                                <a:rPr lang="en-GB" b="0" i="1" smtClean="0">
                                  <a:latin typeface="Cambria Math" panose="02040503050406030204" pitchFamily="18" charset="0"/>
                                </a:rPr>
                                <m:t>,</m:t>
                              </m:r>
                              <m:r>
                                <a:rPr lang="en-GB" b="0" i="1" smtClean="0">
                                  <a:latin typeface="Cambria Math" panose="02040503050406030204" pitchFamily="18" charset="0"/>
                                </a:rPr>
                                <m:t>𝑡</m:t>
                              </m:r>
                              <m:r>
                                <a:rPr lang="en-GB" b="0" i="1" smtClean="0">
                                  <a:latin typeface="Cambria Math" panose="02040503050406030204" pitchFamily="18" charset="0"/>
                                </a:rPr>
                                <m:t>−1</m:t>
                              </m:r>
                            </m:sub>
                          </m:sSub>
                          <m:r>
                            <a:rPr lang="en-GB" b="0" i="1" smtClean="0">
                              <a:latin typeface="Cambria Math" panose="02040503050406030204" pitchFamily="18" charset="0"/>
                            </a:rPr>
                            <m:t>, </m:t>
                          </m:r>
                          <m:r>
                            <a:rPr lang="en-GB" b="0" i="1" smtClean="0">
                              <a:latin typeface="Cambria Math" panose="02040503050406030204" pitchFamily="18" charset="0"/>
                            </a:rPr>
                            <m:t>𝜔</m:t>
                          </m:r>
                        </m:e>
                      </m:d>
                    </m:oMath>
                  </m:oMathPara>
                </a14:m>
                <a:endParaRPr lang="en-GB" b="0" i="1" dirty="0">
                  <a:latin typeface="Cambria Math" panose="02040503050406030204" pitchFamily="18" charset="0"/>
                </a:endParaRPr>
              </a:p>
              <a:p>
                <a:pPr marL="0" indent="0">
                  <a:buNone/>
                </a:pPr>
                <a:endParaRPr lang="en-GB"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𝐺</m:t>
                          </m:r>
                        </m:e>
                        <m:sub>
                          <m:r>
                            <a:rPr lang="en-GB" b="0" i="1" smtClean="0">
                              <a:latin typeface="Cambria Math" panose="02040503050406030204" pitchFamily="18" charset="0"/>
                            </a:rPr>
                            <m:t>𝑖</m:t>
                          </m:r>
                          <m:r>
                            <a:rPr lang="en-GB" b="0" i="1" smtClean="0">
                              <a:latin typeface="Cambria Math" panose="02040503050406030204" pitchFamily="18" charset="0"/>
                            </a:rPr>
                            <m:t>,</m:t>
                          </m:r>
                          <m:r>
                            <a:rPr lang="en-GB" b="0" i="1" smtClean="0">
                              <a:latin typeface="Cambria Math" panose="02040503050406030204" pitchFamily="18" charset="0"/>
                            </a:rPr>
                            <m:t>𝑡</m:t>
                          </m:r>
                        </m:sub>
                      </m:sSub>
                      <m:r>
                        <a:rPr lang="en-GB" b="0" i="1" smtClean="0">
                          <a:latin typeface="Cambria Math" panose="02040503050406030204" pitchFamily="18" charset="0"/>
                        </a:rPr>
                        <m:t> ~ </m:t>
                      </m:r>
                      <m:r>
                        <a:rPr lang="en-GB" b="0" i="1" smtClean="0">
                          <a:latin typeface="Cambria Math" panose="02040503050406030204" pitchFamily="18" charset="0"/>
                        </a:rPr>
                        <m:t>𝑃𝑜𝑖𝑠𝑠𝑜𝑛</m:t>
                      </m:r>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𝜆</m:t>
                          </m:r>
                          <m:r>
                            <a:rPr lang="en-GB" b="0" i="1" smtClean="0">
                              <a:latin typeface="Cambria Math" panose="02040503050406030204" pitchFamily="18" charset="0"/>
                            </a:rPr>
                            <m:t>𝑁</m:t>
                          </m:r>
                        </m:e>
                        <m:sub>
                          <m:r>
                            <a:rPr lang="en-GB" b="0" i="1" smtClean="0">
                              <a:latin typeface="Cambria Math" panose="02040503050406030204" pitchFamily="18" charset="0"/>
                            </a:rPr>
                            <m:t>𝑖</m:t>
                          </m:r>
                          <m:r>
                            <a:rPr lang="en-GB" b="0" i="1" smtClean="0">
                              <a:latin typeface="Cambria Math" panose="02040503050406030204" pitchFamily="18" charset="0"/>
                            </a:rPr>
                            <m:t>,</m:t>
                          </m:r>
                          <m:r>
                            <a:rPr lang="en-GB" b="0" i="1" smtClean="0">
                              <a:latin typeface="Cambria Math" panose="02040503050406030204" pitchFamily="18" charset="0"/>
                            </a:rPr>
                            <m:t>𝑡</m:t>
                          </m:r>
                          <m:r>
                            <a:rPr lang="en-GB" b="0" i="1" smtClean="0">
                              <a:latin typeface="Cambria Math" panose="02040503050406030204" pitchFamily="18" charset="0"/>
                            </a:rPr>
                            <m:t>−1</m:t>
                          </m:r>
                        </m:sub>
                      </m:sSub>
                      <m:r>
                        <a:rPr lang="en-GB" b="0" i="1" smtClean="0">
                          <a:latin typeface="Cambria Math" panose="02040503050406030204" pitchFamily="18" charset="0"/>
                        </a:rPr>
                        <m:t>)</m:t>
                      </m:r>
                    </m:oMath>
                  </m:oMathPara>
                </a14:m>
                <a:endParaRPr lang="en-GB" i="1" dirty="0">
                  <a:latin typeface="Cambria Math" panose="02040503050406030204" pitchFamily="18" charset="0"/>
                </a:endParaRPr>
              </a:p>
              <a:p>
                <a:pPr marL="0" indent="0">
                  <a:buNone/>
                </a:pPr>
                <a:endParaRPr lang="en-GB"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𝑁</m:t>
                          </m:r>
                        </m:e>
                        <m:sub>
                          <m:r>
                            <a:rPr lang="en-GB" b="0" i="1" smtClean="0">
                              <a:latin typeface="Cambria Math" panose="02040503050406030204" pitchFamily="18" charset="0"/>
                            </a:rPr>
                            <m:t>𝑖</m:t>
                          </m:r>
                          <m:r>
                            <a:rPr lang="en-GB" b="0" i="1" smtClean="0">
                              <a:latin typeface="Cambria Math" panose="02040503050406030204" pitchFamily="18" charset="0"/>
                            </a:rPr>
                            <m:t>,</m:t>
                          </m:r>
                          <m:r>
                            <a:rPr lang="en-GB" b="0" i="1" smtClean="0">
                              <a:latin typeface="Cambria Math" panose="02040503050406030204" pitchFamily="18" charset="0"/>
                            </a:rPr>
                            <m:t>𝑡</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𝑆</m:t>
                          </m:r>
                        </m:e>
                        <m:sub>
                          <m:r>
                            <a:rPr lang="en-GB" b="0" i="1" smtClean="0">
                              <a:latin typeface="Cambria Math" panose="02040503050406030204" pitchFamily="18" charset="0"/>
                            </a:rPr>
                            <m:t>𝑖</m:t>
                          </m:r>
                          <m:r>
                            <a:rPr lang="en-GB" b="0" i="1" smtClean="0">
                              <a:latin typeface="Cambria Math" panose="02040503050406030204" pitchFamily="18" charset="0"/>
                            </a:rPr>
                            <m:t>,</m:t>
                          </m:r>
                          <m:r>
                            <a:rPr lang="en-GB" b="0" i="1" smtClean="0">
                              <a:latin typeface="Cambria Math" panose="02040503050406030204" pitchFamily="18" charset="0"/>
                            </a:rPr>
                            <m:t>𝑡</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𝐺</m:t>
                          </m:r>
                        </m:e>
                        <m:sub>
                          <m:r>
                            <a:rPr lang="en-GB" b="0" i="1" smtClean="0">
                              <a:latin typeface="Cambria Math" panose="02040503050406030204" pitchFamily="18" charset="0"/>
                            </a:rPr>
                            <m:t>𝑖</m:t>
                          </m:r>
                          <m:r>
                            <a:rPr lang="en-GB" b="0" i="1" smtClean="0">
                              <a:latin typeface="Cambria Math" panose="02040503050406030204" pitchFamily="18" charset="0"/>
                            </a:rPr>
                            <m:t>,</m:t>
                          </m:r>
                          <m:r>
                            <a:rPr lang="en-GB" b="0" i="1" smtClean="0">
                              <a:latin typeface="Cambria Math" panose="02040503050406030204" pitchFamily="18" charset="0"/>
                            </a:rPr>
                            <m:t>𝑡</m:t>
                          </m:r>
                        </m:sub>
                      </m:sSub>
                    </m:oMath>
                  </m:oMathPara>
                </a14:m>
                <a:endParaRPr lang="en-GB" i="1" dirty="0">
                  <a:latin typeface="Cambria Math" panose="02040503050406030204" pitchFamily="18" charset="0"/>
                </a:endParaRPr>
              </a:p>
              <a:p>
                <a:pPr marL="0" indent="0">
                  <a:buNone/>
                </a:pPr>
                <a:endParaRPr lang="en-GB" i="1" dirty="0">
                  <a:latin typeface="Cambria Math" panose="02040503050406030204" pitchFamily="18" charset="0"/>
                </a:endParaRPr>
              </a:p>
              <a:p>
                <a:pPr marL="0" indent="0">
                  <a:buNone/>
                </a:pPr>
                <a:endParaRPr lang="en-GB"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𝑦</m:t>
                          </m:r>
                        </m:e>
                        <m:sub>
                          <m:r>
                            <a:rPr lang="en-GB" i="1">
                              <a:latin typeface="Cambria Math" panose="02040503050406030204" pitchFamily="18" charset="0"/>
                            </a:rPr>
                            <m:t>𝑖</m:t>
                          </m:r>
                          <m:r>
                            <a:rPr lang="en-GB" i="1">
                              <a:latin typeface="Cambria Math" panose="02040503050406030204" pitchFamily="18" charset="0"/>
                            </a:rPr>
                            <m:t>,</m:t>
                          </m:r>
                          <m:r>
                            <a:rPr lang="en-GB" i="1">
                              <a:latin typeface="Cambria Math" panose="02040503050406030204" pitchFamily="18" charset="0"/>
                            </a:rPr>
                            <m:t>𝑗</m:t>
                          </m:r>
                          <m:r>
                            <a:rPr lang="en-GB" b="0" i="1" smtClean="0">
                              <a:latin typeface="Cambria Math" panose="02040503050406030204" pitchFamily="18" charset="0"/>
                            </a:rPr>
                            <m:t>,</m:t>
                          </m:r>
                          <m:r>
                            <a:rPr lang="en-GB" b="0" i="1" smtClean="0">
                              <a:latin typeface="Cambria Math" panose="02040503050406030204" pitchFamily="18" charset="0"/>
                            </a:rPr>
                            <m:t>𝑡</m:t>
                          </m:r>
                        </m:sub>
                      </m:sSub>
                      <m:r>
                        <a:rPr lang="en-GB" i="1">
                          <a:latin typeface="Cambria Math" panose="02040503050406030204" pitchFamily="18" charset="0"/>
                        </a:rPr>
                        <m:t> ~ </m:t>
                      </m:r>
                      <m:r>
                        <a:rPr lang="en-GB" i="1">
                          <a:latin typeface="Cambria Math" panose="02040503050406030204" pitchFamily="18" charset="0"/>
                        </a:rPr>
                        <m:t>𝐵𝑖𝑛𝑜𝑚𝑖𝑎𝑙</m:t>
                      </m:r>
                      <m:d>
                        <m:dPr>
                          <m:ctrlPr>
                            <a:rPr lang="en-GB" i="1">
                              <a:latin typeface="Cambria Math" panose="02040503050406030204" pitchFamily="18" charset="0"/>
                            </a:rPr>
                          </m:ctrlPr>
                        </m:dPr>
                        <m:e>
                          <m:sSub>
                            <m:sSubPr>
                              <m:ctrlPr>
                                <a:rPr lang="en-GB" i="1">
                                  <a:latin typeface="Cambria Math" panose="02040503050406030204" pitchFamily="18" charset="0"/>
                                </a:rPr>
                              </m:ctrlPr>
                            </m:sSubPr>
                            <m:e>
                              <m:r>
                                <a:rPr lang="en-GB" i="1">
                                  <a:latin typeface="Cambria Math" panose="02040503050406030204" pitchFamily="18" charset="0"/>
                                </a:rPr>
                                <m:t>𝑁</m:t>
                              </m:r>
                            </m:e>
                            <m:sub>
                              <m:r>
                                <a:rPr lang="en-GB" i="1">
                                  <a:latin typeface="Cambria Math" panose="02040503050406030204" pitchFamily="18" charset="0"/>
                                </a:rPr>
                                <m:t>𝑖</m:t>
                              </m:r>
                              <m:r>
                                <a:rPr lang="en-GB" b="0" i="1" smtClean="0">
                                  <a:latin typeface="Cambria Math" panose="02040503050406030204" pitchFamily="18" charset="0"/>
                                </a:rPr>
                                <m:t>,</m:t>
                              </m:r>
                              <m:r>
                                <a:rPr lang="en-GB" b="0" i="1" smtClean="0">
                                  <a:latin typeface="Cambria Math" panose="02040503050406030204" pitchFamily="18" charset="0"/>
                                </a:rPr>
                                <m:t>𝑡</m:t>
                              </m:r>
                            </m:sub>
                          </m:sSub>
                          <m:r>
                            <a:rPr lang="en-GB" i="1">
                              <a:latin typeface="Cambria Math" panose="02040503050406030204" pitchFamily="18" charset="0"/>
                            </a:rPr>
                            <m:t>, </m:t>
                          </m:r>
                          <m:sSub>
                            <m:sSubPr>
                              <m:ctrlPr>
                                <a:rPr lang="en-GB" i="1">
                                  <a:latin typeface="Cambria Math" panose="02040503050406030204" pitchFamily="18" charset="0"/>
                                </a:rPr>
                              </m:ctrlPr>
                            </m:sSubPr>
                            <m:e>
                              <m:r>
                                <a:rPr lang="en-GB" i="1">
                                  <a:latin typeface="Cambria Math" panose="02040503050406030204" pitchFamily="18" charset="0"/>
                                </a:rPr>
                                <m:t>𝜌</m:t>
                              </m:r>
                            </m:e>
                            <m:sub>
                              <m:r>
                                <a:rPr lang="en-GB" i="1">
                                  <a:latin typeface="Cambria Math" panose="02040503050406030204" pitchFamily="18" charset="0"/>
                                </a:rPr>
                                <m:t>𝑗</m:t>
                              </m:r>
                            </m:sub>
                          </m:sSub>
                        </m:e>
                      </m:d>
                    </m:oMath>
                  </m:oMathPara>
                </a14:m>
                <a:endParaRPr lang="en-GB" dirty="0"/>
              </a:p>
              <a:p>
                <a:pPr marL="0" indent="0">
                  <a:buNone/>
                </a:pPr>
                <a:endParaRPr lang="en-GB"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𝑙𝑜𝑔𝑖𝑡</m:t>
                          </m:r>
                          <m:r>
                            <a:rPr lang="en-GB" b="0" i="1" smtClean="0">
                              <a:latin typeface="Cambria Math" panose="02040503050406030204" pitchFamily="18" charset="0"/>
                            </a:rPr>
                            <m:t>(</m:t>
                          </m:r>
                          <m:r>
                            <a:rPr lang="en-GB" b="0" i="1" smtClean="0">
                              <a:latin typeface="Cambria Math" panose="02040503050406030204" pitchFamily="18" charset="0"/>
                            </a:rPr>
                            <m:t>𝜌</m:t>
                          </m:r>
                        </m:e>
                        <m:sub>
                          <m:r>
                            <a:rPr lang="en-GB" b="0" i="1" smtClean="0">
                              <a:latin typeface="Cambria Math" panose="02040503050406030204" pitchFamily="18" charset="0"/>
                            </a:rPr>
                            <m:t>𝑗</m:t>
                          </m:r>
                        </m:sub>
                      </m:sSub>
                      <m:r>
                        <a:rPr lang="en-GB" b="0" i="1" smtClean="0">
                          <a:latin typeface="Cambria Math" panose="02040503050406030204" pitchFamily="18" charset="0"/>
                        </a:rPr>
                        <m:t>) ~ </m:t>
                      </m:r>
                      <m:r>
                        <a:rPr lang="en-GB" b="0" i="1" smtClean="0">
                          <a:latin typeface="Cambria Math" panose="02040503050406030204" pitchFamily="18" charset="0"/>
                        </a:rPr>
                        <m:t>𝑁𝑜𝑟𝑚𝑎𝑙</m:t>
                      </m:r>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𝜇</m:t>
                          </m:r>
                        </m:e>
                        <m:sup>
                          <m:r>
                            <a:rPr lang="en-GB" b="0" i="1" smtClean="0">
                              <a:latin typeface="Cambria Math" panose="02040503050406030204" pitchFamily="18" charset="0"/>
                            </a:rPr>
                            <m:t>𝜌</m:t>
                          </m:r>
                        </m:sup>
                      </m:sSup>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𝜎</m:t>
                          </m:r>
                        </m:e>
                        <m:sup>
                          <m:r>
                            <a:rPr lang="en-GB" b="0" i="1" smtClean="0">
                              <a:latin typeface="Cambria Math" panose="02040503050406030204" pitchFamily="18" charset="0"/>
                            </a:rPr>
                            <m:t>𝜌</m:t>
                          </m:r>
                        </m:sup>
                      </m:sSup>
                      <m:r>
                        <a:rPr lang="en-GB" b="0" i="1" smtClean="0">
                          <a:latin typeface="Cambria Math" panose="02040503050406030204" pitchFamily="18" charset="0"/>
                        </a:rPr>
                        <m:t>)</m:t>
                      </m:r>
                    </m:oMath>
                  </m:oMathPara>
                </a14:m>
                <a:endParaRPr lang="en-GB" dirty="0"/>
              </a:p>
              <a:p>
                <a:pPr marL="0" indent="0">
                  <a:buNone/>
                </a:pPr>
                <a:endParaRPr lang="en-GB" b="0" i="1" dirty="0">
                  <a:latin typeface="Cambria Math" panose="02040503050406030204" pitchFamily="18" charset="0"/>
                </a:endParaRPr>
              </a:p>
              <a:p>
                <a:pPr marL="0" indent="0">
                  <a:buNone/>
                </a:pPr>
                <a:endParaRPr lang="en-GB" b="0" i="1" dirty="0">
                  <a:latin typeface="Cambria Math" panose="02040503050406030204" pitchFamily="18" charset="0"/>
                </a:endParaRPr>
              </a:p>
              <a:p>
                <a:pPr marL="0" indent="0">
                  <a:buNone/>
                </a:pPr>
                <a:endParaRPr lang="en-GB" i="1" dirty="0">
                  <a:latin typeface="Cambria Math" panose="02040503050406030204" pitchFamily="18" charset="0"/>
                </a:endParaRPr>
              </a:p>
            </p:txBody>
          </p:sp>
        </mc:Choice>
        <mc:Fallback xmlns="">
          <p:sp>
            <p:nvSpPr>
              <p:cNvPr id="4" name="Content Placeholder 2"/>
              <p:cNvSpPr txBox="1">
                <a:spLocks noRot="1" noChangeAspect="1" noMove="1" noResize="1" noEditPoints="1" noAdjustHandles="1" noChangeArrowheads="1" noChangeShapeType="1" noTextEdit="1"/>
              </p:cNvSpPr>
              <p:nvPr/>
            </p:nvSpPr>
            <p:spPr>
              <a:xfrm>
                <a:off x="6446982" y="1825625"/>
                <a:ext cx="4906818" cy="4351338"/>
              </a:xfrm>
              <a:prstGeom prst="rect">
                <a:avLst/>
              </a:prstGeom>
              <a:blipFill>
                <a:blip r:embed="rId3"/>
                <a:stretch>
                  <a:fillRect/>
                </a:stretch>
              </a:blipFill>
            </p:spPr>
            <p:txBody>
              <a:bodyPr/>
              <a:lstStyle/>
              <a:p>
                <a:r>
                  <a:rPr lang="en-GB">
                    <a:noFill/>
                  </a:rPr>
                  <a:t> </a:t>
                </a:r>
              </a:p>
            </p:txBody>
          </p:sp>
        </mc:Fallback>
      </mc:AlternateContent>
      <p:sp>
        <p:nvSpPr>
          <p:cNvPr id="5" name="TextBox 4"/>
          <p:cNvSpPr txBox="1"/>
          <p:nvPr/>
        </p:nvSpPr>
        <p:spPr>
          <a:xfrm>
            <a:off x="0" y="6273225"/>
            <a:ext cx="12192000" cy="584775"/>
          </a:xfrm>
          <a:prstGeom prst="rect">
            <a:avLst/>
          </a:prstGeom>
          <a:noFill/>
        </p:spPr>
        <p:txBody>
          <a:bodyPr wrap="square" rtlCol="0">
            <a:spAutoFit/>
          </a:bodyPr>
          <a:lstStyle/>
          <a:p>
            <a:r>
              <a:rPr lang="en-GB" sz="1600" dirty="0" err="1">
                <a:solidFill>
                  <a:schemeClr val="bg1">
                    <a:lumMod val="65000"/>
                  </a:schemeClr>
                </a:solidFill>
              </a:rPr>
              <a:t>Dail</a:t>
            </a:r>
            <a:r>
              <a:rPr lang="en-GB" sz="1600" dirty="0">
                <a:solidFill>
                  <a:schemeClr val="bg1">
                    <a:lumMod val="65000"/>
                  </a:schemeClr>
                </a:solidFill>
              </a:rPr>
              <a:t> &amp; Madsen. 2011. Estimating abundance from repeated counts of an open </a:t>
            </a:r>
            <a:r>
              <a:rPr lang="en-GB" sz="1600" dirty="0" err="1">
                <a:solidFill>
                  <a:schemeClr val="bg1">
                    <a:lumMod val="65000"/>
                  </a:schemeClr>
                </a:solidFill>
              </a:rPr>
              <a:t>metapopulation</a:t>
            </a:r>
            <a:r>
              <a:rPr lang="en-GB" sz="1600" dirty="0">
                <a:solidFill>
                  <a:schemeClr val="bg1">
                    <a:lumMod val="65000"/>
                  </a:schemeClr>
                </a:solidFill>
              </a:rPr>
              <a:t>. </a:t>
            </a:r>
            <a:r>
              <a:rPr lang="en-GB" sz="1600" i="1" dirty="0">
                <a:solidFill>
                  <a:schemeClr val="bg1">
                    <a:lumMod val="65000"/>
                  </a:schemeClr>
                </a:solidFill>
              </a:rPr>
              <a:t>Biometrics </a:t>
            </a:r>
            <a:r>
              <a:rPr lang="en-GB" sz="1600" dirty="0">
                <a:solidFill>
                  <a:schemeClr val="bg1">
                    <a:lumMod val="65000"/>
                  </a:schemeClr>
                </a:solidFill>
              </a:rPr>
              <a:t>67:577-587.</a:t>
            </a:r>
          </a:p>
          <a:p>
            <a:r>
              <a:rPr lang="en-GB" sz="1600" dirty="0">
                <a:solidFill>
                  <a:schemeClr val="bg1">
                    <a:lumMod val="65000"/>
                  </a:schemeClr>
                </a:solidFill>
              </a:rPr>
              <a:t>Hostetler &amp; Chandler 2015. Improved state-space models for inference about spatial and temporal variation in abundance. </a:t>
            </a:r>
            <a:r>
              <a:rPr lang="en-GB" sz="1600" i="1" dirty="0">
                <a:solidFill>
                  <a:schemeClr val="bg1">
                    <a:lumMod val="65000"/>
                  </a:schemeClr>
                </a:solidFill>
              </a:rPr>
              <a:t>Ecology </a:t>
            </a:r>
            <a:r>
              <a:rPr lang="en-GB" sz="1600" dirty="0">
                <a:solidFill>
                  <a:schemeClr val="bg1">
                    <a:lumMod val="65000"/>
                  </a:schemeClr>
                </a:solidFill>
              </a:rPr>
              <a:t>96(6) </a:t>
            </a:r>
          </a:p>
        </p:txBody>
      </p:sp>
    </p:spTree>
    <p:extLst>
      <p:ext uri="{BB962C8B-B14F-4D97-AF65-F5344CB8AC3E}">
        <p14:creationId xmlns:p14="http://schemas.microsoft.com/office/powerpoint/2010/main" val="45579191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Mark-recapture state-space model</a:t>
            </a:r>
          </a:p>
        </p:txBody>
      </p:sp>
      <p:sp>
        <p:nvSpPr>
          <p:cNvPr id="3" name="Content Placeholder 2"/>
          <p:cNvSpPr>
            <a:spLocks noGrp="1"/>
          </p:cNvSpPr>
          <p:nvPr>
            <p:ph idx="1"/>
          </p:nvPr>
        </p:nvSpPr>
        <p:spPr>
          <a:xfrm>
            <a:off x="838200" y="1825625"/>
            <a:ext cx="5285509" cy="4351338"/>
          </a:xfrm>
        </p:spPr>
        <p:txBody>
          <a:bodyPr>
            <a:normAutofit/>
          </a:bodyPr>
          <a:lstStyle/>
          <a:p>
            <a:r>
              <a:rPr lang="en-GB" dirty="0"/>
              <a:t>A population process</a:t>
            </a:r>
          </a:p>
          <a:p>
            <a:r>
              <a:rPr lang="en-GB" dirty="0"/>
              <a:t>Why a log-normal? Hmm….</a:t>
            </a:r>
          </a:p>
          <a:p>
            <a:r>
              <a:rPr lang="en-GB" dirty="0"/>
              <a:t>Priors not shown</a:t>
            </a:r>
          </a:p>
          <a:p>
            <a:endParaRPr lang="en-GB" dirty="0"/>
          </a:p>
          <a:p>
            <a:endParaRPr lang="en-GB" dirty="0"/>
          </a:p>
          <a:p>
            <a:r>
              <a:rPr lang="en-GB" dirty="0"/>
              <a:t>Mark-recapture observations</a:t>
            </a:r>
          </a:p>
          <a:p>
            <a:r>
              <a:rPr lang="en-GB" dirty="0"/>
              <a:t>A prior is only needed to initialise N in the first time step</a:t>
            </a:r>
          </a:p>
        </p:txBody>
      </p:sp>
      <mc:AlternateContent xmlns:mc="http://schemas.openxmlformats.org/markup-compatibility/2006" xmlns:a14="http://schemas.microsoft.com/office/drawing/2010/main">
        <mc:Choice Requires="a14">
          <p:sp>
            <p:nvSpPr>
              <p:cNvPr id="4" name="Content Placeholder 2"/>
              <p:cNvSpPr txBox="1">
                <a:spLocks/>
              </p:cNvSpPr>
              <p:nvPr/>
            </p:nvSpPr>
            <p:spPr>
              <a:xfrm>
                <a:off x="5652656" y="1825625"/>
                <a:ext cx="5728854"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𝑁</m:t>
                          </m:r>
                        </m:e>
                        <m:sub>
                          <m:r>
                            <a:rPr lang="en-GB" b="0" i="1" smtClean="0">
                              <a:latin typeface="Cambria Math" panose="02040503050406030204" pitchFamily="18" charset="0"/>
                            </a:rPr>
                            <m:t>𝑡</m:t>
                          </m:r>
                        </m:sub>
                      </m:sSub>
                      <m:r>
                        <a:rPr lang="en-GB" b="0" i="1" smtClean="0">
                          <a:latin typeface="Cambria Math" panose="02040503050406030204" pitchFamily="18" charset="0"/>
                        </a:rPr>
                        <m:t> ~ </m:t>
                      </m:r>
                      <m:r>
                        <a:rPr lang="en-GB" b="0" i="1" smtClean="0">
                          <a:latin typeface="Cambria Math" panose="02040503050406030204" pitchFamily="18" charset="0"/>
                        </a:rPr>
                        <m:t>𝐿𝑜𝑔𝑁𝑜𝑟𝑚𝑎𝑙</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m:rPr>
                                  <m:sty m:val="p"/>
                                </m:rPr>
                                <a:rPr lang="en-GB" b="0" i="0" smtClean="0">
                                  <a:latin typeface="Cambria Math" panose="02040503050406030204" pitchFamily="18" charset="0"/>
                                </a:rPr>
                                <m:t>log</m:t>
                              </m:r>
                              <m:r>
                                <a:rPr lang="en-GB" b="0" i="1" smtClean="0">
                                  <a:latin typeface="Cambria Math" panose="02040503050406030204" pitchFamily="18" charset="0"/>
                                </a:rPr>
                                <m:t>⁡(</m:t>
                              </m:r>
                              <m:r>
                                <a:rPr lang="en-GB" b="0" i="1" smtClean="0">
                                  <a:latin typeface="Cambria Math" panose="02040503050406030204" pitchFamily="18" charset="0"/>
                                </a:rPr>
                                <m:t>𝑁</m:t>
                              </m:r>
                            </m:e>
                            <m:sub>
                              <m:r>
                                <a:rPr lang="en-GB" b="0" i="1" smtClean="0">
                                  <a:latin typeface="Cambria Math" panose="02040503050406030204" pitchFamily="18" charset="0"/>
                                </a:rPr>
                                <m:t>𝑡</m:t>
                              </m:r>
                              <m:r>
                                <a:rPr lang="en-GB" b="0" i="1" smtClean="0">
                                  <a:latin typeface="Cambria Math" panose="02040503050406030204" pitchFamily="18" charset="0"/>
                                </a:rPr>
                                <m:t>−1</m:t>
                              </m:r>
                            </m:sub>
                          </m:sSub>
                          <m:sSub>
                            <m:sSubPr>
                              <m:ctrlPr>
                                <a:rPr lang="en-GB" b="0" i="1" smtClean="0">
                                  <a:latin typeface="Cambria Math" panose="02040503050406030204" pitchFamily="18" charset="0"/>
                                </a:rPr>
                              </m:ctrlPr>
                            </m:sSubPr>
                            <m:e>
                              <m:r>
                                <a:rPr lang="en-GB" b="0" i="1" smtClean="0">
                                  <a:latin typeface="Cambria Math" panose="02040503050406030204" pitchFamily="18" charset="0"/>
                                </a:rPr>
                                <m:t>𝜆</m:t>
                              </m:r>
                            </m:e>
                            <m:sub>
                              <m:r>
                                <a:rPr lang="en-GB" b="0" i="1" smtClean="0">
                                  <a:latin typeface="Cambria Math" panose="02040503050406030204" pitchFamily="18" charset="0"/>
                                </a:rPr>
                                <m:t>𝑡</m:t>
                              </m:r>
                            </m:sub>
                          </m:sSub>
                          <m:r>
                            <a:rPr lang="en-GB" b="0" i="1" smtClean="0">
                              <a:latin typeface="Cambria Math" panose="02040503050406030204" pitchFamily="18" charset="0"/>
                            </a:rPr>
                            <m:t>), </m:t>
                          </m:r>
                          <m:r>
                            <a:rPr lang="en-GB" b="0" i="1" smtClean="0">
                              <a:latin typeface="Cambria Math" panose="02040503050406030204" pitchFamily="18" charset="0"/>
                            </a:rPr>
                            <m:t>𝜎</m:t>
                          </m:r>
                        </m:e>
                      </m:d>
                    </m:oMath>
                  </m:oMathPara>
                </a14:m>
                <a:endParaRPr lang="en-GB" b="0" dirty="0"/>
              </a:p>
              <a:p>
                <a:pPr marL="0" indent="0">
                  <a:buNone/>
                </a:pPr>
                <a:endParaRPr lang="en-GB" b="0" dirty="0"/>
              </a:p>
              <a:p>
                <a:pPr marL="0" indent="0">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m:rPr>
                              <m:sty m:val="p"/>
                            </m:rPr>
                            <a:rPr lang="en-GB" b="0" i="0" smtClean="0">
                              <a:latin typeface="Cambria Math" panose="02040503050406030204" pitchFamily="18" charset="0"/>
                            </a:rPr>
                            <m:t>log</m:t>
                          </m:r>
                          <m:r>
                            <a:rPr lang="en-GB" b="0" i="1" smtClean="0">
                              <a:latin typeface="Cambria Math" panose="02040503050406030204" pitchFamily="18" charset="0"/>
                            </a:rPr>
                            <m:t>⁡(</m:t>
                          </m:r>
                          <m:r>
                            <a:rPr lang="en-GB" b="0" i="1" smtClean="0">
                              <a:latin typeface="Cambria Math" panose="02040503050406030204" pitchFamily="18" charset="0"/>
                            </a:rPr>
                            <m:t>𝜆</m:t>
                          </m:r>
                        </m:e>
                        <m:sub>
                          <m:r>
                            <a:rPr lang="en-GB" b="0" i="1" smtClean="0">
                              <a:latin typeface="Cambria Math" panose="02040503050406030204" pitchFamily="18" charset="0"/>
                            </a:rPr>
                            <m:t>𝑡</m:t>
                          </m:r>
                        </m:sub>
                      </m:sSub>
                      <m:r>
                        <a:rPr lang="en-GB" b="0" i="1" smtClean="0">
                          <a:latin typeface="Cambria Math" panose="02040503050406030204" pitchFamily="18" charset="0"/>
                        </a:rPr>
                        <m:t>)=</m:t>
                      </m:r>
                      <m:r>
                        <a:rPr lang="en-GB" b="0" i="1" smtClean="0">
                          <a:latin typeface="Cambria Math" panose="02040503050406030204" pitchFamily="18" charset="0"/>
                        </a:rPr>
                        <m:t>𝛼</m:t>
                      </m:r>
                      <m:r>
                        <a:rPr lang="en-GB" b="0" i="1" smtClean="0">
                          <a:latin typeface="Cambria Math" panose="02040503050406030204" pitchFamily="18" charset="0"/>
                        </a:rPr>
                        <m:t>+</m:t>
                      </m:r>
                      <m:nary>
                        <m:naryPr>
                          <m:chr m:val="∑"/>
                          <m:ctrlPr>
                            <a:rPr lang="en-GB" i="1">
                              <a:latin typeface="Cambria Math" panose="02040503050406030204" pitchFamily="18" charset="0"/>
                            </a:rPr>
                          </m:ctrlPr>
                        </m:naryPr>
                        <m:sub>
                          <m:r>
                            <m:rPr>
                              <m:brk m:alnAt="23"/>
                            </m:rPr>
                            <a:rPr lang="en-GB" i="1">
                              <a:latin typeface="Cambria Math" panose="02040503050406030204" pitchFamily="18" charset="0"/>
                            </a:rPr>
                            <m:t>𝑘</m:t>
                          </m:r>
                          <m:r>
                            <a:rPr lang="en-GB" i="1">
                              <a:latin typeface="Cambria Math" panose="02040503050406030204" pitchFamily="18" charset="0"/>
                            </a:rPr>
                            <m:t>=1</m:t>
                          </m:r>
                        </m:sub>
                        <m:sup>
                          <m:r>
                            <a:rPr lang="en-GB" i="1">
                              <a:latin typeface="Cambria Math" panose="02040503050406030204" pitchFamily="18" charset="0"/>
                            </a:rPr>
                            <m:t>𝐾</m:t>
                          </m:r>
                        </m:sup>
                        <m:e>
                          <m:sSub>
                            <m:sSubPr>
                              <m:ctrlPr>
                                <a:rPr lang="en-GB" i="1">
                                  <a:latin typeface="Cambria Math" panose="02040503050406030204" pitchFamily="18" charset="0"/>
                                </a:rPr>
                              </m:ctrlPr>
                            </m:sSubPr>
                            <m:e>
                              <m:r>
                                <a:rPr lang="en-GB" i="1">
                                  <a:latin typeface="Cambria Math" panose="02040503050406030204" pitchFamily="18" charset="0"/>
                                </a:rPr>
                                <m:t>𝛽</m:t>
                              </m:r>
                            </m:e>
                            <m:sub>
                              <m:r>
                                <a:rPr lang="en-GB" i="1">
                                  <a:latin typeface="Cambria Math" panose="02040503050406030204" pitchFamily="18" charset="0"/>
                                </a:rPr>
                                <m:t>𝑘</m:t>
                              </m:r>
                            </m:sub>
                          </m:sSub>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𝑘</m:t>
                              </m:r>
                              <m:r>
                                <a:rPr lang="en-GB" i="1">
                                  <a:latin typeface="Cambria Math" panose="02040503050406030204" pitchFamily="18" charset="0"/>
                                </a:rPr>
                                <m:t>,</m:t>
                              </m:r>
                              <m:r>
                                <a:rPr lang="en-GB" b="0" i="1" smtClean="0">
                                  <a:latin typeface="Cambria Math" panose="02040503050406030204" pitchFamily="18" charset="0"/>
                                </a:rPr>
                                <m:t>𝑡</m:t>
                              </m:r>
                            </m:sub>
                          </m:sSub>
                        </m:e>
                      </m:nary>
                    </m:oMath>
                  </m:oMathPara>
                </a14:m>
                <a:endParaRPr lang="en-GB" b="0" dirty="0"/>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i="1">
                              <a:latin typeface="Cambria Math" panose="02040503050406030204" pitchFamily="18" charset="0"/>
                            </a:rPr>
                            <m:t>𝑅</m:t>
                          </m:r>
                        </m:e>
                        <m:sub>
                          <m:r>
                            <a:rPr lang="en-GB" b="0" i="1" smtClean="0">
                              <a:latin typeface="Cambria Math" panose="02040503050406030204" pitchFamily="18" charset="0"/>
                            </a:rPr>
                            <m:t>𝑡</m:t>
                          </m:r>
                        </m:sub>
                      </m:sSub>
                      <m:r>
                        <a:rPr lang="en-GB" i="1">
                          <a:latin typeface="Cambria Math" panose="02040503050406030204" pitchFamily="18" charset="0"/>
                        </a:rPr>
                        <m:t> ~ </m:t>
                      </m:r>
                      <m:r>
                        <a:rPr lang="en-GB" i="1">
                          <a:latin typeface="Cambria Math" panose="02040503050406030204" pitchFamily="18" charset="0"/>
                        </a:rPr>
                        <m:t>𝐵𝑖𝑛𝑜𝑚𝑖𝑎𝑙</m:t>
                      </m:r>
                      <m:d>
                        <m:dPr>
                          <m:ctrlPr>
                            <a:rPr lang="en-GB" i="1">
                              <a:latin typeface="Cambria Math" panose="02040503050406030204" pitchFamily="18" charset="0"/>
                            </a:rPr>
                          </m:ctrlPr>
                        </m:dPr>
                        <m:e>
                          <m:sSub>
                            <m:sSubPr>
                              <m:ctrlPr>
                                <a:rPr lang="en-GB" b="0" i="1" smtClean="0">
                                  <a:latin typeface="Cambria Math" panose="02040503050406030204" pitchFamily="18" charset="0"/>
                                </a:rPr>
                              </m:ctrlPr>
                            </m:sSubPr>
                            <m:e>
                              <m:r>
                                <a:rPr lang="en-GB" i="1">
                                  <a:latin typeface="Cambria Math" panose="02040503050406030204" pitchFamily="18" charset="0"/>
                                </a:rPr>
                                <m:t>𝐶</m:t>
                              </m:r>
                            </m:e>
                            <m:sub>
                              <m:r>
                                <a:rPr lang="en-GB" b="0" i="1" smtClean="0">
                                  <a:latin typeface="Cambria Math" panose="02040503050406030204" pitchFamily="18" charset="0"/>
                                </a:rPr>
                                <m:t>𝑡</m:t>
                              </m:r>
                            </m:sub>
                          </m:sSub>
                          <m:r>
                            <a:rPr lang="en-GB" i="1">
                              <a:latin typeface="Cambria Math" panose="02040503050406030204" pitchFamily="18" charset="0"/>
                            </a:rPr>
                            <m:t>,</m:t>
                          </m:r>
                          <m:f>
                            <m:fPr>
                              <m:ctrlPr>
                                <a:rPr lang="en-GB" i="1">
                                  <a:latin typeface="Cambria Math" panose="02040503050406030204" pitchFamily="18" charset="0"/>
                                </a:rPr>
                              </m:ctrlPr>
                            </m:fPr>
                            <m:num>
                              <m:sSub>
                                <m:sSubPr>
                                  <m:ctrlPr>
                                    <a:rPr lang="en-GB" b="0" i="1" smtClean="0">
                                      <a:latin typeface="Cambria Math" panose="02040503050406030204" pitchFamily="18" charset="0"/>
                                    </a:rPr>
                                  </m:ctrlPr>
                                </m:sSubPr>
                                <m:e>
                                  <m:r>
                                    <a:rPr lang="en-GB" i="1">
                                      <a:latin typeface="Cambria Math" panose="02040503050406030204" pitchFamily="18" charset="0"/>
                                    </a:rPr>
                                    <m:t>𝑀</m:t>
                                  </m:r>
                                </m:e>
                                <m:sub>
                                  <m:r>
                                    <a:rPr lang="en-GB" b="0" i="1" smtClean="0">
                                      <a:latin typeface="Cambria Math" panose="02040503050406030204" pitchFamily="18" charset="0"/>
                                    </a:rPr>
                                    <m:t>𝑡</m:t>
                                  </m:r>
                                </m:sub>
                              </m:sSub>
                            </m:num>
                            <m:den>
                              <m:sSub>
                                <m:sSubPr>
                                  <m:ctrlPr>
                                    <a:rPr lang="en-GB" b="0" i="1" smtClean="0">
                                      <a:latin typeface="Cambria Math" panose="02040503050406030204" pitchFamily="18" charset="0"/>
                                    </a:rPr>
                                  </m:ctrlPr>
                                </m:sSubPr>
                                <m:e>
                                  <m:r>
                                    <a:rPr lang="en-GB" i="1">
                                      <a:latin typeface="Cambria Math" panose="02040503050406030204" pitchFamily="18" charset="0"/>
                                    </a:rPr>
                                    <m:t>𝑁</m:t>
                                  </m:r>
                                </m:e>
                                <m:sub>
                                  <m:r>
                                    <a:rPr lang="en-GB" b="0" i="1" smtClean="0">
                                      <a:latin typeface="Cambria Math" panose="02040503050406030204" pitchFamily="18" charset="0"/>
                                    </a:rPr>
                                    <m:t>𝑡</m:t>
                                  </m:r>
                                </m:sub>
                              </m:sSub>
                            </m:den>
                          </m:f>
                        </m:e>
                      </m:d>
                    </m:oMath>
                  </m:oMathPara>
                </a14:m>
                <a:endParaRPr lang="en-GB" dirty="0"/>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𝑁</m:t>
                          </m:r>
                        </m:e>
                        <m:sub>
                          <m:r>
                            <a:rPr lang="en-GB" b="0" i="1" smtClean="0">
                              <a:latin typeface="Cambria Math" panose="02040503050406030204" pitchFamily="18" charset="0"/>
                            </a:rPr>
                            <m:t>𝑡</m:t>
                          </m:r>
                          <m:r>
                            <a:rPr lang="en-GB" b="0" i="1" smtClean="0">
                              <a:latin typeface="Cambria Math" panose="02040503050406030204" pitchFamily="18" charset="0"/>
                            </a:rPr>
                            <m:t>=1</m:t>
                          </m:r>
                        </m:sub>
                      </m:sSub>
                      <m:r>
                        <a:rPr lang="en-GB" b="0" i="1" smtClean="0">
                          <a:latin typeface="Cambria Math" panose="02040503050406030204" pitchFamily="18" charset="0"/>
                        </a:rPr>
                        <m:t> ~ </m:t>
                      </m:r>
                      <m:r>
                        <a:rPr lang="en-GB" b="0" i="1" smtClean="0">
                          <a:latin typeface="Cambria Math" panose="02040503050406030204" pitchFamily="18" charset="0"/>
                        </a:rPr>
                        <m:t>𝑈𝑛𝑖𝑓𝑜𝑟𝑚</m:t>
                      </m:r>
                      <m:r>
                        <a:rPr lang="en-GB" b="0" i="1" smtClean="0">
                          <a:latin typeface="Cambria Math" panose="02040503050406030204" pitchFamily="18" charset="0"/>
                        </a:rPr>
                        <m:t>(</m:t>
                      </m:r>
                      <m:r>
                        <a:rPr lang="en-GB" b="0" i="1" smtClean="0">
                          <a:latin typeface="Cambria Math" panose="02040503050406030204" pitchFamily="18" charset="0"/>
                        </a:rPr>
                        <m:t>𝐶</m:t>
                      </m:r>
                      <m:r>
                        <a:rPr lang="en-GB" b="0" i="1" smtClean="0">
                          <a:latin typeface="Cambria Math" panose="02040503050406030204" pitchFamily="18" charset="0"/>
                        </a:rPr>
                        <m:t>−</m:t>
                      </m:r>
                      <m:r>
                        <a:rPr lang="en-GB" b="0" i="1" smtClean="0">
                          <a:latin typeface="Cambria Math" panose="02040503050406030204" pitchFamily="18" charset="0"/>
                        </a:rPr>
                        <m:t>𝑅</m:t>
                      </m:r>
                      <m:r>
                        <a:rPr lang="en-GB" b="0" i="1" smtClean="0">
                          <a:latin typeface="Cambria Math" panose="02040503050406030204" pitchFamily="18" charset="0"/>
                        </a:rPr>
                        <m:t>+</m:t>
                      </m:r>
                      <m:r>
                        <a:rPr lang="en-GB" b="0" i="1" smtClean="0">
                          <a:latin typeface="Cambria Math" panose="02040503050406030204" pitchFamily="18" charset="0"/>
                        </a:rPr>
                        <m:t>𝑀</m:t>
                      </m:r>
                      <m:r>
                        <a:rPr lang="en-GB" b="0" i="1" smtClean="0">
                          <a:latin typeface="Cambria Math" panose="02040503050406030204" pitchFamily="18" charset="0"/>
                        </a:rPr>
                        <m:t>, 1</m:t>
                      </m:r>
                      <m:r>
                        <a:rPr lang="en-GB" b="0" i="1" smtClean="0">
                          <a:latin typeface="Cambria Math" panose="02040503050406030204" pitchFamily="18" charset="0"/>
                        </a:rPr>
                        <m:t>𝑒</m:t>
                      </m:r>
                      <m:r>
                        <a:rPr lang="en-GB" b="0" i="1" smtClean="0">
                          <a:latin typeface="Cambria Math" panose="02040503050406030204" pitchFamily="18" charset="0"/>
                        </a:rPr>
                        <m:t>6)</m:t>
                      </m:r>
                    </m:oMath>
                  </m:oMathPara>
                </a14:m>
                <a:endParaRPr lang="en-GB" dirty="0"/>
              </a:p>
            </p:txBody>
          </p:sp>
        </mc:Choice>
        <mc:Fallback xmlns="">
          <p:sp>
            <p:nvSpPr>
              <p:cNvPr id="4" name="Content Placeholder 2"/>
              <p:cNvSpPr txBox="1">
                <a:spLocks noRot="1" noChangeAspect="1" noMove="1" noResize="1" noEditPoints="1" noAdjustHandles="1" noChangeArrowheads="1" noChangeShapeType="1" noTextEdit="1"/>
              </p:cNvSpPr>
              <p:nvPr/>
            </p:nvSpPr>
            <p:spPr>
              <a:xfrm>
                <a:off x="5652656" y="1825625"/>
                <a:ext cx="5728854" cy="4351338"/>
              </a:xfrm>
              <a:prstGeom prst="rect">
                <a:avLst/>
              </a:prstGeom>
              <a:blipFill>
                <a:blip r:embed="rId2"/>
                <a:stretch>
                  <a:fillRect b="-2101"/>
                </a:stretch>
              </a:blipFill>
            </p:spPr>
            <p:txBody>
              <a:bodyPr/>
              <a:lstStyle/>
              <a:p>
                <a:r>
                  <a:rPr lang="en-GB">
                    <a:noFill/>
                  </a:rPr>
                  <a:t> </a:t>
                </a:r>
              </a:p>
            </p:txBody>
          </p:sp>
        </mc:Fallback>
      </mc:AlternateContent>
    </p:spTree>
    <p:extLst>
      <p:ext uri="{BB962C8B-B14F-4D97-AF65-F5344CB8AC3E}">
        <p14:creationId xmlns:p14="http://schemas.microsoft.com/office/powerpoint/2010/main" val="1004890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Stan and discrete latent parameters</a:t>
            </a:r>
          </a:p>
        </p:txBody>
      </p:sp>
      <p:sp>
        <p:nvSpPr>
          <p:cNvPr id="3" name="Content Placeholder 2"/>
          <p:cNvSpPr>
            <a:spLocks noGrp="1"/>
          </p:cNvSpPr>
          <p:nvPr>
            <p:ph idx="1"/>
          </p:nvPr>
        </p:nvSpPr>
        <p:spPr/>
        <p:txBody>
          <a:bodyPr>
            <a:normAutofit fontScale="92500" lnSpcReduction="10000"/>
          </a:bodyPr>
          <a:lstStyle/>
          <a:p>
            <a:r>
              <a:rPr lang="en-GB" dirty="0"/>
              <a:t>Stan does not allow parameters to be integers. Only data can be integers. </a:t>
            </a:r>
          </a:p>
          <a:p>
            <a:r>
              <a:rPr lang="en-GB" dirty="0"/>
              <a:t>This is infinitely annoying, but the Stan developers are firm in their crusade against discrete latent parameters in the noble pursuit of accurately estimating the tails of distributions and increasing MCMC efficiency. </a:t>
            </a:r>
          </a:p>
          <a:p>
            <a:r>
              <a:rPr lang="en-GB" dirty="0"/>
              <a:t>If you have a model with a latent discrete parameter (e.g. unobserved population size), then you have three options:</a:t>
            </a:r>
          </a:p>
          <a:p>
            <a:pPr marL="914400" lvl="1" indent="-457200">
              <a:buFont typeface="+mj-lt"/>
              <a:buAutoNum type="arabicPeriod"/>
            </a:pPr>
            <a:r>
              <a:rPr lang="en-GB" dirty="0"/>
              <a:t>Re-parameterise your model to “marginalise out” the integer parameter.</a:t>
            </a:r>
          </a:p>
          <a:p>
            <a:pPr marL="914400" lvl="1" indent="-457200">
              <a:buFont typeface="+mj-lt"/>
              <a:buAutoNum type="arabicPeriod"/>
            </a:pPr>
            <a:r>
              <a:rPr lang="en-GB" dirty="0"/>
              <a:t>Use a continuous distribution for your integer parameter (e.g. </a:t>
            </a:r>
            <a:r>
              <a:rPr lang="en-GB" dirty="0" err="1"/>
              <a:t>LogNormal</a:t>
            </a:r>
            <a:r>
              <a:rPr lang="en-GB" dirty="0"/>
              <a:t>).</a:t>
            </a:r>
          </a:p>
          <a:p>
            <a:pPr marL="914400" lvl="1" indent="-457200">
              <a:buFont typeface="+mj-lt"/>
              <a:buAutoNum type="arabicPeriod"/>
            </a:pPr>
            <a:r>
              <a:rPr lang="en-GB" dirty="0"/>
              <a:t>Use JAGS instead of Stan.</a:t>
            </a:r>
          </a:p>
        </p:txBody>
      </p:sp>
      <p:sp>
        <p:nvSpPr>
          <p:cNvPr id="4" name="TextBox 3"/>
          <p:cNvSpPr txBox="1"/>
          <p:nvPr/>
        </p:nvSpPr>
        <p:spPr>
          <a:xfrm>
            <a:off x="0" y="6273225"/>
            <a:ext cx="12192000" cy="584775"/>
          </a:xfrm>
          <a:prstGeom prst="rect">
            <a:avLst/>
          </a:prstGeom>
          <a:noFill/>
        </p:spPr>
        <p:txBody>
          <a:bodyPr wrap="square" rtlCol="0">
            <a:spAutoFit/>
          </a:bodyPr>
          <a:lstStyle/>
          <a:p>
            <a:r>
              <a:rPr lang="en-GB" sz="1600" dirty="0">
                <a:solidFill>
                  <a:schemeClr val="bg1">
                    <a:lumMod val="65000"/>
                  </a:schemeClr>
                </a:solidFill>
              </a:rPr>
              <a:t>Stan Users Guide. Latent discrete parameters. </a:t>
            </a:r>
            <a:r>
              <a:rPr lang="en-GB" sz="1600" dirty="0">
                <a:solidFill>
                  <a:schemeClr val="bg1">
                    <a:lumMod val="65000"/>
                  </a:schemeClr>
                </a:solidFill>
                <a:hlinkClick r:id="rId2"/>
              </a:rPr>
              <a:t>https://mc-stan.org/docs/stan-users-guide/latent-discrete.html#latent-discrete.chapter</a:t>
            </a:r>
            <a:r>
              <a:rPr lang="en-GB" sz="1600" dirty="0">
                <a:solidFill>
                  <a:schemeClr val="bg1">
                    <a:lumMod val="65000"/>
                  </a:schemeClr>
                </a:solidFill>
              </a:rPr>
              <a:t> </a:t>
            </a:r>
            <a:br>
              <a:rPr lang="en-GB" sz="1600" dirty="0">
                <a:solidFill>
                  <a:schemeClr val="bg1">
                    <a:lumMod val="65000"/>
                  </a:schemeClr>
                </a:solidFill>
              </a:rPr>
            </a:br>
            <a:r>
              <a:rPr lang="en-GB" sz="1600" dirty="0">
                <a:solidFill>
                  <a:schemeClr val="bg1">
                    <a:lumMod val="65000"/>
                  </a:schemeClr>
                </a:solidFill>
              </a:rPr>
              <a:t>See Stan Forums for discussion on marginalising out integer parameters for various types of specific models.</a:t>
            </a:r>
          </a:p>
        </p:txBody>
      </p:sp>
    </p:spTree>
    <p:extLst>
      <p:ext uri="{BB962C8B-B14F-4D97-AF65-F5344CB8AC3E}">
        <p14:creationId xmlns:p14="http://schemas.microsoft.com/office/powerpoint/2010/main" val="303874420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Recap</a:t>
            </a:r>
          </a:p>
        </p:txBody>
      </p:sp>
      <p:sp>
        <p:nvSpPr>
          <p:cNvPr id="3" name="Content Placeholder 2"/>
          <p:cNvSpPr>
            <a:spLocks noGrp="1"/>
          </p:cNvSpPr>
          <p:nvPr>
            <p:ph idx="1"/>
          </p:nvPr>
        </p:nvSpPr>
        <p:spPr/>
        <p:txBody>
          <a:bodyPr numCol="2"/>
          <a:lstStyle/>
          <a:p>
            <a:r>
              <a:rPr lang="en-GB" dirty="0"/>
              <a:t>Ordinary linear models</a:t>
            </a:r>
          </a:p>
          <a:p>
            <a:r>
              <a:rPr lang="en-GB" dirty="0"/>
              <a:t>Generalised linear models</a:t>
            </a:r>
          </a:p>
          <a:p>
            <a:pPr lvl="1"/>
            <a:r>
              <a:rPr lang="en-GB" dirty="0"/>
              <a:t>Logistic regression</a:t>
            </a:r>
          </a:p>
          <a:p>
            <a:pPr lvl="1"/>
            <a:r>
              <a:rPr lang="en-GB" dirty="0"/>
              <a:t>Binomial regression</a:t>
            </a:r>
          </a:p>
          <a:p>
            <a:pPr lvl="1"/>
            <a:r>
              <a:rPr lang="en-GB" dirty="0"/>
              <a:t>Poisson regression</a:t>
            </a:r>
          </a:p>
          <a:p>
            <a:r>
              <a:rPr lang="en-GB" dirty="0"/>
              <a:t>Log-linear models</a:t>
            </a:r>
          </a:p>
          <a:p>
            <a:r>
              <a:rPr lang="en-GB" dirty="0"/>
              <a:t>Beta regression</a:t>
            </a:r>
          </a:p>
          <a:p>
            <a:r>
              <a:rPr lang="en-GB" dirty="0"/>
              <a:t>Mark-recapture</a:t>
            </a:r>
          </a:p>
          <a:p>
            <a:pPr marL="0" indent="0">
              <a:buNone/>
            </a:pPr>
            <a:endParaRPr lang="en-GB" dirty="0"/>
          </a:p>
          <a:p>
            <a:pPr marL="0" indent="0">
              <a:buNone/>
            </a:pPr>
            <a:r>
              <a:rPr lang="en-GB" b="1" dirty="0"/>
              <a:t>Hierarchical Models</a:t>
            </a:r>
          </a:p>
          <a:p>
            <a:r>
              <a:rPr lang="en-GB" dirty="0"/>
              <a:t>Random effects</a:t>
            </a:r>
          </a:p>
          <a:p>
            <a:r>
              <a:rPr lang="en-GB" dirty="0"/>
              <a:t>N-mixture models</a:t>
            </a:r>
          </a:p>
          <a:p>
            <a:r>
              <a:rPr lang="en-GB" dirty="0"/>
              <a:t>State-space</a:t>
            </a:r>
          </a:p>
          <a:p>
            <a:pPr lvl="1"/>
            <a:r>
              <a:rPr lang="en-GB" dirty="0" err="1"/>
              <a:t>Dail</a:t>
            </a:r>
            <a:r>
              <a:rPr lang="en-GB" dirty="0"/>
              <a:t>-Madsen N-mixture</a:t>
            </a:r>
          </a:p>
          <a:p>
            <a:pPr lvl="1"/>
            <a:r>
              <a:rPr lang="en-GB" dirty="0"/>
              <a:t>Mark-recapture state-space</a:t>
            </a:r>
          </a:p>
          <a:p>
            <a:endParaRPr lang="en-GB" dirty="0"/>
          </a:p>
        </p:txBody>
      </p:sp>
    </p:spTree>
    <p:extLst>
      <p:ext uri="{BB962C8B-B14F-4D97-AF65-F5344CB8AC3E}">
        <p14:creationId xmlns:p14="http://schemas.microsoft.com/office/powerpoint/2010/main" val="368964512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Components of a model</a:t>
            </a:r>
          </a:p>
        </p:txBody>
      </p:sp>
      <p:sp>
        <p:nvSpPr>
          <p:cNvPr id="3" name="Content Placeholder 2"/>
          <p:cNvSpPr>
            <a:spLocks noGrp="1"/>
          </p:cNvSpPr>
          <p:nvPr>
            <p:ph idx="1"/>
          </p:nvPr>
        </p:nvSpPr>
        <p:spPr/>
        <p:txBody>
          <a:bodyPr>
            <a:normAutofit/>
          </a:bodyPr>
          <a:lstStyle/>
          <a:p>
            <a:pPr marL="914400" lvl="1" indent="-457200">
              <a:buFont typeface="+mj-lt"/>
              <a:buAutoNum type="arabicPeriod"/>
            </a:pPr>
            <a:r>
              <a:rPr lang="en-GB" sz="2800" dirty="0"/>
              <a:t>Data model (likelihood)</a:t>
            </a:r>
          </a:p>
          <a:p>
            <a:pPr marL="914400" lvl="1" indent="-457200">
              <a:buFont typeface="+mj-lt"/>
              <a:buAutoNum type="arabicPeriod"/>
            </a:pPr>
            <a:endParaRPr lang="en-GB" sz="2800" dirty="0"/>
          </a:p>
          <a:p>
            <a:pPr marL="914400" lvl="1" indent="-457200">
              <a:buFont typeface="+mj-lt"/>
              <a:buAutoNum type="arabicPeriod"/>
            </a:pPr>
            <a:r>
              <a:rPr lang="en-GB" sz="2800" dirty="0"/>
              <a:t>Deterministic process</a:t>
            </a:r>
          </a:p>
          <a:p>
            <a:pPr marL="914400" lvl="1" indent="-457200">
              <a:buFont typeface="+mj-lt"/>
              <a:buAutoNum type="arabicPeriod"/>
            </a:pPr>
            <a:endParaRPr lang="en-GB" sz="2800" dirty="0"/>
          </a:p>
          <a:p>
            <a:pPr marL="914400" lvl="1" indent="-457200">
              <a:buFont typeface="+mj-lt"/>
              <a:buAutoNum type="arabicPeriod"/>
            </a:pPr>
            <a:r>
              <a:rPr lang="en-GB" sz="2800" dirty="0"/>
              <a:t>Parameter model (</a:t>
            </a:r>
            <a:r>
              <a:rPr lang="en-GB" sz="2800" i="1" dirty="0"/>
              <a:t>e.g.</a:t>
            </a:r>
            <a:r>
              <a:rPr lang="en-GB" sz="2800" dirty="0"/>
              <a:t> priors)</a:t>
            </a:r>
          </a:p>
        </p:txBody>
      </p:sp>
      <mc:AlternateContent xmlns:mc="http://schemas.openxmlformats.org/markup-compatibility/2006" xmlns:a14="http://schemas.microsoft.com/office/drawing/2010/main">
        <mc:Choice Requires="a14">
          <p:sp>
            <p:nvSpPr>
              <p:cNvPr id="4" name="Rectangle 3"/>
              <p:cNvSpPr/>
              <p:nvPr/>
            </p:nvSpPr>
            <p:spPr>
              <a:xfrm>
                <a:off x="7014403" y="1785677"/>
                <a:ext cx="3225209" cy="3108543"/>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GB" sz="2800" i="1" smtClean="0">
                              <a:latin typeface="Cambria Math" panose="02040503050406030204" pitchFamily="18" charset="0"/>
                            </a:rPr>
                          </m:ctrlPr>
                        </m:sSubPr>
                        <m:e>
                          <m:r>
                            <a:rPr lang="en-GB" sz="2800" i="1">
                              <a:latin typeface="Cambria Math" panose="02040503050406030204" pitchFamily="18" charset="0"/>
                            </a:rPr>
                            <m:t>𝑦</m:t>
                          </m:r>
                        </m:e>
                        <m:sub>
                          <m:r>
                            <a:rPr lang="en-GB" sz="2800" i="1">
                              <a:latin typeface="Cambria Math" panose="02040503050406030204" pitchFamily="18" charset="0"/>
                            </a:rPr>
                            <m:t>𝑖</m:t>
                          </m:r>
                        </m:sub>
                      </m:sSub>
                      <m:r>
                        <a:rPr lang="en-GB" sz="2800" i="1">
                          <a:latin typeface="Cambria Math" panose="02040503050406030204" pitchFamily="18" charset="0"/>
                        </a:rPr>
                        <m:t> ~ </m:t>
                      </m:r>
                      <m:r>
                        <a:rPr lang="en-GB" sz="2800" i="1">
                          <a:latin typeface="Cambria Math" panose="02040503050406030204" pitchFamily="18" charset="0"/>
                        </a:rPr>
                        <m:t>𝑁𝑜𝑟𝑚𝑎𝑙</m:t>
                      </m:r>
                      <m:d>
                        <m:dPr>
                          <m:ctrlPr>
                            <a:rPr lang="en-GB" sz="2800" i="1">
                              <a:latin typeface="Cambria Math" panose="02040503050406030204" pitchFamily="18" charset="0"/>
                            </a:rPr>
                          </m:ctrlPr>
                        </m:dPr>
                        <m:e>
                          <m:sSub>
                            <m:sSubPr>
                              <m:ctrlPr>
                                <a:rPr lang="en-GB" sz="2800" i="1">
                                  <a:latin typeface="Cambria Math" panose="02040503050406030204" pitchFamily="18" charset="0"/>
                                </a:rPr>
                              </m:ctrlPr>
                            </m:sSubPr>
                            <m:e>
                              <m:r>
                                <a:rPr lang="en-GB" sz="2800" i="1">
                                  <a:latin typeface="Cambria Math" panose="02040503050406030204" pitchFamily="18" charset="0"/>
                                </a:rPr>
                                <m:t>𝜇</m:t>
                              </m:r>
                            </m:e>
                            <m:sub>
                              <m:r>
                                <a:rPr lang="en-GB" sz="2800" i="1">
                                  <a:latin typeface="Cambria Math" panose="02040503050406030204" pitchFamily="18" charset="0"/>
                                </a:rPr>
                                <m:t>𝑖</m:t>
                              </m:r>
                            </m:sub>
                          </m:sSub>
                          <m:r>
                            <a:rPr lang="en-GB" sz="2800" i="1">
                              <a:latin typeface="Cambria Math" panose="02040503050406030204" pitchFamily="18" charset="0"/>
                            </a:rPr>
                            <m:t>, </m:t>
                          </m:r>
                          <m:r>
                            <a:rPr lang="en-GB" sz="2800" i="1">
                              <a:latin typeface="Cambria Math" panose="02040503050406030204" pitchFamily="18" charset="0"/>
                            </a:rPr>
                            <m:t>𝜎</m:t>
                          </m:r>
                        </m:e>
                      </m:d>
                    </m:oMath>
                  </m:oMathPara>
                </a14:m>
                <a:endParaRPr lang="en-GB" sz="2800" dirty="0"/>
              </a:p>
              <a:p>
                <a:endParaRPr lang="en-GB" sz="2800" dirty="0"/>
              </a:p>
              <a:p>
                <a:pPr/>
                <a14:m>
                  <m:oMathPara xmlns:m="http://schemas.openxmlformats.org/officeDocument/2006/math">
                    <m:oMathParaPr>
                      <m:jc m:val="centerGroup"/>
                    </m:oMathParaPr>
                    <m:oMath xmlns:m="http://schemas.openxmlformats.org/officeDocument/2006/math">
                      <m:sSub>
                        <m:sSubPr>
                          <m:ctrlPr>
                            <a:rPr lang="en-GB" sz="2800" i="1">
                              <a:latin typeface="Cambria Math" panose="02040503050406030204" pitchFamily="18" charset="0"/>
                            </a:rPr>
                          </m:ctrlPr>
                        </m:sSubPr>
                        <m:e>
                          <m:r>
                            <a:rPr lang="en-GB" sz="2800" i="1">
                              <a:latin typeface="Cambria Math" panose="02040503050406030204" pitchFamily="18" charset="0"/>
                            </a:rPr>
                            <m:t>𝜇</m:t>
                          </m:r>
                        </m:e>
                        <m:sub>
                          <m:r>
                            <a:rPr lang="en-GB" sz="2800" i="1">
                              <a:latin typeface="Cambria Math" panose="02040503050406030204" pitchFamily="18" charset="0"/>
                            </a:rPr>
                            <m:t>𝑖</m:t>
                          </m:r>
                        </m:sub>
                      </m:sSub>
                      <m:r>
                        <a:rPr lang="en-GB" sz="2800" i="1">
                          <a:latin typeface="Cambria Math" panose="02040503050406030204" pitchFamily="18" charset="0"/>
                        </a:rPr>
                        <m:t>=</m:t>
                      </m:r>
                      <m:r>
                        <a:rPr lang="en-GB" sz="2800" i="1">
                          <a:latin typeface="Cambria Math" panose="02040503050406030204" pitchFamily="18" charset="0"/>
                        </a:rPr>
                        <m:t>𝛼</m:t>
                      </m:r>
                      <m:r>
                        <a:rPr lang="en-GB" sz="2800" i="1">
                          <a:latin typeface="Cambria Math" panose="02040503050406030204" pitchFamily="18" charset="0"/>
                        </a:rPr>
                        <m:t>+</m:t>
                      </m:r>
                      <m:r>
                        <a:rPr lang="en-GB" sz="2800" b="0" i="1" smtClean="0">
                          <a:latin typeface="Cambria Math" panose="02040503050406030204" pitchFamily="18" charset="0"/>
                        </a:rPr>
                        <m:t>𝛽</m:t>
                      </m:r>
                      <m:sSub>
                        <m:sSubPr>
                          <m:ctrlPr>
                            <a:rPr lang="en-GB" sz="2800" b="0" i="1" smtClean="0">
                              <a:latin typeface="Cambria Math" panose="02040503050406030204" pitchFamily="18" charset="0"/>
                            </a:rPr>
                          </m:ctrlPr>
                        </m:sSubPr>
                        <m:e>
                          <m:r>
                            <a:rPr lang="en-GB" sz="2800" b="0" i="1" smtClean="0">
                              <a:latin typeface="Cambria Math" panose="02040503050406030204" pitchFamily="18" charset="0"/>
                            </a:rPr>
                            <m:t>𝑥</m:t>
                          </m:r>
                        </m:e>
                        <m:sub>
                          <m:r>
                            <a:rPr lang="en-GB" sz="2800" b="0" i="1" smtClean="0">
                              <a:latin typeface="Cambria Math" panose="02040503050406030204" pitchFamily="18" charset="0"/>
                            </a:rPr>
                            <m:t>𝑖</m:t>
                          </m:r>
                        </m:sub>
                      </m:sSub>
                    </m:oMath>
                  </m:oMathPara>
                </a14:m>
                <a:endParaRPr lang="en-GB" sz="2800" dirty="0"/>
              </a:p>
              <a:p>
                <a:endParaRPr lang="en-GB" sz="280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GB" sz="2800" i="1">
                          <a:latin typeface="Cambria Math" panose="02040503050406030204" pitchFamily="18" charset="0"/>
                        </a:rPr>
                        <m:t>𝛼</m:t>
                      </m:r>
                      <m:r>
                        <a:rPr lang="en-GB" sz="2800" i="1">
                          <a:latin typeface="Cambria Math" panose="02040503050406030204" pitchFamily="18" charset="0"/>
                        </a:rPr>
                        <m:t> ~ </m:t>
                      </m:r>
                      <m:r>
                        <a:rPr lang="en-GB" sz="2800" b="0" i="1" smtClean="0">
                          <a:latin typeface="Cambria Math" panose="02040503050406030204" pitchFamily="18" charset="0"/>
                        </a:rPr>
                        <m:t>𝑁𝑜𝑟𝑚𝑎𝑙</m:t>
                      </m:r>
                      <m:d>
                        <m:dPr>
                          <m:ctrlPr>
                            <a:rPr lang="en-GB" sz="2800" b="0" i="1" smtClean="0">
                              <a:latin typeface="Cambria Math" panose="02040503050406030204" pitchFamily="18" charset="0"/>
                            </a:rPr>
                          </m:ctrlPr>
                        </m:dPr>
                        <m:e>
                          <m:r>
                            <a:rPr lang="en-GB" sz="2800" b="0" i="1" smtClean="0">
                              <a:latin typeface="Cambria Math" panose="02040503050406030204" pitchFamily="18" charset="0"/>
                            </a:rPr>
                            <m:t>0, 1</m:t>
                          </m:r>
                        </m:e>
                      </m:d>
                    </m:oMath>
                    <m:oMath xmlns:m="http://schemas.openxmlformats.org/officeDocument/2006/math">
                      <m:r>
                        <a:rPr lang="en-GB" sz="2800" b="0" i="1" smtClean="0">
                          <a:latin typeface="Cambria Math" panose="02040503050406030204" pitchFamily="18" charset="0"/>
                        </a:rPr>
                        <m:t>𝛽</m:t>
                      </m:r>
                      <m:r>
                        <a:rPr lang="en-GB" sz="2800" b="0" i="1" smtClean="0">
                          <a:latin typeface="Cambria Math" panose="02040503050406030204" pitchFamily="18" charset="0"/>
                        </a:rPr>
                        <m:t> ~ </m:t>
                      </m:r>
                      <m:r>
                        <a:rPr lang="en-GB" sz="2800" b="0" i="1" smtClean="0">
                          <a:latin typeface="Cambria Math" panose="02040503050406030204" pitchFamily="18" charset="0"/>
                        </a:rPr>
                        <m:t>𝑁𝑜𝑟𝑚𝑎𝑙</m:t>
                      </m:r>
                      <m:d>
                        <m:dPr>
                          <m:ctrlPr>
                            <a:rPr lang="en-GB" sz="2800" b="0" i="1" smtClean="0">
                              <a:latin typeface="Cambria Math" panose="02040503050406030204" pitchFamily="18" charset="0"/>
                            </a:rPr>
                          </m:ctrlPr>
                        </m:dPr>
                        <m:e>
                          <m:r>
                            <a:rPr lang="en-GB" sz="2800" b="0" i="1" smtClean="0">
                              <a:latin typeface="Cambria Math" panose="02040503050406030204" pitchFamily="18" charset="0"/>
                            </a:rPr>
                            <m:t>0, 1</m:t>
                          </m:r>
                        </m:e>
                      </m:d>
                    </m:oMath>
                    <m:oMath xmlns:m="http://schemas.openxmlformats.org/officeDocument/2006/math">
                      <m:r>
                        <a:rPr lang="en-GB" sz="2800" b="0" i="1" smtClean="0">
                          <a:latin typeface="Cambria Math" panose="02040503050406030204" pitchFamily="18" charset="0"/>
                        </a:rPr>
                        <m:t>𝜎</m:t>
                      </m:r>
                      <m:r>
                        <a:rPr lang="en-GB" sz="2800" b="0" i="1" smtClean="0">
                          <a:latin typeface="Cambria Math" panose="02040503050406030204" pitchFamily="18" charset="0"/>
                        </a:rPr>
                        <m:t> ~ </m:t>
                      </m:r>
                      <m:r>
                        <a:rPr lang="en-GB" sz="2800" b="0" i="1" smtClean="0">
                          <a:latin typeface="Cambria Math" panose="02040503050406030204" pitchFamily="18" charset="0"/>
                        </a:rPr>
                        <m:t>𝐻𝑎𝑙𝑓𝐶𝑎𝑢𝑐h𝑦</m:t>
                      </m:r>
                      <m:r>
                        <a:rPr lang="en-GB" sz="2800" b="0" i="1" smtClean="0">
                          <a:latin typeface="Cambria Math" panose="02040503050406030204" pitchFamily="18" charset="0"/>
                        </a:rPr>
                        <m:t>(0, 1)</m:t>
                      </m:r>
                    </m:oMath>
                  </m:oMathPara>
                </a14:m>
                <a:endParaRPr lang="en-GB" sz="2800" b="0" dirty="0"/>
              </a:p>
            </p:txBody>
          </p:sp>
        </mc:Choice>
        <mc:Fallback xmlns="">
          <p:sp>
            <p:nvSpPr>
              <p:cNvPr id="4" name="Rectangle 3"/>
              <p:cNvSpPr>
                <a:spLocks noRot="1" noChangeAspect="1" noMove="1" noResize="1" noEditPoints="1" noAdjustHandles="1" noChangeArrowheads="1" noChangeShapeType="1" noTextEdit="1"/>
              </p:cNvSpPr>
              <p:nvPr/>
            </p:nvSpPr>
            <p:spPr>
              <a:xfrm>
                <a:off x="7014403" y="1785677"/>
                <a:ext cx="3225209" cy="3108543"/>
              </a:xfrm>
              <a:prstGeom prst="rect">
                <a:avLst/>
              </a:prstGeom>
              <a:blipFill>
                <a:blip r:embed="rId2"/>
                <a:stretch>
                  <a:fillRect r="-6994"/>
                </a:stretch>
              </a:blipFill>
            </p:spPr>
            <p:txBody>
              <a:bodyPr/>
              <a:lstStyle/>
              <a:p>
                <a:r>
                  <a:rPr lang="en-GB">
                    <a:noFill/>
                  </a:rPr>
                  <a:t> </a:t>
                </a:r>
              </a:p>
            </p:txBody>
          </p:sp>
        </mc:Fallback>
      </mc:AlternateContent>
    </p:spTree>
    <p:extLst>
      <p:ext uri="{BB962C8B-B14F-4D97-AF65-F5344CB8AC3E}">
        <p14:creationId xmlns:p14="http://schemas.microsoft.com/office/powerpoint/2010/main" val="312686104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6747163" y="3061855"/>
            <a:ext cx="480290" cy="526473"/>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p:cNvSpPr/>
          <p:nvPr/>
        </p:nvSpPr>
        <p:spPr>
          <a:xfrm>
            <a:off x="4525818" y="2216729"/>
            <a:ext cx="480290" cy="526473"/>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p:txBody>
          <a:bodyPr/>
          <a:lstStyle/>
          <a:p>
            <a:r>
              <a:rPr lang="en-GB" dirty="0"/>
              <a:t>Tie it all together…</a:t>
            </a:r>
            <a:br>
              <a:rPr lang="en-GB" dirty="0"/>
            </a:br>
            <a:r>
              <a:rPr lang="en-GB" sz="3200" dirty="0"/>
              <a:t>Ordinary linear regression</a:t>
            </a:r>
            <a:endParaRPr lang="en-GB"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0" indent="0">
                  <a:buNone/>
                </a:pPr>
                <a:endParaRPr lang="en-GB"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𝑖</m:t>
                          </m:r>
                        </m:sub>
                      </m:sSub>
                      <m:r>
                        <a:rPr lang="en-GB" b="0" i="1" smtClean="0">
                          <a:latin typeface="Cambria Math" panose="02040503050406030204" pitchFamily="18" charset="0"/>
                        </a:rPr>
                        <m:t> ~ </m:t>
                      </m:r>
                      <m:r>
                        <a:rPr lang="en-GB" b="0" i="1" smtClean="0">
                          <a:latin typeface="Cambria Math" panose="02040503050406030204" pitchFamily="18" charset="0"/>
                        </a:rPr>
                        <m:t>𝑁𝑜𝑟𝑚𝑎𝑙</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𝜇</m:t>
                              </m:r>
                            </m:e>
                            <m:sub>
                              <m:r>
                                <a:rPr lang="en-GB" b="0" i="1" smtClean="0">
                                  <a:latin typeface="Cambria Math" panose="02040503050406030204" pitchFamily="18" charset="0"/>
                                </a:rPr>
                                <m:t>𝑖</m:t>
                              </m:r>
                            </m:sub>
                          </m:sSub>
                          <m:r>
                            <a:rPr lang="en-GB" b="0" i="1" smtClean="0">
                              <a:latin typeface="Cambria Math" panose="02040503050406030204" pitchFamily="18" charset="0"/>
                            </a:rPr>
                            <m:t>, </m:t>
                          </m:r>
                          <m:r>
                            <a:rPr lang="en-GB" b="0" i="1" smtClean="0">
                              <a:latin typeface="Cambria Math" panose="02040503050406030204" pitchFamily="18" charset="0"/>
                            </a:rPr>
                            <m:t>𝜎</m:t>
                          </m:r>
                        </m:e>
                      </m:d>
                    </m:oMath>
                  </m:oMathPara>
                </a14:m>
                <a:endParaRPr lang="en-GB" b="0" dirty="0"/>
              </a:p>
              <a:p>
                <a:pPr marL="0" indent="0">
                  <a:buNone/>
                </a:pPr>
                <a:r>
                  <a:rPr lang="en-GB" dirty="0"/>
                  <a:t>	</a:t>
                </a:r>
              </a:p>
              <a:p>
                <a:pPr marL="0" indent="0">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𝜇</m:t>
                          </m:r>
                        </m:e>
                        <m:sub>
                          <m:r>
                            <a:rPr lang="en-GB" b="0" i="1" smtClean="0">
                              <a:latin typeface="Cambria Math" panose="02040503050406030204" pitchFamily="18" charset="0"/>
                            </a:rPr>
                            <m:t>𝑖</m:t>
                          </m:r>
                        </m:sub>
                      </m:sSub>
                      <m:r>
                        <a:rPr lang="en-GB" b="0" i="1" smtClean="0">
                          <a:latin typeface="Cambria Math" panose="02040503050406030204" pitchFamily="18" charset="0"/>
                        </a:rPr>
                        <m:t>=</m:t>
                      </m:r>
                      <m:r>
                        <a:rPr lang="en-GB" b="0" i="1" smtClean="0">
                          <a:latin typeface="Cambria Math" panose="02040503050406030204" pitchFamily="18" charset="0"/>
                        </a:rPr>
                        <m:t>𝛼</m:t>
                      </m:r>
                      <m:r>
                        <a:rPr lang="en-GB" b="0" i="1" smtClean="0">
                          <a:latin typeface="Cambria Math" panose="02040503050406030204" pitchFamily="18" charset="0"/>
                        </a:rPr>
                        <m:t>+</m:t>
                      </m:r>
                      <m:r>
                        <a:rPr lang="en-GB" b="0" i="1" smtClean="0">
                          <a:latin typeface="Cambria Math" panose="02040503050406030204" pitchFamily="18" charset="0"/>
                        </a:rPr>
                        <m:t>𝛽</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𝑖</m:t>
                          </m:r>
                        </m:sub>
                      </m:sSub>
                    </m:oMath>
                  </m:oMathPara>
                </a14:m>
                <a:endParaRPr lang="en-GB" b="0" dirty="0"/>
              </a:p>
              <a:p>
                <a:pPr marL="0" indent="0">
                  <a:buNone/>
                </a:pPr>
                <a:endParaRPr lang="en-GB"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GB">
                    <a:noFill/>
                  </a:rPr>
                  <a:t> </a:t>
                </a:r>
              </a:p>
            </p:txBody>
          </p:sp>
        </mc:Fallback>
      </mc:AlternateContent>
      <p:sp>
        <p:nvSpPr>
          <p:cNvPr id="4" name="TextBox 3"/>
          <p:cNvSpPr txBox="1"/>
          <p:nvPr/>
        </p:nvSpPr>
        <p:spPr>
          <a:xfrm>
            <a:off x="6899564" y="6493159"/>
            <a:ext cx="5292436" cy="369332"/>
          </a:xfrm>
          <a:prstGeom prst="rect">
            <a:avLst/>
          </a:prstGeom>
          <a:noFill/>
        </p:spPr>
        <p:txBody>
          <a:bodyPr wrap="square" rtlCol="0">
            <a:spAutoFit/>
          </a:bodyPr>
          <a:lstStyle/>
          <a:p>
            <a:pPr algn="r"/>
            <a:r>
              <a:rPr lang="en-GB" dirty="0"/>
              <a:t>Priors not shown</a:t>
            </a:r>
          </a:p>
        </p:txBody>
      </p:sp>
    </p:spTree>
    <p:extLst>
      <p:ext uri="{BB962C8B-B14F-4D97-AF65-F5344CB8AC3E}">
        <p14:creationId xmlns:p14="http://schemas.microsoft.com/office/powerpoint/2010/main" val="374810930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7070437" y="3098799"/>
            <a:ext cx="480290" cy="526473"/>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p:cNvSpPr/>
          <p:nvPr/>
        </p:nvSpPr>
        <p:spPr>
          <a:xfrm>
            <a:off x="4692072" y="2207492"/>
            <a:ext cx="480290" cy="526473"/>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p:txBody>
          <a:bodyPr/>
          <a:lstStyle/>
          <a:p>
            <a:r>
              <a:rPr lang="en-GB" dirty="0"/>
              <a:t>Tie it all together…</a:t>
            </a:r>
            <a:br>
              <a:rPr lang="en-GB" dirty="0"/>
            </a:br>
            <a:r>
              <a:rPr lang="en-GB" sz="3200" dirty="0"/>
              <a:t>Generalised linear model</a:t>
            </a:r>
            <a:endParaRPr lang="en-GB"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0" indent="0">
                  <a:buNone/>
                </a:pPr>
                <a:endParaRPr lang="en-GB"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𝑖</m:t>
                          </m:r>
                        </m:sub>
                      </m:sSub>
                      <m:r>
                        <a:rPr lang="en-GB" b="0" i="1" smtClean="0">
                          <a:latin typeface="Cambria Math" panose="02040503050406030204" pitchFamily="18" charset="0"/>
                        </a:rPr>
                        <m:t> ~ </m:t>
                      </m:r>
                      <m:r>
                        <a:rPr lang="en-GB" b="0" i="1" smtClean="0">
                          <a:latin typeface="Cambria Math" panose="02040503050406030204" pitchFamily="18" charset="0"/>
                        </a:rPr>
                        <m:t>𝑃𝑜𝑖𝑠𝑠𝑜𝑛</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𝜆</m:t>
                              </m:r>
                            </m:e>
                            <m:sub>
                              <m:r>
                                <a:rPr lang="en-GB" b="0" i="1" smtClean="0">
                                  <a:latin typeface="Cambria Math" panose="02040503050406030204" pitchFamily="18" charset="0"/>
                                </a:rPr>
                                <m:t>𝑖</m:t>
                              </m:r>
                            </m:sub>
                          </m:sSub>
                        </m:e>
                      </m:d>
                    </m:oMath>
                  </m:oMathPara>
                </a14:m>
                <a:endParaRPr lang="en-GB" b="0" dirty="0"/>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r>
                        <m:rPr>
                          <m:sty m:val="p"/>
                        </m:rPr>
                        <a:rPr lang="en-GB" b="0" i="0" smtClean="0">
                          <a:latin typeface="Cambria Math" panose="02040503050406030204" pitchFamily="18" charset="0"/>
                        </a:rPr>
                        <m:t>log</m:t>
                      </m:r>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𝜆</m:t>
                          </m:r>
                        </m:e>
                        <m:sub>
                          <m:r>
                            <a:rPr lang="en-GB" b="0" i="1" smtClean="0">
                              <a:latin typeface="Cambria Math" panose="02040503050406030204" pitchFamily="18" charset="0"/>
                            </a:rPr>
                            <m:t>𝑖</m:t>
                          </m:r>
                        </m:sub>
                      </m:sSub>
                      <m:r>
                        <a:rPr lang="en-GB" b="0" i="1" smtClean="0">
                          <a:latin typeface="Cambria Math" panose="02040503050406030204" pitchFamily="18" charset="0"/>
                        </a:rPr>
                        <m:t>)=</m:t>
                      </m:r>
                      <m:r>
                        <a:rPr lang="en-GB" b="0" i="1" smtClean="0">
                          <a:latin typeface="Cambria Math" panose="02040503050406030204" pitchFamily="18" charset="0"/>
                        </a:rPr>
                        <m:t>𝛼</m:t>
                      </m:r>
                      <m:r>
                        <a:rPr lang="en-GB" b="0" i="1" smtClean="0">
                          <a:latin typeface="Cambria Math" panose="02040503050406030204" pitchFamily="18" charset="0"/>
                        </a:rPr>
                        <m:t>+</m:t>
                      </m:r>
                      <m:r>
                        <a:rPr lang="en-GB" b="0" i="1" smtClean="0">
                          <a:latin typeface="Cambria Math" panose="02040503050406030204" pitchFamily="18" charset="0"/>
                        </a:rPr>
                        <m:t>𝛽</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𝑖</m:t>
                          </m:r>
                        </m:sub>
                      </m:sSub>
                    </m:oMath>
                  </m:oMathPara>
                </a14:m>
                <a:endParaRPr lang="en-GB" b="0" dirty="0"/>
              </a:p>
              <a:p>
                <a:pPr marL="0" indent="0">
                  <a:buNone/>
                </a:pPr>
                <a:endParaRPr lang="en-GB"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GB">
                    <a:noFill/>
                  </a:rPr>
                  <a:t> </a:t>
                </a:r>
              </a:p>
            </p:txBody>
          </p:sp>
        </mc:Fallback>
      </mc:AlternateContent>
      <p:sp>
        <p:nvSpPr>
          <p:cNvPr id="4" name="TextBox 3"/>
          <p:cNvSpPr txBox="1"/>
          <p:nvPr/>
        </p:nvSpPr>
        <p:spPr>
          <a:xfrm>
            <a:off x="6899564" y="6493159"/>
            <a:ext cx="5292436" cy="369332"/>
          </a:xfrm>
          <a:prstGeom prst="rect">
            <a:avLst/>
          </a:prstGeom>
          <a:noFill/>
        </p:spPr>
        <p:txBody>
          <a:bodyPr wrap="square" rtlCol="0">
            <a:spAutoFit/>
          </a:bodyPr>
          <a:lstStyle/>
          <a:p>
            <a:pPr algn="r"/>
            <a:r>
              <a:rPr lang="en-GB" dirty="0"/>
              <a:t>Priors not shown</a:t>
            </a:r>
          </a:p>
        </p:txBody>
      </p:sp>
    </p:spTree>
    <p:extLst>
      <p:ext uri="{BB962C8B-B14F-4D97-AF65-F5344CB8AC3E}">
        <p14:creationId xmlns:p14="http://schemas.microsoft.com/office/powerpoint/2010/main" val="57664578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7190508" y="3061855"/>
            <a:ext cx="480290" cy="526473"/>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p:cNvSpPr/>
          <p:nvPr/>
        </p:nvSpPr>
        <p:spPr>
          <a:xfrm>
            <a:off x="4378035" y="2216728"/>
            <a:ext cx="480290" cy="526473"/>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p:txBody>
          <a:bodyPr/>
          <a:lstStyle/>
          <a:p>
            <a:r>
              <a:rPr lang="en-GB" dirty="0"/>
              <a:t>Tie it all together…</a:t>
            </a:r>
            <a:br>
              <a:rPr lang="en-GB" dirty="0"/>
            </a:br>
            <a:r>
              <a:rPr lang="en-GB" sz="3200" dirty="0"/>
              <a:t>Generalised linear model</a:t>
            </a:r>
            <a:endParaRPr lang="en-GB"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0" indent="0">
                  <a:buNone/>
                </a:pPr>
                <a:endParaRPr lang="en-GB"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𝑖</m:t>
                          </m:r>
                        </m:sub>
                      </m:sSub>
                      <m:r>
                        <a:rPr lang="en-GB" b="0" i="1" smtClean="0">
                          <a:latin typeface="Cambria Math" panose="02040503050406030204" pitchFamily="18" charset="0"/>
                        </a:rPr>
                        <m:t> ~ </m:t>
                      </m:r>
                      <m:r>
                        <a:rPr lang="en-GB" b="0" i="1" smtClean="0">
                          <a:latin typeface="Cambria Math" panose="02040503050406030204" pitchFamily="18" charset="0"/>
                        </a:rPr>
                        <m:t>𝐵𝑖𝑛𝑜𝑚𝑖𝑎𝑙</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𝑁</m:t>
                              </m:r>
                            </m:e>
                            <m:sub>
                              <m:r>
                                <a:rPr lang="en-GB" b="0" i="1" smtClean="0">
                                  <a:latin typeface="Cambria Math" panose="02040503050406030204" pitchFamily="18" charset="0"/>
                                </a:rPr>
                                <m:t>𝑖</m:t>
                              </m:r>
                            </m:sub>
                          </m:sSub>
                          <m:r>
                            <a:rPr lang="en-GB" b="0" i="1" smtClean="0">
                              <a:latin typeface="Cambria Math" panose="02040503050406030204" pitchFamily="18" charset="0"/>
                            </a:rPr>
                            <m:t>, </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𝜌</m:t>
                              </m:r>
                            </m:e>
                            <m:sub>
                              <m:r>
                                <a:rPr lang="en-GB" b="0" i="1" smtClean="0">
                                  <a:latin typeface="Cambria Math" panose="02040503050406030204" pitchFamily="18" charset="0"/>
                                </a:rPr>
                                <m:t>𝑖</m:t>
                              </m:r>
                            </m:sub>
                          </m:sSub>
                        </m:e>
                      </m:d>
                    </m:oMath>
                  </m:oMathPara>
                </a14:m>
                <a:endParaRPr lang="en-GB" b="0" dirty="0"/>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r>
                        <m:rPr>
                          <m:sty m:val="p"/>
                        </m:rPr>
                        <a:rPr lang="en-GB">
                          <a:latin typeface="Cambria Math" panose="02040503050406030204" pitchFamily="18" charset="0"/>
                        </a:rPr>
                        <m:t>l</m:t>
                      </m:r>
                      <m:r>
                        <m:rPr>
                          <m:sty m:val="p"/>
                        </m:rPr>
                        <a:rPr lang="en-GB" b="0" i="0" smtClean="0">
                          <a:latin typeface="Cambria Math" panose="02040503050406030204" pitchFamily="18" charset="0"/>
                        </a:rPr>
                        <m:t>ogit</m:t>
                      </m:r>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𝜌</m:t>
                          </m:r>
                        </m:e>
                        <m:sub>
                          <m:r>
                            <a:rPr lang="en-GB" b="0" i="1" smtClean="0">
                              <a:latin typeface="Cambria Math" panose="02040503050406030204" pitchFamily="18" charset="0"/>
                            </a:rPr>
                            <m:t>𝑖</m:t>
                          </m:r>
                        </m:sub>
                      </m:sSub>
                      <m:r>
                        <a:rPr lang="en-GB" b="0" i="1" smtClean="0">
                          <a:latin typeface="Cambria Math" panose="02040503050406030204" pitchFamily="18" charset="0"/>
                        </a:rPr>
                        <m:t>)=</m:t>
                      </m:r>
                      <m:r>
                        <a:rPr lang="en-GB" b="0" i="1" smtClean="0">
                          <a:latin typeface="Cambria Math" panose="02040503050406030204" pitchFamily="18" charset="0"/>
                        </a:rPr>
                        <m:t>𝛼</m:t>
                      </m:r>
                      <m:r>
                        <a:rPr lang="en-GB" b="0" i="1" smtClean="0">
                          <a:latin typeface="Cambria Math" panose="02040503050406030204" pitchFamily="18" charset="0"/>
                        </a:rPr>
                        <m:t>+</m:t>
                      </m:r>
                      <m:r>
                        <a:rPr lang="en-GB" b="0" i="1" smtClean="0">
                          <a:latin typeface="Cambria Math" panose="02040503050406030204" pitchFamily="18" charset="0"/>
                        </a:rPr>
                        <m:t>𝛽</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𝑖</m:t>
                          </m:r>
                        </m:sub>
                      </m:sSub>
                    </m:oMath>
                  </m:oMathPara>
                </a14:m>
                <a:endParaRPr lang="en-GB" b="0" dirty="0"/>
              </a:p>
              <a:p>
                <a:pPr marL="0" indent="0">
                  <a:buNone/>
                </a:pPr>
                <a:endParaRPr lang="en-GB"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GB">
                    <a:noFill/>
                  </a:rPr>
                  <a:t> </a:t>
                </a:r>
              </a:p>
            </p:txBody>
          </p:sp>
        </mc:Fallback>
      </mc:AlternateContent>
      <p:sp>
        <p:nvSpPr>
          <p:cNvPr id="4" name="TextBox 3"/>
          <p:cNvSpPr txBox="1"/>
          <p:nvPr/>
        </p:nvSpPr>
        <p:spPr>
          <a:xfrm>
            <a:off x="6899564" y="6493159"/>
            <a:ext cx="5292436" cy="369332"/>
          </a:xfrm>
          <a:prstGeom prst="rect">
            <a:avLst/>
          </a:prstGeom>
          <a:noFill/>
        </p:spPr>
        <p:txBody>
          <a:bodyPr wrap="square" rtlCol="0">
            <a:spAutoFit/>
          </a:bodyPr>
          <a:lstStyle/>
          <a:p>
            <a:pPr algn="r"/>
            <a:r>
              <a:rPr lang="en-GB" dirty="0"/>
              <a:t>Priors not shown</a:t>
            </a:r>
          </a:p>
        </p:txBody>
      </p:sp>
    </p:spTree>
    <p:extLst>
      <p:ext uri="{BB962C8B-B14F-4D97-AF65-F5344CB8AC3E}">
        <p14:creationId xmlns:p14="http://schemas.microsoft.com/office/powerpoint/2010/main" val="65380361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7255163" y="3080328"/>
            <a:ext cx="480290" cy="526473"/>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p:cNvSpPr/>
          <p:nvPr/>
        </p:nvSpPr>
        <p:spPr>
          <a:xfrm>
            <a:off x="4378035" y="2216728"/>
            <a:ext cx="480290" cy="526473"/>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p:txBody>
          <a:bodyPr/>
          <a:lstStyle/>
          <a:p>
            <a:r>
              <a:rPr lang="en-GB" dirty="0"/>
              <a:t>Tie it all together…</a:t>
            </a:r>
            <a:br>
              <a:rPr lang="en-GB" dirty="0"/>
            </a:br>
            <a:r>
              <a:rPr lang="en-GB" sz="3200" dirty="0"/>
              <a:t>Random effects (hierarchical model)</a:t>
            </a:r>
            <a:endParaRPr lang="en-GB"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0" indent="0">
                  <a:buNone/>
                </a:pPr>
                <a:endParaRPr lang="en-GB"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𝑖</m:t>
                          </m:r>
                        </m:sub>
                      </m:sSub>
                      <m:r>
                        <a:rPr lang="en-GB" b="0" i="1" smtClean="0">
                          <a:latin typeface="Cambria Math" panose="02040503050406030204" pitchFamily="18" charset="0"/>
                        </a:rPr>
                        <m:t> ~ </m:t>
                      </m:r>
                      <m:r>
                        <a:rPr lang="en-GB" b="0" i="1" smtClean="0">
                          <a:latin typeface="Cambria Math" panose="02040503050406030204" pitchFamily="18" charset="0"/>
                        </a:rPr>
                        <m:t>𝐵𝑖𝑛𝑜𝑚𝑖𝑎𝑙</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𝑁</m:t>
                              </m:r>
                            </m:e>
                            <m:sub>
                              <m:r>
                                <a:rPr lang="en-GB" b="0" i="1" smtClean="0">
                                  <a:latin typeface="Cambria Math" panose="02040503050406030204" pitchFamily="18" charset="0"/>
                                </a:rPr>
                                <m:t>𝑖</m:t>
                              </m:r>
                            </m:sub>
                          </m:sSub>
                          <m:r>
                            <a:rPr lang="en-GB" b="0" i="1" smtClean="0">
                              <a:latin typeface="Cambria Math" panose="02040503050406030204" pitchFamily="18" charset="0"/>
                            </a:rPr>
                            <m:t>, </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𝜌</m:t>
                              </m:r>
                            </m:e>
                            <m:sub>
                              <m:r>
                                <a:rPr lang="en-GB" b="0" i="1" smtClean="0">
                                  <a:latin typeface="Cambria Math" panose="02040503050406030204" pitchFamily="18" charset="0"/>
                                </a:rPr>
                                <m:t>𝑖</m:t>
                              </m:r>
                            </m:sub>
                          </m:sSub>
                        </m:e>
                      </m:d>
                    </m:oMath>
                  </m:oMathPara>
                </a14:m>
                <a:endParaRPr lang="en-GB" b="0" dirty="0"/>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r>
                        <m:rPr>
                          <m:sty m:val="p"/>
                        </m:rPr>
                        <a:rPr lang="en-GB">
                          <a:latin typeface="Cambria Math" panose="02040503050406030204" pitchFamily="18" charset="0"/>
                        </a:rPr>
                        <m:t>l</m:t>
                      </m:r>
                      <m:r>
                        <m:rPr>
                          <m:sty m:val="p"/>
                        </m:rPr>
                        <a:rPr lang="en-GB" b="0" i="0" smtClean="0">
                          <a:latin typeface="Cambria Math" panose="02040503050406030204" pitchFamily="18" charset="0"/>
                        </a:rPr>
                        <m:t>ogit</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𝜌</m:t>
                              </m:r>
                            </m:e>
                            <m:sub>
                              <m:r>
                                <a:rPr lang="en-GB" b="0" i="1" smtClean="0">
                                  <a:latin typeface="Cambria Math" panose="02040503050406030204" pitchFamily="18" charset="0"/>
                                </a:rPr>
                                <m:t>𝑖</m:t>
                              </m:r>
                            </m:sub>
                          </m:sSub>
                        </m:e>
                      </m:d>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𝛼</m:t>
                          </m:r>
                        </m:e>
                        <m:sub>
                          <m:r>
                            <a:rPr lang="en-GB" b="0" i="1" smtClean="0">
                              <a:latin typeface="Cambria Math" panose="02040503050406030204" pitchFamily="18" charset="0"/>
                            </a:rPr>
                            <m:t>𝑔</m:t>
                          </m:r>
                        </m:sub>
                      </m:sSub>
                      <m:r>
                        <a:rPr lang="en-GB" b="0" i="1" smtClean="0">
                          <a:latin typeface="Cambria Math" panose="02040503050406030204" pitchFamily="18" charset="0"/>
                        </a:rPr>
                        <m:t>+</m:t>
                      </m:r>
                      <m:r>
                        <a:rPr lang="en-GB" b="0" i="1" smtClean="0">
                          <a:latin typeface="Cambria Math" panose="02040503050406030204" pitchFamily="18" charset="0"/>
                        </a:rPr>
                        <m:t>𝛽</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𝑖</m:t>
                          </m:r>
                        </m:sub>
                      </m:sSub>
                    </m:oMath>
                  </m:oMathPara>
                </a14:m>
                <a:endParaRPr lang="en-GB" b="0" dirty="0"/>
              </a:p>
              <a:p>
                <a:pPr marL="0" indent="0">
                  <a:buNone/>
                </a:pPr>
                <a:endParaRPr lang="en-GB" b="0" dirty="0"/>
              </a:p>
              <a:p>
                <a:pPr marL="0" indent="0">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𝑎</m:t>
                          </m:r>
                        </m:e>
                        <m:sub>
                          <m:r>
                            <a:rPr lang="en-GB" b="0" i="1" smtClean="0">
                              <a:latin typeface="Cambria Math" panose="02040503050406030204" pitchFamily="18" charset="0"/>
                            </a:rPr>
                            <m:t>𝑔</m:t>
                          </m:r>
                        </m:sub>
                      </m:sSub>
                      <m:r>
                        <a:rPr lang="en-GB" b="0" i="1" smtClean="0">
                          <a:latin typeface="Cambria Math" panose="02040503050406030204" pitchFamily="18" charset="0"/>
                        </a:rPr>
                        <m:t> ~ </m:t>
                      </m:r>
                      <m:r>
                        <a:rPr lang="en-GB" b="0" i="1" smtClean="0">
                          <a:latin typeface="Cambria Math" panose="02040503050406030204" pitchFamily="18" charset="0"/>
                        </a:rPr>
                        <m:t>𝑁𝑜𝑟𝑚𝑎𝑙</m:t>
                      </m:r>
                      <m:r>
                        <a:rPr lang="en-GB" b="0" i="1" smtClean="0">
                          <a:latin typeface="Cambria Math" panose="02040503050406030204" pitchFamily="18" charset="0"/>
                        </a:rPr>
                        <m:t>(</m:t>
                      </m:r>
                      <m:r>
                        <a:rPr lang="en-GB" b="0" i="1" smtClean="0">
                          <a:latin typeface="Cambria Math" panose="02040503050406030204" pitchFamily="18" charset="0"/>
                        </a:rPr>
                        <m:t>𝜇</m:t>
                      </m:r>
                      <m:r>
                        <a:rPr lang="en-GB" b="0" i="1" smtClean="0">
                          <a:latin typeface="Cambria Math" panose="02040503050406030204" pitchFamily="18" charset="0"/>
                        </a:rPr>
                        <m:t>, </m:t>
                      </m:r>
                      <m:r>
                        <a:rPr lang="en-GB" b="0" i="1" smtClean="0">
                          <a:latin typeface="Cambria Math" panose="02040503050406030204" pitchFamily="18" charset="0"/>
                        </a:rPr>
                        <m:t>𝜎</m:t>
                      </m:r>
                      <m:r>
                        <a:rPr lang="en-GB" b="0" i="1" smtClean="0">
                          <a:latin typeface="Cambria Math" panose="02040503050406030204" pitchFamily="18" charset="0"/>
                        </a:rPr>
                        <m:t>)</m:t>
                      </m:r>
                    </m:oMath>
                  </m:oMathPara>
                </a14:m>
                <a:endParaRPr lang="en-GB" b="0" dirty="0"/>
              </a:p>
              <a:p>
                <a:pPr marL="0" indent="0">
                  <a:buNone/>
                </a:pPr>
                <a:endParaRPr lang="en-GB"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GB">
                    <a:noFill/>
                  </a:rPr>
                  <a:t> </a:t>
                </a:r>
              </a:p>
            </p:txBody>
          </p:sp>
        </mc:Fallback>
      </mc:AlternateContent>
      <p:sp>
        <p:nvSpPr>
          <p:cNvPr id="4" name="TextBox 3"/>
          <p:cNvSpPr txBox="1"/>
          <p:nvPr/>
        </p:nvSpPr>
        <p:spPr>
          <a:xfrm>
            <a:off x="6899564" y="6493159"/>
            <a:ext cx="5292436" cy="369332"/>
          </a:xfrm>
          <a:prstGeom prst="rect">
            <a:avLst/>
          </a:prstGeom>
          <a:noFill/>
        </p:spPr>
        <p:txBody>
          <a:bodyPr wrap="square" rtlCol="0">
            <a:spAutoFit/>
          </a:bodyPr>
          <a:lstStyle/>
          <a:p>
            <a:pPr algn="r"/>
            <a:r>
              <a:rPr lang="en-GB" dirty="0"/>
              <a:t>Priors not shown</a:t>
            </a:r>
          </a:p>
        </p:txBody>
      </p:sp>
    </p:spTree>
    <p:extLst>
      <p:ext uri="{BB962C8B-B14F-4D97-AF65-F5344CB8AC3E}">
        <p14:creationId xmlns:p14="http://schemas.microsoft.com/office/powerpoint/2010/main" val="27263696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7250546" y="5486399"/>
            <a:ext cx="526471" cy="526473"/>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p:cNvSpPr/>
          <p:nvPr/>
        </p:nvSpPr>
        <p:spPr>
          <a:xfrm>
            <a:off x="7088912" y="3089563"/>
            <a:ext cx="480290" cy="526473"/>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p:cNvSpPr/>
          <p:nvPr/>
        </p:nvSpPr>
        <p:spPr>
          <a:xfrm>
            <a:off x="4181765" y="4498111"/>
            <a:ext cx="593436" cy="62706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p:txBody>
          <a:bodyPr/>
          <a:lstStyle/>
          <a:p>
            <a:r>
              <a:rPr lang="en-GB" dirty="0"/>
              <a:t>Tie it all together…</a:t>
            </a:r>
            <a:br>
              <a:rPr lang="en-GB" dirty="0"/>
            </a:br>
            <a:r>
              <a:rPr lang="en-GB" sz="3200" dirty="0"/>
              <a:t>Hierarchical models (e.g. N-mixture model)</a:t>
            </a:r>
            <a:endParaRPr lang="en-GB"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𝑁</m:t>
                          </m:r>
                        </m:e>
                        <m:sub>
                          <m:r>
                            <a:rPr lang="en-GB" i="1">
                              <a:latin typeface="Cambria Math" panose="02040503050406030204" pitchFamily="18" charset="0"/>
                            </a:rPr>
                            <m:t>𝑖</m:t>
                          </m:r>
                        </m:sub>
                      </m:sSub>
                      <m:r>
                        <a:rPr lang="en-GB" i="1">
                          <a:latin typeface="Cambria Math" panose="02040503050406030204" pitchFamily="18" charset="0"/>
                        </a:rPr>
                        <m:t> ~ </m:t>
                      </m:r>
                      <m:r>
                        <a:rPr lang="en-GB" i="1">
                          <a:latin typeface="Cambria Math" panose="02040503050406030204" pitchFamily="18" charset="0"/>
                        </a:rPr>
                        <m:t>𝑃𝑜𝑖𝑠𝑠𝑜𝑛</m:t>
                      </m:r>
                      <m:d>
                        <m:dPr>
                          <m:ctrlPr>
                            <a:rPr lang="en-GB" i="1">
                              <a:latin typeface="Cambria Math" panose="02040503050406030204" pitchFamily="18" charset="0"/>
                            </a:rPr>
                          </m:ctrlPr>
                        </m:dPr>
                        <m:e>
                          <m:sSub>
                            <m:sSubPr>
                              <m:ctrlPr>
                                <a:rPr lang="en-GB" i="1">
                                  <a:latin typeface="Cambria Math" panose="02040503050406030204" pitchFamily="18" charset="0"/>
                                </a:rPr>
                              </m:ctrlPr>
                            </m:sSubPr>
                            <m:e>
                              <m:r>
                                <a:rPr lang="en-GB" i="1">
                                  <a:latin typeface="Cambria Math" panose="02040503050406030204" pitchFamily="18" charset="0"/>
                                </a:rPr>
                                <m:t>𝜆</m:t>
                              </m:r>
                            </m:e>
                            <m:sub>
                              <m:r>
                                <a:rPr lang="en-GB" i="1">
                                  <a:latin typeface="Cambria Math" panose="02040503050406030204" pitchFamily="18" charset="0"/>
                                </a:rPr>
                                <m:t>𝑖</m:t>
                              </m:r>
                            </m:sub>
                          </m:sSub>
                        </m:e>
                      </m:d>
                    </m:oMath>
                  </m:oMathPara>
                </a14:m>
                <a:endParaRPr lang="en-GB" dirty="0"/>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func>
                        <m:funcPr>
                          <m:ctrlPr>
                            <a:rPr lang="en-GB" i="1">
                              <a:latin typeface="Cambria Math" panose="02040503050406030204" pitchFamily="18" charset="0"/>
                            </a:rPr>
                          </m:ctrlPr>
                        </m:funcPr>
                        <m:fName>
                          <m:r>
                            <m:rPr>
                              <m:sty m:val="p"/>
                            </m:rPr>
                            <a:rPr lang="en-GB">
                              <a:latin typeface="Cambria Math" panose="02040503050406030204" pitchFamily="18" charset="0"/>
                            </a:rPr>
                            <m:t>log</m:t>
                          </m:r>
                        </m:fName>
                        <m:e>
                          <m:d>
                            <m:dPr>
                              <m:ctrlPr>
                                <a:rPr lang="en-GB" i="1">
                                  <a:latin typeface="Cambria Math" panose="02040503050406030204" pitchFamily="18" charset="0"/>
                                </a:rPr>
                              </m:ctrlPr>
                            </m:dPr>
                            <m:e>
                              <m:sSub>
                                <m:sSubPr>
                                  <m:ctrlPr>
                                    <a:rPr lang="en-GB" i="1">
                                      <a:latin typeface="Cambria Math" panose="02040503050406030204" pitchFamily="18" charset="0"/>
                                    </a:rPr>
                                  </m:ctrlPr>
                                </m:sSubPr>
                                <m:e>
                                  <m:r>
                                    <a:rPr lang="en-GB" i="1">
                                      <a:latin typeface="Cambria Math" panose="02040503050406030204" pitchFamily="18" charset="0"/>
                                    </a:rPr>
                                    <m:t>𝜆</m:t>
                                  </m:r>
                                </m:e>
                                <m:sub>
                                  <m:r>
                                    <a:rPr lang="en-GB" i="1">
                                      <a:latin typeface="Cambria Math" panose="02040503050406030204" pitchFamily="18" charset="0"/>
                                    </a:rPr>
                                    <m:t>𝑖</m:t>
                                  </m:r>
                                </m:sub>
                              </m:sSub>
                            </m:e>
                          </m:d>
                        </m:e>
                      </m:func>
                      <m:r>
                        <a:rPr lang="en-GB" i="1">
                          <a:latin typeface="Cambria Math" panose="02040503050406030204" pitchFamily="18" charset="0"/>
                        </a:rPr>
                        <m:t>=</m:t>
                      </m:r>
                      <m:r>
                        <a:rPr lang="en-GB" i="1">
                          <a:latin typeface="Cambria Math" panose="02040503050406030204" pitchFamily="18" charset="0"/>
                        </a:rPr>
                        <m:t>𝛼</m:t>
                      </m:r>
                      <m:r>
                        <a:rPr lang="en-GB" i="1">
                          <a:latin typeface="Cambria Math" panose="02040503050406030204" pitchFamily="18" charset="0"/>
                        </a:rPr>
                        <m:t>+</m:t>
                      </m:r>
                      <m:r>
                        <a:rPr lang="en-GB" i="1">
                          <a:latin typeface="Cambria Math" panose="02040503050406030204" pitchFamily="18" charset="0"/>
                        </a:rPr>
                        <m:t>𝛽</m:t>
                      </m:r>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𝑖</m:t>
                          </m:r>
                        </m:sub>
                      </m:sSub>
                    </m:oMath>
                  </m:oMathPara>
                </a14:m>
                <a:endParaRPr lang="en-GB" dirty="0"/>
              </a:p>
              <a:p>
                <a:pPr marL="0" indent="0">
                  <a:buNone/>
                </a:pPr>
                <a:endParaRPr lang="en-GB" b="0" i="1" dirty="0">
                  <a:latin typeface="Cambria Math" panose="02040503050406030204" pitchFamily="18" charset="0"/>
                </a:endParaRPr>
              </a:p>
              <a:p>
                <a:pPr marL="0" indent="0">
                  <a:buNone/>
                </a:pPr>
                <a:endParaRPr lang="en-GB"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𝑖</m:t>
                          </m:r>
                          <m:r>
                            <a:rPr lang="en-GB" b="0" i="1" smtClean="0">
                              <a:latin typeface="Cambria Math" panose="02040503050406030204" pitchFamily="18" charset="0"/>
                            </a:rPr>
                            <m:t>,</m:t>
                          </m:r>
                          <m:r>
                            <a:rPr lang="en-GB" b="0" i="1" smtClean="0">
                              <a:latin typeface="Cambria Math" panose="02040503050406030204" pitchFamily="18" charset="0"/>
                            </a:rPr>
                            <m:t>𝑗</m:t>
                          </m:r>
                        </m:sub>
                      </m:sSub>
                      <m:r>
                        <a:rPr lang="en-GB" b="0" i="1" smtClean="0">
                          <a:latin typeface="Cambria Math" panose="02040503050406030204" pitchFamily="18" charset="0"/>
                        </a:rPr>
                        <m:t> ~ </m:t>
                      </m:r>
                      <m:r>
                        <a:rPr lang="en-GB" b="0" i="1" smtClean="0">
                          <a:latin typeface="Cambria Math" panose="02040503050406030204" pitchFamily="18" charset="0"/>
                        </a:rPr>
                        <m:t>𝐵𝑖𝑛𝑜𝑚𝑖𝑎𝑙</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𝑁</m:t>
                              </m:r>
                            </m:e>
                            <m:sub>
                              <m:r>
                                <a:rPr lang="en-GB" b="0" i="1" smtClean="0">
                                  <a:latin typeface="Cambria Math" panose="02040503050406030204" pitchFamily="18" charset="0"/>
                                </a:rPr>
                                <m:t>𝑖</m:t>
                              </m:r>
                            </m:sub>
                          </m:sSub>
                          <m:r>
                            <a:rPr lang="en-GB" b="0" i="1" smtClean="0">
                              <a:latin typeface="Cambria Math" panose="02040503050406030204" pitchFamily="18" charset="0"/>
                            </a:rPr>
                            <m:t>, </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𝜌</m:t>
                              </m:r>
                            </m:e>
                            <m:sub>
                              <m:r>
                                <a:rPr lang="en-GB" b="0" i="1" smtClean="0">
                                  <a:latin typeface="Cambria Math" panose="02040503050406030204" pitchFamily="18" charset="0"/>
                                </a:rPr>
                                <m:t>𝑖</m:t>
                              </m:r>
                              <m:r>
                                <a:rPr lang="en-GB" b="0" i="1" smtClean="0">
                                  <a:latin typeface="Cambria Math" panose="02040503050406030204" pitchFamily="18" charset="0"/>
                                </a:rPr>
                                <m:t>,</m:t>
                              </m:r>
                              <m:r>
                                <a:rPr lang="en-GB" b="0" i="1" smtClean="0">
                                  <a:latin typeface="Cambria Math" panose="02040503050406030204" pitchFamily="18" charset="0"/>
                                </a:rPr>
                                <m:t>𝑗</m:t>
                              </m:r>
                            </m:sub>
                          </m:sSub>
                        </m:e>
                      </m:d>
                    </m:oMath>
                  </m:oMathPara>
                </a14:m>
                <a:endParaRPr lang="en-GB" b="0" dirty="0"/>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r>
                        <m:rPr>
                          <m:sty m:val="p"/>
                        </m:rPr>
                        <a:rPr lang="en-GB">
                          <a:latin typeface="Cambria Math" panose="02040503050406030204" pitchFamily="18" charset="0"/>
                        </a:rPr>
                        <m:t>l</m:t>
                      </m:r>
                      <m:r>
                        <m:rPr>
                          <m:sty m:val="p"/>
                        </m:rPr>
                        <a:rPr lang="en-GB" b="0" i="0" smtClean="0">
                          <a:latin typeface="Cambria Math" panose="02040503050406030204" pitchFamily="18" charset="0"/>
                        </a:rPr>
                        <m:t>ogit</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𝜌</m:t>
                              </m:r>
                            </m:e>
                            <m:sub>
                              <m:r>
                                <a:rPr lang="en-GB" b="0" i="1" smtClean="0">
                                  <a:latin typeface="Cambria Math" panose="02040503050406030204" pitchFamily="18" charset="0"/>
                                </a:rPr>
                                <m:t>𝑖</m:t>
                              </m:r>
                              <m:r>
                                <a:rPr lang="en-GB" b="0" i="1" smtClean="0">
                                  <a:latin typeface="Cambria Math" panose="02040503050406030204" pitchFamily="18" charset="0"/>
                                </a:rPr>
                                <m:t>,</m:t>
                              </m:r>
                              <m:r>
                                <a:rPr lang="en-GB" b="0" i="1" smtClean="0">
                                  <a:latin typeface="Cambria Math" panose="02040503050406030204" pitchFamily="18" charset="0"/>
                                </a:rPr>
                                <m:t>𝑗</m:t>
                              </m:r>
                            </m:sub>
                          </m:sSub>
                        </m:e>
                      </m:d>
                      <m:r>
                        <a:rPr lang="en-GB" b="0" i="1" smtClean="0">
                          <a:latin typeface="Cambria Math" panose="02040503050406030204" pitchFamily="18" charset="0"/>
                        </a:rPr>
                        <m:t>=</m:t>
                      </m:r>
                      <m:r>
                        <a:rPr lang="en-GB" b="0" i="1" smtClean="0">
                          <a:latin typeface="Cambria Math" panose="02040503050406030204" pitchFamily="18" charset="0"/>
                        </a:rPr>
                        <m:t>𝛼</m:t>
                      </m:r>
                      <m:r>
                        <a:rPr lang="en-GB" b="0" i="1" smtClean="0">
                          <a:latin typeface="Cambria Math" panose="02040503050406030204" pitchFamily="18" charset="0"/>
                        </a:rPr>
                        <m:t>+</m:t>
                      </m:r>
                      <m:r>
                        <a:rPr lang="en-GB" b="0" i="1" smtClean="0">
                          <a:latin typeface="Cambria Math" panose="02040503050406030204" pitchFamily="18" charset="0"/>
                        </a:rPr>
                        <m:t>𝛽</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𝑖</m:t>
                          </m:r>
                          <m:r>
                            <a:rPr lang="en-GB" b="0" i="1" smtClean="0">
                              <a:latin typeface="Cambria Math" panose="02040503050406030204" pitchFamily="18" charset="0"/>
                            </a:rPr>
                            <m:t>,</m:t>
                          </m:r>
                          <m:r>
                            <a:rPr lang="en-GB" b="0" i="1" smtClean="0">
                              <a:latin typeface="Cambria Math" panose="02040503050406030204" pitchFamily="18" charset="0"/>
                            </a:rPr>
                            <m:t>𝑗</m:t>
                          </m:r>
                        </m:sub>
                      </m:sSub>
                    </m:oMath>
                  </m:oMathPara>
                </a14:m>
                <a:endParaRPr lang="en-GB" b="0" dirty="0"/>
              </a:p>
              <a:p>
                <a:pPr marL="0" indent="0">
                  <a:buNone/>
                </a:pPr>
                <a:endParaRPr lang="en-GB" b="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GB">
                    <a:noFill/>
                  </a:rPr>
                  <a:t> </a:t>
                </a:r>
              </a:p>
            </p:txBody>
          </p:sp>
        </mc:Fallback>
      </mc:AlternateContent>
      <p:sp>
        <p:nvSpPr>
          <p:cNvPr id="4" name="TextBox 3"/>
          <p:cNvSpPr txBox="1"/>
          <p:nvPr/>
        </p:nvSpPr>
        <p:spPr>
          <a:xfrm>
            <a:off x="6899564" y="6493159"/>
            <a:ext cx="5292436" cy="369332"/>
          </a:xfrm>
          <a:prstGeom prst="rect">
            <a:avLst/>
          </a:prstGeom>
          <a:noFill/>
        </p:spPr>
        <p:txBody>
          <a:bodyPr wrap="square" rtlCol="0">
            <a:spAutoFit/>
          </a:bodyPr>
          <a:lstStyle/>
          <a:p>
            <a:pPr algn="r"/>
            <a:r>
              <a:rPr lang="en-GB" dirty="0"/>
              <a:t>Priors not shown</a:t>
            </a:r>
          </a:p>
        </p:txBody>
      </p:sp>
      <p:sp>
        <p:nvSpPr>
          <p:cNvPr id="5" name="TextBox 4"/>
          <p:cNvSpPr txBox="1"/>
          <p:nvPr/>
        </p:nvSpPr>
        <p:spPr>
          <a:xfrm>
            <a:off x="508000" y="2105891"/>
            <a:ext cx="3380509" cy="3046988"/>
          </a:xfrm>
          <a:prstGeom prst="rect">
            <a:avLst/>
          </a:prstGeom>
          <a:noFill/>
        </p:spPr>
        <p:txBody>
          <a:bodyPr wrap="square" rtlCol="0">
            <a:spAutoFit/>
          </a:bodyPr>
          <a:lstStyle/>
          <a:p>
            <a:r>
              <a:rPr lang="en-GB" sz="2400" dirty="0"/>
              <a:t>Latent process model:</a:t>
            </a:r>
          </a:p>
          <a:p>
            <a:endParaRPr lang="en-GB" sz="2400" dirty="0"/>
          </a:p>
          <a:p>
            <a:endParaRPr lang="en-GB" sz="2400" dirty="0"/>
          </a:p>
          <a:p>
            <a:endParaRPr lang="en-GB" sz="2400" dirty="0"/>
          </a:p>
          <a:p>
            <a:endParaRPr lang="en-GB" sz="2400" dirty="0"/>
          </a:p>
          <a:p>
            <a:endParaRPr lang="en-GB" sz="2400" dirty="0"/>
          </a:p>
          <a:p>
            <a:endParaRPr lang="en-GB" sz="2400" dirty="0"/>
          </a:p>
          <a:p>
            <a:r>
              <a:rPr lang="en-GB" sz="2400" dirty="0"/>
              <a:t>Observation model:</a:t>
            </a:r>
          </a:p>
        </p:txBody>
      </p:sp>
    </p:spTree>
    <p:extLst>
      <p:ext uri="{BB962C8B-B14F-4D97-AF65-F5344CB8AC3E}">
        <p14:creationId xmlns:p14="http://schemas.microsoft.com/office/powerpoint/2010/main" val="3097250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7107383" y="3121890"/>
            <a:ext cx="614218" cy="624751"/>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p:cNvSpPr/>
          <p:nvPr/>
        </p:nvSpPr>
        <p:spPr>
          <a:xfrm>
            <a:off x="7250546" y="5486399"/>
            <a:ext cx="692727" cy="690564"/>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p:cNvSpPr/>
          <p:nvPr/>
        </p:nvSpPr>
        <p:spPr>
          <a:xfrm>
            <a:off x="3897743" y="4544292"/>
            <a:ext cx="849747" cy="738908"/>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p:txBody>
          <a:bodyPr/>
          <a:lstStyle/>
          <a:p>
            <a:r>
              <a:rPr lang="en-GB" dirty="0"/>
              <a:t>Tie it all together…</a:t>
            </a:r>
            <a:br>
              <a:rPr lang="en-GB" dirty="0"/>
            </a:br>
            <a:r>
              <a:rPr lang="en-GB" sz="3200" dirty="0"/>
              <a:t>State space model</a:t>
            </a:r>
            <a:endParaRPr lang="en-GB"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𝑁</m:t>
                          </m:r>
                        </m:e>
                        <m:sub>
                          <m:r>
                            <a:rPr lang="en-GB" i="1" smtClean="0">
                              <a:latin typeface="Cambria Math" panose="02040503050406030204" pitchFamily="18" charset="0"/>
                            </a:rPr>
                            <m:t>𝑖</m:t>
                          </m:r>
                          <m:r>
                            <a:rPr lang="en-GB" b="0" i="1" smtClean="0">
                              <a:latin typeface="Cambria Math" panose="02040503050406030204" pitchFamily="18" charset="0"/>
                            </a:rPr>
                            <m:t>,</m:t>
                          </m:r>
                          <m:r>
                            <a:rPr lang="en-GB" b="0" i="1" smtClean="0">
                              <a:latin typeface="Cambria Math" panose="02040503050406030204" pitchFamily="18" charset="0"/>
                            </a:rPr>
                            <m:t>𝑡</m:t>
                          </m:r>
                        </m:sub>
                      </m:sSub>
                      <m:r>
                        <a:rPr lang="en-GB" i="1">
                          <a:latin typeface="Cambria Math" panose="02040503050406030204" pitchFamily="18" charset="0"/>
                        </a:rPr>
                        <m:t> ~ </m:t>
                      </m:r>
                      <m:r>
                        <a:rPr lang="en-GB" i="1">
                          <a:latin typeface="Cambria Math" panose="02040503050406030204" pitchFamily="18" charset="0"/>
                        </a:rPr>
                        <m:t>𝑃𝑜𝑖𝑠𝑠𝑜𝑛</m:t>
                      </m:r>
                      <m:d>
                        <m:dPr>
                          <m:ctrlPr>
                            <a:rPr lang="en-GB" i="1">
                              <a:latin typeface="Cambria Math" panose="02040503050406030204" pitchFamily="18" charset="0"/>
                            </a:rPr>
                          </m:ctrlPr>
                        </m:dPr>
                        <m:e>
                          <m:sSub>
                            <m:sSubPr>
                              <m:ctrlPr>
                                <a:rPr lang="en-GB" i="1">
                                  <a:latin typeface="Cambria Math" panose="02040503050406030204" pitchFamily="18" charset="0"/>
                                </a:rPr>
                              </m:ctrlPr>
                            </m:sSub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𝑁</m:t>
                                  </m:r>
                                </m:e>
                                <m:sub>
                                  <m:r>
                                    <a:rPr lang="en-GB" b="0" i="1" smtClean="0">
                                      <a:latin typeface="Cambria Math" panose="02040503050406030204" pitchFamily="18" charset="0"/>
                                    </a:rPr>
                                    <m:t>𝑖</m:t>
                                  </m:r>
                                  <m:r>
                                    <a:rPr lang="en-GB" b="0" i="1" smtClean="0">
                                      <a:latin typeface="Cambria Math" panose="02040503050406030204" pitchFamily="18" charset="0"/>
                                    </a:rPr>
                                    <m:t>,</m:t>
                                  </m:r>
                                  <m:r>
                                    <a:rPr lang="en-GB" b="0" i="1" smtClean="0">
                                      <a:latin typeface="Cambria Math" panose="02040503050406030204" pitchFamily="18" charset="0"/>
                                    </a:rPr>
                                    <m:t>𝑡</m:t>
                                  </m:r>
                                  <m:r>
                                    <a:rPr lang="en-GB" b="0" i="1" smtClean="0">
                                      <a:latin typeface="Cambria Math" panose="02040503050406030204" pitchFamily="18" charset="0"/>
                                    </a:rPr>
                                    <m:t>−1</m:t>
                                  </m:r>
                                </m:sub>
                              </m:sSub>
                              <m:r>
                                <a:rPr lang="en-GB" i="1">
                                  <a:latin typeface="Cambria Math" panose="02040503050406030204" pitchFamily="18" charset="0"/>
                                </a:rPr>
                                <m:t>𝜆</m:t>
                              </m:r>
                            </m:e>
                            <m:sub>
                              <m:r>
                                <a:rPr lang="en-GB" i="1">
                                  <a:latin typeface="Cambria Math" panose="02040503050406030204" pitchFamily="18" charset="0"/>
                                </a:rPr>
                                <m:t>𝑖</m:t>
                              </m:r>
                              <m:r>
                                <a:rPr lang="en-GB" b="0" i="1" smtClean="0">
                                  <a:latin typeface="Cambria Math" panose="02040503050406030204" pitchFamily="18" charset="0"/>
                                </a:rPr>
                                <m:t>,</m:t>
                              </m:r>
                              <m:r>
                                <a:rPr lang="en-GB" b="0" i="1" smtClean="0">
                                  <a:latin typeface="Cambria Math" panose="02040503050406030204" pitchFamily="18" charset="0"/>
                                </a:rPr>
                                <m:t>𝑡</m:t>
                              </m:r>
                            </m:sub>
                          </m:sSub>
                        </m:e>
                      </m:d>
                    </m:oMath>
                  </m:oMathPara>
                </a14:m>
                <a:endParaRPr lang="en-GB" dirty="0"/>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func>
                        <m:funcPr>
                          <m:ctrlPr>
                            <a:rPr lang="en-GB" i="1">
                              <a:latin typeface="Cambria Math" panose="02040503050406030204" pitchFamily="18" charset="0"/>
                            </a:rPr>
                          </m:ctrlPr>
                        </m:funcPr>
                        <m:fName>
                          <m:r>
                            <m:rPr>
                              <m:sty m:val="p"/>
                            </m:rPr>
                            <a:rPr lang="en-GB">
                              <a:latin typeface="Cambria Math" panose="02040503050406030204" pitchFamily="18" charset="0"/>
                            </a:rPr>
                            <m:t>log</m:t>
                          </m:r>
                        </m:fName>
                        <m:e>
                          <m:d>
                            <m:dPr>
                              <m:ctrlPr>
                                <a:rPr lang="en-GB" i="1">
                                  <a:latin typeface="Cambria Math" panose="02040503050406030204" pitchFamily="18" charset="0"/>
                                </a:rPr>
                              </m:ctrlPr>
                            </m:dPr>
                            <m:e>
                              <m:sSub>
                                <m:sSubPr>
                                  <m:ctrlPr>
                                    <a:rPr lang="en-GB" i="1">
                                      <a:latin typeface="Cambria Math" panose="02040503050406030204" pitchFamily="18" charset="0"/>
                                    </a:rPr>
                                  </m:ctrlPr>
                                </m:sSubPr>
                                <m:e>
                                  <m:r>
                                    <a:rPr lang="en-GB" i="1">
                                      <a:latin typeface="Cambria Math" panose="02040503050406030204" pitchFamily="18" charset="0"/>
                                    </a:rPr>
                                    <m:t>𝜆</m:t>
                                  </m:r>
                                </m:e>
                                <m:sub>
                                  <m:r>
                                    <a:rPr lang="en-GB" i="1">
                                      <a:latin typeface="Cambria Math" panose="02040503050406030204" pitchFamily="18" charset="0"/>
                                    </a:rPr>
                                    <m:t>𝑖</m:t>
                                  </m:r>
                                  <m:r>
                                    <a:rPr lang="en-GB" b="0" i="1" smtClean="0">
                                      <a:latin typeface="Cambria Math" panose="02040503050406030204" pitchFamily="18" charset="0"/>
                                    </a:rPr>
                                    <m:t>,</m:t>
                                  </m:r>
                                  <m:r>
                                    <a:rPr lang="en-GB" b="0" i="1" smtClean="0">
                                      <a:latin typeface="Cambria Math" panose="02040503050406030204" pitchFamily="18" charset="0"/>
                                    </a:rPr>
                                    <m:t>𝑡</m:t>
                                  </m:r>
                                </m:sub>
                              </m:sSub>
                            </m:e>
                          </m:d>
                        </m:e>
                      </m:func>
                      <m:r>
                        <a:rPr lang="en-GB" i="1">
                          <a:latin typeface="Cambria Math" panose="02040503050406030204" pitchFamily="18" charset="0"/>
                        </a:rPr>
                        <m:t>=</m:t>
                      </m:r>
                      <m:r>
                        <a:rPr lang="en-GB" i="1">
                          <a:latin typeface="Cambria Math" panose="02040503050406030204" pitchFamily="18" charset="0"/>
                        </a:rPr>
                        <m:t>𝛼</m:t>
                      </m:r>
                      <m:r>
                        <a:rPr lang="en-GB" i="1">
                          <a:latin typeface="Cambria Math" panose="02040503050406030204" pitchFamily="18" charset="0"/>
                        </a:rPr>
                        <m:t>+</m:t>
                      </m:r>
                      <m:r>
                        <a:rPr lang="en-GB" i="1">
                          <a:latin typeface="Cambria Math" panose="02040503050406030204" pitchFamily="18" charset="0"/>
                        </a:rPr>
                        <m:t>𝛽</m:t>
                      </m:r>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𝑖</m:t>
                          </m:r>
                          <m:r>
                            <a:rPr lang="en-GB" b="0" i="1" smtClean="0">
                              <a:latin typeface="Cambria Math" panose="02040503050406030204" pitchFamily="18" charset="0"/>
                            </a:rPr>
                            <m:t>,</m:t>
                          </m:r>
                          <m:r>
                            <a:rPr lang="en-GB" b="0" i="1" smtClean="0">
                              <a:latin typeface="Cambria Math" panose="02040503050406030204" pitchFamily="18" charset="0"/>
                            </a:rPr>
                            <m:t>𝑡</m:t>
                          </m:r>
                        </m:sub>
                      </m:sSub>
                    </m:oMath>
                  </m:oMathPara>
                </a14:m>
                <a:endParaRPr lang="en-GB" dirty="0"/>
              </a:p>
              <a:p>
                <a:pPr marL="0" indent="0">
                  <a:buNone/>
                </a:pPr>
                <a:endParaRPr lang="en-GB" b="0" i="1" dirty="0">
                  <a:latin typeface="Cambria Math" panose="02040503050406030204" pitchFamily="18" charset="0"/>
                </a:endParaRPr>
              </a:p>
              <a:p>
                <a:pPr marL="0" indent="0">
                  <a:buNone/>
                </a:pPr>
                <a:endParaRPr lang="en-GB"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𝑦</m:t>
                          </m:r>
                        </m:e>
                        <m:sub>
                          <m:r>
                            <a:rPr lang="en-GB" b="0" i="1" smtClean="0">
                              <a:latin typeface="Cambria Math" panose="02040503050406030204" pitchFamily="18" charset="0"/>
                            </a:rPr>
                            <m:t>𝑖</m:t>
                          </m:r>
                          <m:r>
                            <a:rPr lang="en-GB" b="0" i="1" smtClean="0">
                              <a:latin typeface="Cambria Math" panose="02040503050406030204" pitchFamily="18" charset="0"/>
                            </a:rPr>
                            <m:t>,</m:t>
                          </m:r>
                          <m:r>
                            <a:rPr lang="en-GB" b="0" i="1" smtClean="0">
                              <a:latin typeface="Cambria Math" panose="02040503050406030204" pitchFamily="18" charset="0"/>
                            </a:rPr>
                            <m:t>𝑗</m:t>
                          </m:r>
                          <m:r>
                            <a:rPr lang="en-GB" b="0" i="1" smtClean="0">
                              <a:latin typeface="Cambria Math" panose="02040503050406030204" pitchFamily="18" charset="0"/>
                            </a:rPr>
                            <m:t>,</m:t>
                          </m:r>
                          <m:r>
                            <a:rPr lang="en-GB" b="0" i="1" smtClean="0">
                              <a:latin typeface="Cambria Math" panose="02040503050406030204" pitchFamily="18" charset="0"/>
                            </a:rPr>
                            <m:t>𝑡</m:t>
                          </m:r>
                        </m:sub>
                      </m:sSub>
                      <m:r>
                        <a:rPr lang="en-GB" b="0" i="1" smtClean="0">
                          <a:latin typeface="Cambria Math" panose="02040503050406030204" pitchFamily="18" charset="0"/>
                        </a:rPr>
                        <m:t> ~ </m:t>
                      </m:r>
                      <m:r>
                        <a:rPr lang="en-GB" b="0" i="1" smtClean="0">
                          <a:latin typeface="Cambria Math" panose="02040503050406030204" pitchFamily="18" charset="0"/>
                        </a:rPr>
                        <m:t>𝐵𝑖𝑛𝑜𝑚𝑖𝑎𝑙</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𝑁</m:t>
                              </m:r>
                            </m:e>
                            <m:sub>
                              <m:r>
                                <a:rPr lang="en-GB" b="0" i="1" smtClean="0">
                                  <a:latin typeface="Cambria Math" panose="02040503050406030204" pitchFamily="18" charset="0"/>
                                </a:rPr>
                                <m:t>𝑖</m:t>
                              </m:r>
                              <m:r>
                                <a:rPr lang="en-GB" b="0" i="1" smtClean="0">
                                  <a:latin typeface="Cambria Math" panose="02040503050406030204" pitchFamily="18" charset="0"/>
                                </a:rPr>
                                <m:t>,</m:t>
                              </m:r>
                              <m:r>
                                <a:rPr lang="en-GB" b="0" i="1" smtClean="0">
                                  <a:latin typeface="Cambria Math" panose="02040503050406030204" pitchFamily="18" charset="0"/>
                                </a:rPr>
                                <m:t>𝑡</m:t>
                              </m:r>
                            </m:sub>
                          </m:sSub>
                          <m:r>
                            <a:rPr lang="en-GB" b="0" i="1" smtClean="0">
                              <a:latin typeface="Cambria Math" panose="02040503050406030204" pitchFamily="18" charset="0"/>
                            </a:rPr>
                            <m:t>, </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𝜌</m:t>
                              </m:r>
                            </m:e>
                            <m:sub>
                              <m:r>
                                <a:rPr lang="en-GB" b="0" i="1" smtClean="0">
                                  <a:latin typeface="Cambria Math" panose="02040503050406030204" pitchFamily="18" charset="0"/>
                                </a:rPr>
                                <m:t>𝑖</m:t>
                              </m:r>
                              <m:r>
                                <a:rPr lang="en-GB" b="0" i="1" smtClean="0">
                                  <a:latin typeface="Cambria Math" panose="02040503050406030204" pitchFamily="18" charset="0"/>
                                </a:rPr>
                                <m:t>,</m:t>
                              </m:r>
                              <m:r>
                                <a:rPr lang="en-GB" b="0" i="1" smtClean="0">
                                  <a:latin typeface="Cambria Math" panose="02040503050406030204" pitchFamily="18" charset="0"/>
                                </a:rPr>
                                <m:t>𝑗</m:t>
                              </m:r>
                              <m:r>
                                <a:rPr lang="en-GB" b="0" i="1" smtClean="0">
                                  <a:latin typeface="Cambria Math" panose="02040503050406030204" pitchFamily="18" charset="0"/>
                                </a:rPr>
                                <m:t>,</m:t>
                              </m:r>
                              <m:r>
                                <a:rPr lang="en-GB" b="0" i="1" smtClean="0">
                                  <a:latin typeface="Cambria Math" panose="02040503050406030204" pitchFamily="18" charset="0"/>
                                </a:rPr>
                                <m:t>𝑡</m:t>
                              </m:r>
                            </m:sub>
                          </m:sSub>
                        </m:e>
                      </m:d>
                    </m:oMath>
                  </m:oMathPara>
                </a14:m>
                <a:endParaRPr lang="en-GB" b="0" dirty="0"/>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r>
                        <m:rPr>
                          <m:sty m:val="p"/>
                        </m:rPr>
                        <a:rPr lang="en-GB">
                          <a:latin typeface="Cambria Math" panose="02040503050406030204" pitchFamily="18" charset="0"/>
                        </a:rPr>
                        <m:t>l</m:t>
                      </m:r>
                      <m:r>
                        <m:rPr>
                          <m:sty m:val="p"/>
                        </m:rPr>
                        <a:rPr lang="en-GB" b="0" i="0" smtClean="0">
                          <a:latin typeface="Cambria Math" panose="02040503050406030204" pitchFamily="18" charset="0"/>
                        </a:rPr>
                        <m:t>ogit</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𝜌</m:t>
                              </m:r>
                            </m:e>
                            <m:sub>
                              <m:r>
                                <a:rPr lang="en-GB" b="0" i="1" smtClean="0">
                                  <a:latin typeface="Cambria Math" panose="02040503050406030204" pitchFamily="18" charset="0"/>
                                </a:rPr>
                                <m:t>𝑖</m:t>
                              </m:r>
                              <m:r>
                                <a:rPr lang="en-GB" b="0" i="1" smtClean="0">
                                  <a:latin typeface="Cambria Math" panose="02040503050406030204" pitchFamily="18" charset="0"/>
                                </a:rPr>
                                <m:t>,</m:t>
                              </m:r>
                              <m:r>
                                <a:rPr lang="en-GB" b="0" i="1" smtClean="0">
                                  <a:latin typeface="Cambria Math" panose="02040503050406030204" pitchFamily="18" charset="0"/>
                                </a:rPr>
                                <m:t>𝑗</m:t>
                              </m:r>
                              <m:r>
                                <a:rPr lang="en-GB" b="0" i="1" smtClean="0">
                                  <a:latin typeface="Cambria Math" panose="02040503050406030204" pitchFamily="18" charset="0"/>
                                </a:rPr>
                                <m:t>,</m:t>
                              </m:r>
                              <m:r>
                                <a:rPr lang="en-GB" b="0" i="1" smtClean="0">
                                  <a:latin typeface="Cambria Math" panose="02040503050406030204" pitchFamily="18" charset="0"/>
                                </a:rPr>
                                <m:t>𝑡</m:t>
                              </m:r>
                            </m:sub>
                          </m:sSub>
                        </m:e>
                      </m:d>
                      <m:r>
                        <a:rPr lang="en-GB" b="0" i="1" smtClean="0">
                          <a:latin typeface="Cambria Math" panose="02040503050406030204" pitchFamily="18" charset="0"/>
                        </a:rPr>
                        <m:t>=</m:t>
                      </m:r>
                      <m:r>
                        <a:rPr lang="en-GB" b="0" i="1" smtClean="0">
                          <a:latin typeface="Cambria Math" panose="02040503050406030204" pitchFamily="18" charset="0"/>
                        </a:rPr>
                        <m:t>𝛼</m:t>
                      </m:r>
                      <m:r>
                        <a:rPr lang="en-GB" b="0" i="1" smtClean="0">
                          <a:latin typeface="Cambria Math" panose="02040503050406030204" pitchFamily="18" charset="0"/>
                        </a:rPr>
                        <m:t>+</m:t>
                      </m:r>
                      <m:r>
                        <a:rPr lang="en-GB" b="0" i="1" smtClean="0">
                          <a:latin typeface="Cambria Math" panose="02040503050406030204" pitchFamily="18" charset="0"/>
                        </a:rPr>
                        <m:t>𝛽</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𝑖</m:t>
                          </m:r>
                          <m:r>
                            <a:rPr lang="en-GB" b="0" i="1" smtClean="0">
                              <a:latin typeface="Cambria Math" panose="02040503050406030204" pitchFamily="18" charset="0"/>
                            </a:rPr>
                            <m:t>,</m:t>
                          </m:r>
                          <m:r>
                            <a:rPr lang="en-GB" b="0" i="1" smtClean="0">
                              <a:latin typeface="Cambria Math" panose="02040503050406030204" pitchFamily="18" charset="0"/>
                            </a:rPr>
                            <m:t>𝑗</m:t>
                          </m:r>
                          <m:r>
                            <a:rPr lang="en-GB" b="0" i="1" smtClean="0">
                              <a:latin typeface="Cambria Math" panose="02040503050406030204" pitchFamily="18" charset="0"/>
                            </a:rPr>
                            <m:t>,</m:t>
                          </m:r>
                          <m:r>
                            <a:rPr lang="en-GB" b="0" i="1" smtClean="0">
                              <a:latin typeface="Cambria Math" panose="02040503050406030204" pitchFamily="18" charset="0"/>
                            </a:rPr>
                            <m:t>𝑡</m:t>
                          </m:r>
                        </m:sub>
                      </m:sSub>
                    </m:oMath>
                  </m:oMathPara>
                </a14:m>
                <a:endParaRPr lang="en-GB" b="0" dirty="0"/>
              </a:p>
              <a:p>
                <a:pPr marL="0" indent="0">
                  <a:buNone/>
                </a:pPr>
                <a:endParaRPr lang="en-GB" b="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GB">
                    <a:noFill/>
                  </a:rPr>
                  <a:t> </a:t>
                </a:r>
              </a:p>
            </p:txBody>
          </p:sp>
        </mc:Fallback>
      </mc:AlternateContent>
      <p:sp>
        <p:nvSpPr>
          <p:cNvPr id="4" name="TextBox 3"/>
          <p:cNvSpPr txBox="1"/>
          <p:nvPr/>
        </p:nvSpPr>
        <p:spPr>
          <a:xfrm>
            <a:off x="6899564" y="6493159"/>
            <a:ext cx="5292436" cy="369332"/>
          </a:xfrm>
          <a:prstGeom prst="rect">
            <a:avLst/>
          </a:prstGeom>
          <a:noFill/>
        </p:spPr>
        <p:txBody>
          <a:bodyPr wrap="square" rtlCol="0">
            <a:spAutoFit/>
          </a:bodyPr>
          <a:lstStyle/>
          <a:p>
            <a:pPr algn="r"/>
            <a:r>
              <a:rPr lang="en-GB" dirty="0"/>
              <a:t>Priors not shown</a:t>
            </a:r>
          </a:p>
        </p:txBody>
      </p:sp>
    </p:spTree>
    <p:extLst>
      <p:ext uri="{BB962C8B-B14F-4D97-AF65-F5344CB8AC3E}">
        <p14:creationId xmlns:p14="http://schemas.microsoft.com/office/powerpoint/2010/main" val="30327479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5578765" y="3103419"/>
            <a:ext cx="461816" cy="498762"/>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p:txBody>
          <a:bodyPr/>
          <a:lstStyle/>
          <a:p>
            <a:r>
              <a:rPr lang="en-GB" dirty="0"/>
              <a:t>Tie it all together…</a:t>
            </a:r>
            <a:br>
              <a:rPr lang="en-GB" dirty="0"/>
            </a:br>
            <a:r>
              <a:rPr lang="en-GB" sz="3200" dirty="0"/>
              <a:t>State space model</a:t>
            </a:r>
            <a:endParaRPr lang="en-GB"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r>
                        <a:rPr lang="en-GB" i="1">
                          <a:latin typeface="Cambria Math" panose="02040503050406030204" pitchFamily="18" charset="0"/>
                        </a:rPr>
                        <m:t>𝑃</m:t>
                      </m:r>
                      <m:d>
                        <m:dPr>
                          <m:endChr m:val="|"/>
                          <m:ctrlPr>
                            <a:rPr lang="en-GB" i="1">
                              <a:latin typeface="Cambria Math" panose="02040503050406030204" pitchFamily="18" charset="0"/>
                            </a:rPr>
                          </m:ctrlPr>
                        </m:dPr>
                        <m:e>
                          <m:sSub>
                            <m:sSubPr>
                              <m:ctrlPr>
                                <a:rPr lang="en-GB" i="1">
                                  <a:latin typeface="Cambria Math" panose="02040503050406030204" pitchFamily="18" charset="0"/>
                                </a:rPr>
                              </m:ctrlPr>
                            </m:sSubPr>
                            <m:e>
                              <m:r>
                                <a:rPr lang="en-GB" i="1">
                                  <a:latin typeface="Cambria Math" panose="02040503050406030204" pitchFamily="18" charset="0"/>
                                </a:rPr>
                                <m:t>𝑧</m:t>
                              </m:r>
                            </m:e>
                            <m:sub>
                              <m:r>
                                <a:rPr lang="en-GB" i="1">
                                  <a:latin typeface="Cambria Math" panose="02040503050406030204" pitchFamily="18" charset="0"/>
                                </a:rPr>
                                <m:t>𝑡</m:t>
                              </m:r>
                            </m:sub>
                          </m:sSub>
                          <m:r>
                            <a:rPr lang="en-GB" i="1">
                              <a:latin typeface="Cambria Math" panose="02040503050406030204" pitchFamily="18" charset="0"/>
                            </a:rPr>
                            <m:t> </m:t>
                          </m:r>
                        </m:e>
                      </m:d>
                      <m:r>
                        <a:rPr lang="en-GB" i="1">
                          <a:latin typeface="Cambria Math" panose="02040503050406030204" pitchFamily="18" charset="0"/>
                        </a:rPr>
                        <m:t> </m:t>
                      </m:r>
                      <m:r>
                        <a:rPr lang="en-GB" i="1">
                          <a:latin typeface="Cambria Math" panose="02040503050406030204" pitchFamily="18" charset="0"/>
                        </a:rPr>
                        <m:t>𝜆</m:t>
                      </m:r>
                      <m:sSub>
                        <m:sSubPr>
                          <m:ctrlPr>
                            <a:rPr lang="en-GB" i="1">
                              <a:latin typeface="Cambria Math" panose="02040503050406030204" pitchFamily="18" charset="0"/>
                            </a:rPr>
                          </m:ctrlPr>
                        </m:sSubPr>
                        <m:e>
                          <m:r>
                            <a:rPr lang="en-GB" i="1">
                              <a:latin typeface="Cambria Math" panose="02040503050406030204" pitchFamily="18" charset="0"/>
                            </a:rPr>
                            <m:t>𝑧</m:t>
                          </m:r>
                        </m:e>
                        <m:sub>
                          <m:r>
                            <a:rPr lang="en-GB" i="1">
                              <a:latin typeface="Cambria Math" panose="02040503050406030204" pitchFamily="18" charset="0"/>
                            </a:rPr>
                            <m:t>𝑡</m:t>
                          </m:r>
                          <m:r>
                            <a:rPr lang="en-GB" i="1">
                              <a:latin typeface="Cambria Math" panose="02040503050406030204" pitchFamily="18" charset="0"/>
                            </a:rPr>
                            <m:t>−1</m:t>
                          </m:r>
                        </m:sub>
                      </m:sSub>
                      <m:r>
                        <a:rPr lang="en-GB" i="1">
                          <a:latin typeface="Cambria Math" panose="02040503050406030204" pitchFamily="18" charset="0"/>
                        </a:rPr>
                        <m:t>)</m:t>
                      </m:r>
                    </m:oMath>
                  </m:oMathPara>
                </a14:m>
                <a:endParaRPr lang="en-GB" dirty="0"/>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r>
                        <a:rPr lang="en-GB" i="1">
                          <a:latin typeface="Cambria Math" panose="02040503050406030204" pitchFamily="18" charset="0"/>
                        </a:rPr>
                        <m:t>𝑃</m:t>
                      </m:r>
                      <m:d>
                        <m:dPr>
                          <m:endChr m:val="|"/>
                          <m:ctrlPr>
                            <a:rPr lang="en-GB" i="1">
                              <a:latin typeface="Cambria Math" panose="02040503050406030204" pitchFamily="18" charset="0"/>
                            </a:rPr>
                          </m:ctrlPr>
                        </m:dPr>
                        <m:e>
                          <m:sSub>
                            <m:sSubPr>
                              <m:ctrlPr>
                                <a:rPr lang="en-GB" i="1">
                                  <a:latin typeface="Cambria Math" panose="02040503050406030204" pitchFamily="18" charset="0"/>
                                </a:rPr>
                              </m:ctrlPr>
                            </m:sSubPr>
                            <m:e>
                              <m:r>
                                <a:rPr lang="en-GB" i="1">
                                  <a:latin typeface="Cambria Math" panose="02040503050406030204" pitchFamily="18" charset="0"/>
                                </a:rPr>
                                <m:t>𝑦</m:t>
                              </m:r>
                            </m:e>
                            <m:sub>
                              <m:r>
                                <a:rPr lang="en-GB" i="1">
                                  <a:latin typeface="Cambria Math" panose="02040503050406030204" pitchFamily="18" charset="0"/>
                                </a:rPr>
                                <m:t>𝑡</m:t>
                              </m:r>
                            </m:sub>
                          </m:sSub>
                          <m:r>
                            <a:rPr lang="en-GB" i="1">
                              <a:latin typeface="Cambria Math" panose="02040503050406030204" pitchFamily="18" charset="0"/>
                            </a:rPr>
                            <m:t> </m:t>
                          </m:r>
                        </m:e>
                      </m:d>
                      <m:r>
                        <a:rPr lang="en-GB" i="1">
                          <a:latin typeface="Cambria Math" panose="02040503050406030204" pitchFamily="18" charset="0"/>
                        </a:rPr>
                        <m:t> </m:t>
                      </m:r>
                      <m:r>
                        <a:rPr lang="en-GB" i="1">
                          <a:latin typeface="Cambria Math" panose="02040503050406030204" pitchFamily="18" charset="0"/>
                        </a:rPr>
                        <m:t>𝜌</m:t>
                      </m:r>
                      <m:sSub>
                        <m:sSubPr>
                          <m:ctrlPr>
                            <a:rPr lang="en-GB" i="1">
                              <a:latin typeface="Cambria Math" panose="02040503050406030204" pitchFamily="18" charset="0"/>
                            </a:rPr>
                          </m:ctrlPr>
                        </m:sSubPr>
                        <m:e>
                          <m:r>
                            <a:rPr lang="en-GB" i="1">
                              <a:latin typeface="Cambria Math" panose="02040503050406030204" pitchFamily="18" charset="0"/>
                            </a:rPr>
                            <m:t>𝑧</m:t>
                          </m:r>
                        </m:e>
                        <m:sub>
                          <m:r>
                            <a:rPr lang="en-GB" i="1">
                              <a:latin typeface="Cambria Math" panose="02040503050406030204" pitchFamily="18" charset="0"/>
                            </a:rPr>
                            <m:t>𝑡</m:t>
                          </m:r>
                        </m:sub>
                      </m:sSub>
                      <m:r>
                        <a:rPr lang="en-GB" b="0" i="1" smtClean="0">
                          <a:latin typeface="Cambria Math" panose="02040503050406030204" pitchFamily="18" charset="0"/>
                        </a:rPr>
                        <m:t>)</m:t>
                      </m:r>
                    </m:oMath>
                  </m:oMathPara>
                </a14:m>
                <a:endParaRPr lang="en-GB" b="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GB">
                    <a:noFill/>
                  </a:rPr>
                  <a:t> </a:t>
                </a:r>
              </a:p>
            </p:txBody>
          </p:sp>
        </mc:Fallback>
      </mc:AlternateContent>
      <p:sp>
        <p:nvSpPr>
          <p:cNvPr id="4" name="TextBox 3"/>
          <p:cNvSpPr txBox="1"/>
          <p:nvPr/>
        </p:nvSpPr>
        <p:spPr>
          <a:xfrm>
            <a:off x="6899564" y="6493159"/>
            <a:ext cx="5292436" cy="369332"/>
          </a:xfrm>
          <a:prstGeom prst="rect">
            <a:avLst/>
          </a:prstGeom>
          <a:noFill/>
        </p:spPr>
        <p:txBody>
          <a:bodyPr wrap="square" rtlCol="0">
            <a:spAutoFit/>
          </a:bodyPr>
          <a:lstStyle/>
          <a:p>
            <a:pPr algn="r"/>
            <a:r>
              <a:rPr lang="en-GB" dirty="0"/>
              <a:t>Priors not shown</a:t>
            </a:r>
          </a:p>
        </p:txBody>
      </p:sp>
    </p:spTree>
    <p:extLst>
      <p:ext uri="{BB962C8B-B14F-4D97-AF65-F5344CB8AC3E}">
        <p14:creationId xmlns:p14="http://schemas.microsoft.com/office/powerpoint/2010/main" val="26821031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2583</TotalTime>
  <Words>2322</Words>
  <Application>Microsoft Office PowerPoint</Application>
  <PresentationFormat>Widescreen</PresentationFormat>
  <Paragraphs>421</Paragraphs>
  <Slides>50</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50</vt:i4>
      </vt:variant>
    </vt:vector>
  </HeadingPairs>
  <TitlesOfParts>
    <vt:vector size="56" baseType="lpstr">
      <vt:lpstr>Arial</vt:lpstr>
      <vt:lpstr>Calibri</vt:lpstr>
      <vt:lpstr>Cambria Math</vt:lpstr>
      <vt:lpstr>Mulish</vt:lpstr>
      <vt:lpstr>Mulish ExtraBold</vt:lpstr>
      <vt:lpstr>Office Theme</vt:lpstr>
      <vt:lpstr>Introduction to  Bayesian Statistics</vt:lpstr>
      <vt:lpstr>Outline</vt:lpstr>
      <vt:lpstr>Components of a model</vt:lpstr>
      <vt:lpstr>Diagnostics</vt:lpstr>
      <vt:lpstr>Linear regression General linear model</vt:lpstr>
      <vt:lpstr>General linear model  Refresher</vt:lpstr>
      <vt:lpstr>General linear model  Refresher</vt:lpstr>
      <vt:lpstr>Generalised linear models</vt:lpstr>
      <vt:lpstr>Generalised linear models</vt:lpstr>
      <vt:lpstr>Can you sketch a model?</vt:lpstr>
      <vt:lpstr>Generalised linear model Poisson regression for count data</vt:lpstr>
      <vt:lpstr>Can we build a model for these data?</vt:lpstr>
      <vt:lpstr>Generalised linear model Binomial regression for count data</vt:lpstr>
      <vt:lpstr>How about this one?</vt:lpstr>
      <vt:lpstr>Generalised linear model Logistic regression for binary outcomes</vt:lpstr>
      <vt:lpstr>Some other useful models beyond GLMs…</vt:lpstr>
      <vt:lpstr>What do you think about this one?</vt:lpstr>
      <vt:lpstr>Beta regression</vt:lpstr>
      <vt:lpstr>Last one…</vt:lpstr>
      <vt:lpstr>Log-linear regression</vt:lpstr>
      <vt:lpstr>Hierarchical Models</vt:lpstr>
      <vt:lpstr>Hierarchical models</vt:lpstr>
      <vt:lpstr>Random effects</vt:lpstr>
      <vt:lpstr>Random effects</vt:lpstr>
      <vt:lpstr>Mark-recapture</vt:lpstr>
      <vt:lpstr>Mark-recapture model  (Lincoln-Peterson)</vt:lpstr>
      <vt:lpstr>Mark-recapture model (Lincoln-Peterson)</vt:lpstr>
      <vt:lpstr>Mark-recapture model (Lincoln-Peterson)</vt:lpstr>
      <vt:lpstr>Mark-recapture model (Lincoln-Peterson)</vt:lpstr>
      <vt:lpstr>Mark-recapture model (Lincoln-Peterson)</vt:lpstr>
      <vt:lpstr>Sometimes we can’t “mark” individuals</vt:lpstr>
      <vt:lpstr>N-mixture models of population size</vt:lpstr>
      <vt:lpstr>N-mixture models of population size</vt:lpstr>
      <vt:lpstr>N-mixture models of population size</vt:lpstr>
      <vt:lpstr>N-mixture models of population size</vt:lpstr>
      <vt:lpstr>N-mixture models of population size</vt:lpstr>
      <vt:lpstr>State-space models</vt:lpstr>
      <vt:lpstr>State-space models Hidden Markov model is a specific case of this</vt:lpstr>
      <vt:lpstr>Dail-Madsen open population models</vt:lpstr>
      <vt:lpstr>Mark-recapture state-space model</vt:lpstr>
      <vt:lpstr>Stan and discrete latent parameters</vt:lpstr>
      <vt:lpstr>Recap</vt:lpstr>
      <vt:lpstr>Components of a model</vt:lpstr>
      <vt:lpstr>Tie it all together… Ordinary linear regression</vt:lpstr>
      <vt:lpstr>Tie it all together… Generalised linear model</vt:lpstr>
      <vt:lpstr>Tie it all together… Generalised linear model</vt:lpstr>
      <vt:lpstr>Tie it all together… Random effects (hierarchical model)</vt:lpstr>
      <vt:lpstr>Tie it all together… Hierarchical models (e.g. N-mixture model)</vt:lpstr>
      <vt:lpstr>Tie it all together… State space model</vt:lpstr>
      <vt:lpstr>Tie it all together… State space model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Bayesian Statistics for Demographic Science</dc:title>
  <dc:creator>Douglas Leasure</dc:creator>
  <cp:lastModifiedBy>Douglas Leasure</cp:lastModifiedBy>
  <cp:revision>81</cp:revision>
  <dcterms:created xsi:type="dcterms:W3CDTF">2024-09-14T18:20:11Z</dcterms:created>
  <dcterms:modified xsi:type="dcterms:W3CDTF">2026-02-04T18:54:22Z</dcterms:modified>
</cp:coreProperties>
</file>