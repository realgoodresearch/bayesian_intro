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8" autoAdjust="0"/>
    <p:restoredTop sz="94660"/>
  </p:normalViewPr>
  <p:slideViewPr>
    <p:cSldViewPr snapToGrid="0">
      <p:cViewPr varScale="1">
        <p:scale>
          <a:sx n="77" d="100"/>
          <a:sy n="77" d="100"/>
        </p:scale>
        <p:origin x="72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025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529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2472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55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63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76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04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917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141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26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80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E7E03-2580-410C-BBBB-38F4EFE87145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A8D82-67C6-4949-A78A-803C6DD1A6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062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Directed Acyclic Graphs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9858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24854" y="2567354"/>
                <a:ext cx="615461" cy="580292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854" y="2567354"/>
                <a:ext cx="615461" cy="58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4994031" y="3622429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031" y="3622429"/>
                <a:ext cx="659423" cy="66821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5860072" y="3622429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072" y="3622429"/>
                <a:ext cx="659423" cy="66821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5" idx="0"/>
            <a:endCxn id="4" idx="2"/>
          </p:cNvCxnSpPr>
          <p:nvPr/>
        </p:nvCxnSpPr>
        <p:spPr>
          <a:xfrm flipV="1">
            <a:off x="5323743" y="3147646"/>
            <a:ext cx="408842" cy="4747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0"/>
            <a:endCxn id="4" idx="2"/>
          </p:cNvCxnSpPr>
          <p:nvPr/>
        </p:nvCxnSpPr>
        <p:spPr>
          <a:xfrm flipH="1" flipV="1">
            <a:off x="5732585" y="3147646"/>
            <a:ext cx="457199" cy="4747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smtClean="0"/>
              <a:t>Model of the mean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349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Linear regression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424854" y="2567354"/>
                <a:ext cx="615461" cy="580292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854" y="2567354"/>
                <a:ext cx="615461" cy="58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/>
              <p:cNvSpPr/>
              <p:nvPr/>
            </p:nvSpPr>
            <p:spPr>
              <a:xfrm>
                <a:off x="4994031" y="3622429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4031" y="3622429"/>
                <a:ext cx="659423" cy="66821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5860072" y="3622429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072" y="3622429"/>
                <a:ext cx="659423" cy="66821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5" idx="0"/>
            <a:endCxn id="4" idx="2"/>
          </p:cNvCxnSpPr>
          <p:nvPr/>
        </p:nvCxnSpPr>
        <p:spPr>
          <a:xfrm flipV="1">
            <a:off x="5323743" y="3147646"/>
            <a:ext cx="408842" cy="47478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H="1" flipV="1">
            <a:off x="5732585" y="3147646"/>
            <a:ext cx="457199" cy="47478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/>
              <p:cNvSpPr/>
              <p:nvPr/>
            </p:nvSpPr>
            <p:spPr>
              <a:xfrm>
                <a:off x="4616034" y="4745279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b="0" dirty="0" smtClean="0"/>
              </a:p>
            </p:txBody>
          </p:sp>
        </mc:Choice>
        <mc:Fallback xmlns=""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034" y="4745279"/>
                <a:ext cx="659423" cy="66821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/>
              <p:cNvSpPr/>
              <p:nvPr/>
            </p:nvSpPr>
            <p:spPr>
              <a:xfrm>
                <a:off x="5397487" y="4745279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b="0" dirty="0" smtClean="0"/>
              </a:p>
            </p:txBody>
          </p:sp>
        </mc:Choice>
        <mc:Fallback xmlns=""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87" y="4745279"/>
                <a:ext cx="659423" cy="66821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616034" y="2567354"/>
                <a:ext cx="615461" cy="580292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6034" y="2567354"/>
                <a:ext cx="615461" cy="5802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1" idx="2"/>
            <a:endCxn id="5" idx="0"/>
          </p:cNvCxnSpPr>
          <p:nvPr/>
        </p:nvCxnSpPr>
        <p:spPr>
          <a:xfrm>
            <a:off x="4923765" y="3147646"/>
            <a:ext cx="399978" cy="474783"/>
          </a:xfrm>
          <a:prstGeom prst="straightConnector1">
            <a:avLst/>
          </a:prstGeom>
          <a:ln w="25400"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0"/>
            <a:endCxn id="5" idx="4"/>
          </p:cNvCxnSpPr>
          <p:nvPr/>
        </p:nvCxnSpPr>
        <p:spPr>
          <a:xfrm flipV="1">
            <a:off x="4945746" y="4290645"/>
            <a:ext cx="377997" cy="454634"/>
          </a:xfrm>
          <a:prstGeom prst="straightConnector1">
            <a:avLst/>
          </a:prstGeom>
          <a:ln w="25400"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5" idx="4"/>
          </p:cNvCxnSpPr>
          <p:nvPr/>
        </p:nvCxnSpPr>
        <p:spPr>
          <a:xfrm flipH="1" flipV="1">
            <a:off x="5323743" y="4290645"/>
            <a:ext cx="403456" cy="454634"/>
          </a:xfrm>
          <a:prstGeom prst="straightConnector1">
            <a:avLst/>
          </a:prstGeom>
          <a:ln w="25400"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55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5551614" y="1908530"/>
            <a:ext cx="2262350" cy="318070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/>
          <p:cNvSpPr/>
          <p:nvPr/>
        </p:nvSpPr>
        <p:spPr>
          <a:xfrm>
            <a:off x="3574473" y="1908530"/>
            <a:ext cx="1770523" cy="318070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Linear regression with random intercept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505508" y="2069379"/>
                <a:ext cx="615461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508" y="2069379"/>
                <a:ext cx="615461" cy="58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6074685" y="3124454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685" y="3124454"/>
                <a:ext cx="659423" cy="66821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Oval 5"/>
              <p:cNvSpPr/>
              <p:nvPr/>
            </p:nvSpPr>
            <p:spPr>
              <a:xfrm>
                <a:off x="6940726" y="3124454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0726" y="3124454"/>
                <a:ext cx="659423" cy="668216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5" idx="0"/>
            <a:endCxn id="4" idx="2"/>
          </p:cNvCxnSpPr>
          <p:nvPr/>
        </p:nvCxnSpPr>
        <p:spPr>
          <a:xfrm flipV="1">
            <a:off x="6404397" y="2649671"/>
            <a:ext cx="408842" cy="47478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" idx="0"/>
            <a:endCxn id="4" idx="2"/>
          </p:cNvCxnSpPr>
          <p:nvPr/>
        </p:nvCxnSpPr>
        <p:spPr>
          <a:xfrm flipH="1" flipV="1">
            <a:off x="6813239" y="2649671"/>
            <a:ext cx="457199" cy="47478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val 8"/>
              <p:cNvSpPr/>
              <p:nvPr/>
            </p:nvSpPr>
            <p:spPr>
              <a:xfrm>
                <a:off x="4142307" y="3126228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GB" b="0" dirty="0" smtClean="0"/>
              </a:p>
            </p:txBody>
          </p:sp>
        </mc:Choice>
        <mc:Fallback>
          <p:sp>
            <p:nvSpPr>
              <p:cNvPr id="9" name="Oval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2307" y="3126228"/>
                <a:ext cx="659423" cy="668216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val 9"/>
              <p:cNvSpPr/>
              <p:nvPr/>
            </p:nvSpPr>
            <p:spPr>
              <a:xfrm>
                <a:off x="6074685" y="4269227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b="0" dirty="0" smtClean="0"/>
              </a:p>
            </p:txBody>
          </p:sp>
        </mc:Choice>
        <mc:Fallback>
          <p:sp>
            <p:nvSpPr>
              <p:cNvPr id="10" name="Oval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685" y="4269227"/>
                <a:ext cx="659423" cy="66821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696688" y="2069379"/>
                <a:ext cx="615461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688" y="2069379"/>
                <a:ext cx="615461" cy="58029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1" idx="2"/>
            <a:endCxn id="5" idx="0"/>
          </p:cNvCxnSpPr>
          <p:nvPr/>
        </p:nvCxnSpPr>
        <p:spPr>
          <a:xfrm>
            <a:off x="6004419" y="2649671"/>
            <a:ext cx="399978" cy="474783"/>
          </a:xfrm>
          <a:prstGeom prst="straightConnector1">
            <a:avLst/>
          </a:prstGeom>
          <a:ln w="25400"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9" idx="6"/>
            <a:endCxn id="5" idx="2"/>
          </p:cNvCxnSpPr>
          <p:nvPr/>
        </p:nvCxnSpPr>
        <p:spPr>
          <a:xfrm flipV="1">
            <a:off x="4801730" y="3458562"/>
            <a:ext cx="1272955" cy="1774"/>
          </a:xfrm>
          <a:prstGeom prst="straightConnector1">
            <a:avLst/>
          </a:prstGeom>
          <a:ln w="25400"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5" idx="4"/>
          </p:cNvCxnSpPr>
          <p:nvPr/>
        </p:nvCxnSpPr>
        <p:spPr>
          <a:xfrm flipV="1">
            <a:off x="6404397" y="3792670"/>
            <a:ext cx="0" cy="476557"/>
          </a:xfrm>
          <a:prstGeom prst="straightConnector1">
            <a:avLst/>
          </a:prstGeom>
          <a:ln w="25400">
            <a:prstDash val="sysDash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val 13"/>
              <p:cNvSpPr/>
              <p:nvPr/>
            </p:nvSpPr>
            <p:spPr>
              <a:xfrm>
                <a:off x="3747878" y="4269227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en-GB" b="0" dirty="0" smtClean="0"/>
              </a:p>
            </p:txBody>
          </p:sp>
        </mc:Choice>
        <mc:Fallback>
          <p:sp>
            <p:nvSpPr>
              <p:cNvPr id="14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878" y="4269227"/>
                <a:ext cx="659423" cy="668216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>
            <a:stCxn id="14" idx="0"/>
            <a:endCxn id="9" idx="4"/>
          </p:cNvCxnSpPr>
          <p:nvPr/>
        </p:nvCxnSpPr>
        <p:spPr>
          <a:xfrm flipV="1">
            <a:off x="4077590" y="3794444"/>
            <a:ext cx="394429" cy="47478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/>
              <p:cNvSpPr/>
              <p:nvPr/>
            </p:nvSpPr>
            <p:spPr>
              <a:xfrm>
                <a:off x="4503956" y="4269227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</m:oMath>
                  </m:oMathPara>
                </a14:m>
                <a:endParaRPr lang="en-GB" b="0" dirty="0" smtClean="0"/>
              </a:p>
            </p:txBody>
          </p:sp>
        </mc:Choice>
        <mc:Fallback>
          <p:sp>
            <p:nvSpPr>
              <p:cNvPr id="19" name="Oval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956" y="4269227"/>
                <a:ext cx="659423" cy="668216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>
            <a:stCxn id="19" idx="0"/>
            <a:endCxn id="9" idx="4"/>
          </p:cNvCxnSpPr>
          <p:nvPr/>
        </p:nvCxnSpPr>
        <p:spPr>
          <a:xfrm flipH="1" flipV="1">
            <a:off x="4472019" y="3794444"/>
            <a:ext cx="361649" cy="474783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/>
              <p:cNvSpPr/>
              <p:nvPr/>
            </p:nvSpPr>
            <p:spPr>
              <a:xfrm>
                <a:off x="4038143" y="2069379"/>
                <a:ext cx="861653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𝑔𝑟𝑜𝑢𝑝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143" y="2069379"/>
                <a:ext cx="861653" cy="580292"/>
              </a:xfrm>
              <a:prstGeom prst="rect">
                <a:avLst/>
              </a:prstGeom>
              <a:blipFill>
                <a:blip r:embed="rId10"/>
                <a:stretch>
                  <a:fillRect l="-2083"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/>
          <p:cNvCxnSpPr>
            <a:stCxn id="31" idx="2"/>
            <a:endCxn id="9" idx="0"/>
          </p:cNvCxnSpPr>
          <p:nvPr/>
        </p:nvCxnSpPr>
        <p:spPr>
          <a:xfrm>
            <a:off x="4468970" y="2649671"/>
            <a:ext cx="3049" cy="476557"/>
          </a:xfrm>
          <a:prstGeom prst="straightConnector1">
            <a:avLst/>
          </a:prstGeom>
          <a:ln w="25400"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98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Lincoln-Peterson mark-recapture model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424854" y="2567354"/>
                <a:ext cx="615461" cy="580292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4854" y="2567354"/>
                <a:ext cx="615461" cy="58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5402872" y="3462494"/>
                <a:ext cx="659423" cy="668216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2872" y="3462494"/>
                <a:ext cx="659423" cy="66821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5" idx="0"/>
            <a:endCxn id="4" idx="2"/>
          </p:cNvCxnSpPr>
          <p:nvPr/>
        </p:nvCxnSpPr>
        <p:spPr>
          <a:xfrm flipV="1">
            <a:off x="5732584" y="3147646"/>
            <a:ext cx="1" cy="31484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1"/>
            <a:endCxn id="4" idx="3"/>
          </p:cNvCxnSpPr>
          <p:nvPr/>
        </p:nvCxnSpPr>
        <p:spPr>
          <a:xfrm flipH="1" flipV="1">
            <a:off x="6040315" y="2857500"/>
            <a:ext cx="305532" cy="55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496304" y="2567354"/>
                <a:ext cx="615461" cy="580292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6304" y="2567354"/>
                <a:ext cx="615461" cy="580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345847" y="2572880"/>
                <a:ext cx="615461" cy="580292"/>
              </a:xfrm>
              <a:prstGeom prst="rect">
                <a:avLst/>
              </a:prstGeom>
              <a:noFill/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847" y="2572880"/>
                <a:ext cx="615461" cy="5802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9" idx="3"/>
            <a:endCxn id="4" idx="1"/>
          </p:cNvCxnSpPr>
          <p:nvPr/>
        </p:nvCxnSpPr>
        <p:spPr>
          <a:xfrm>
            <a:off x="5111765" y="2857500"/>
            <a:ext cx="3130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513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4073236" y="3500210"/>
            <a:ext cx="2909455" cy="277967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/>
          <p:cNvSpPr/>
          <p:nvPr/>
        </p:nvSpPr>
        <p:spPr>
          <a:xfrm>
            <a:off x="4073236" y="2133476"/>
            <a:ext cx="2909455" cy="125780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State-space model</a:t>
            </a:r>
            <a:br>
              <a:rPr lang="en-GB" dirty="0" smtClean="0"/>
            </a:br>
            <a:r>
              <a:rPr lang="en-GB" sz="2200" dirty="0" smtClean="0"/>
              <a:t>Process model: Population time series with annual growth rate</a:t>
            </a:r>
            <a:br>
              <a:rPr lang="en-GB" sz="2200" dirty="0" smtClean="0"/>
            </a:br>
            <a:r>
              <a:rPr lang="en-GB" sz="2200" dirty="0" smtClean="0"/>
              <a:t>Observation model: Lincoln-Peterson mark-recapture model</a:t>
            </a:r>
            <a:endParaRPr lang="en-GB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5213258" y="2242402"/>
                <a:ext cx="615461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258" y="2242402"/>
                <a:ext cx="615461" cy="58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Oval 4"/>
              <p:cNvSpPr/>
              <p:nvPr/>
            </p:nvSpPr>
            <p:spPr>
              <a:xfrm>
                <a:off x="5191276" y="3092200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" name="Oval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1276" y="3092200"/>
                <a:ext cx="659423" cy="668216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stCxn id="5" idx="0"/>
            <a:endCxn id="4" idx="2"/>
          </p:cNvCxnSpPr>
          <p:nvPr/>
        </p:nvCxnSpPr>
        <p:spPr>
          <a:xfrm flipV="1">
            <a:off x="5520988" y="2822694"/>
            <a:ext cx="1" cy="2695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10" idx="1"/>
            <a:endCxn id="4" idx="3"/>
          </p:cNvCxnSpPr>
          <p:nvPr/>
        </p:nvCxnSpPr>
        <p:spPr>
          <a:xfrm flipH="1" flipV="1">
            <a:off x="5828719" y="2532548"/>
            <a:ext cx="305532" cy="55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4284708" y="2242402"/>
                <a:ext cx="615461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708" y="2242402"/>
                <a:ext cx="615461" cy="580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6134251" y="2247928"/>
                <a:ext cx="615461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251" y="2247928"/>
                <a:ext cx="615461" cy="5802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stCxn id="9" idx="3"/>
            <a:endCxn id="4" idx="1"/>
          </p:cNvCxnSpPr>
          <p:nvPr/>
        </p:nvCxnSpPr>
        <p:spPr>
          <a:xfrm>
            <a:off x="4900169" y="2532548"/>
            <a:ext cx="31308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/>
              <p:cNvSpPr/>
              <p:nvPr/>
            </p:nvSpPr>
            <p:spPr>
              <a:xfrm>
                <a:off x="5948765" y="3812375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Oval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765" y="3812375"/>
                <a:ext cx="659423" cy="66821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11" idx="1"/>
            <a:endCxn id="5" idx="5"/>
          </p:cNvCxnSpPr>
          <p:nvPr/>
        </p:nvCxnSpPr>
        <p:spPr>
          <a:xfrm flipH="1" flipV="1">
            <a:off x="5754129" y="3662558"/>
            <a:ext cx="291206" cy="247675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/>
              <p:cNvSpPr/>
              <p:nvPr/>
            </p:nvSpPr>
            <p:spPr>
              <a:xfrm>
                <a:off x="5190587" y="4588494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0" name="Oval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587" y="4588494"/>
                <a:ext cx="659423" cy="66821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val 20"/>
              <p:cNvSpPr/>
              <p:nvPr/>
            </p:nvSpPr>
            <p:spPr>
              <a:xfrm>
                <a:off x="4433099" y="3812375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1" name="Oval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099" y="3812375"/>
                <a:ext cx="659423" cy="668216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5213258" y="5563351"/>
                <a:ext cx="615461" cy="58029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258" y="5563351"/>
                <a:ext cx="615461" cy="5802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>
            <a:stCxn id="21" idx="7"/>
            <a:endCxn id="5" idx="3"/>
          </p:cNvCxnSpPr>
          <p:nvPr/>
        </p:nvCxnSpPr>
        <p:spPr>
          <a:xfrm flipV="1">
            <a:off x="4995952" y="3662558"/>
            <a:ext cx="291894" cy="247675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20" idx="0"/>
            <a:endCxn id="5" idx="4"/>
          </p:cNvCxnSpPr>
          <p:nvPr/>
        </p:nvCxnSpPr>
        <p:spPr>
          <a:xfrm flipV="1">
            <a:off x="5520299" y="3760416"/>
            <a:ext cx="689" cy="828078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2" idx="0"/>
            <a:endCxn id="20" idx="4"/>
          </p:cNvCxnSpPr>
          <p:nvPr/>
        </p:nvCxnSpPr>
        <p:spPr>
          <a:xfrm flipH="1" flipV="1">
            <a:off x="5520299" y="5256710"/>
            <a:ext cx="690" cy="306641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val 31"/>
              <p:cNvSpPr/>
              <p:nvPr/>
            </p:nvSpPr>
            <p:spPr>
              <a:xfrm>
                <a:off x="4202142" y="4585733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2" name="Oval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2142" y="4585733"/>
                <a:ext cx="659423" cy="668216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val 32"/>
              <p:cNvSpPr/>
              <p:nvPr/>
            </p:nvSpPr>
            <p:spPr>
              <a:xfrm>
                <a:off x="6188410" y="4588494"/>
                <a:ext cx="659423" cy="668216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3" name="Oval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410" y="4588494"/>
                <a:ext cx="659423" cy="668216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/>
          <p:cNvCxnSpPr>
            <a:stCxn id="32" idx="6"/>
            <a:endCxn id="20" idx="2"/>
          </p:cNvCxnSpPr>
          <p:nvPr/>
        </p:nvCxnSpPr>
        <p:spPr>
          <a:xfrm>
            <a:off x="4861565" y="4919841"/>
            <a:ext cx="329022" cy="2761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3" idx="2"/>
            <a:endCxn id="20" idx="6"/>
          </p:cNvCxnSpPr>
          <p:nvPr/>
        </p:nvCxnSpPr>
        <p:spPr>
          <a:xfrm flipH="1">
            <a:off x="5850010" y="4922602"/>
            <a:ext cx="338400" cy="0"/>
          </a:xfrm>
          <a:prstGeom prst="straightConnector1">
            <a:avLst/>
          </a:prstGeom>
          <a:ln w="28575">
            <a:prstDash val="sys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807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2204</TotalTime>
  <Words>161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Directed Acyclic Graphs</vt:lpstr>
      <vt:lpstr>Model of the mean</vt:lpstr>
      <vt:lpstr>Linear regression</vt:lpstr>
      <vt:lpstr>Linear regression with random intercept</vt:lpstr>
      <vt:lpstr>Lincoln-Peterson mark-recapture model</vt:lpstr>
      <vt:lpstr>State-space model Process model: Population time series with annual growth rate Observation model: Lincoln-Peterson mark-recapture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Directed Acyclic Graphs</dc:title>
  <dc:creator>Douglas Leasure</dc:creator>
  <cp:lastModifiedBy>Douglas Leasure</cp:lastModifiedBy>
  <cp:revision>14</cp:revision>
  <dcterms:created xsi:type="dcterms:W3CDTF">2024-09-03T11:31:29Z</dcterms:created>
  <dcterms:modified xsi:type="dcterms:W3CDTF">2024-09-13T16:54:41Z</dcterms:modified>
</cp:coreProperties>
</file>